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notesMaster" Target="notesMasters/notesMaster1.xml" /><Relationship Id="rId25" Type="http://schemas.openxmlformats.org/officeDocument/2006/relationships/viewProps" Target="viewProps.xml" /><Relationship Id="rId24" Type="http://schemas.openxmlformats.org/officeDocument/2006/relationships/presProps" Target="presProps.xml" /><Relationship Id="rId1" Type="http://schemas.openxmlformats.org/officeDocument/2006/relationships/slideMaster" Target="slideMasters/slideMaster1.xml" /><Relationship Id="rId27" Type="http://schemas.openxmlformats.org/officeDocument/2006/relationships/tableStyles" Target="tableStyles.xml" /><Relationship Id="rId2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presentation introduces the Failure-Aware Change Management Framework for Healthcare IT professionals. The message is simple: In clinical environments, change management must catch failure early, contain it quickly, and fix it before it damages workflow, data quality, operations, or trust.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what failure often looks like in Healthcare IT. The interface looks healthy. The dashboard is green. The plan says the next department is ready. But on the floor, clinicians may already be using phone calls, paper notes, duplicate checks, and side conversations to keep care moving. By the time the problem becomes obvious, the patient-safety risk may already be inside the workflow.</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Core Statement is the anchor for the framework. Change management is not just communication, training, and adoption tracking. In a clinical setting, change management is failure management. It looks for early warning signs, limits exposure, and pushes the team to act before the problem spreads across people, process, technology, and trust.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Many change plans start with optimism: Communicate well, train people, monitor progress, and adoption should follow. That is not enough in a hospital. Real change touches clinical judgment, unit routines, orders, results, handoffs, identities, and informal work. Expecting failure is not negative thinking. It is how serious teams protect care while they change the system.</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question teams often skip because it tests the plan before reality does. The answer should not be a vague note in a risk register. It should name the warning signal, the owner, the threshold, the decision authority, and the fallback path before go-live pressure begins. If the team cannot answer this question, it is not managing failure. It is waiting for failure to show up on its own.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six Governing Principles turn the Core Statement into daily management behavior. Expect failure. Design the way you will detect it. Control exposure before you expand the rollout. Treat warning signs as triggers for action, not material for a lesson-learned meeting months later. Then look across people, process, and technology because real failures rarely stay inside one workstream.</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shift here is from documenting risk to planning the response. A risk register can be clean and still be useless if nobody knows which signal triggers which decision. The framework forces the implementation plan to become more concrete: Prevention, detection, response, ownership, and escalation thresholds all have to become part of the actual work.</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practical sequence. First, map where failure can start. Then ask the six control questions for each important part of the change. Turn the answers into updates to the implementation plan. Finally, manage the work through the dashboard, register, and decision log. If this does not change the workplan, meeting rhythm, owner authority, or fallback path, then the team has talked about risk but has not created control.</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People-Process-Technology overlay helps the team locate where failure can begin. Technology comes first because it is usually the easiest to inspect. Process comes next because workflow reality is often underestimated. People comes next because behavior changes by role, shift, influence, and pressure. The integrator layer matters because these areas cannot be managed as separate excuses.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these six questions at the project, workstream, unit, workflow, interface, role, and system-function level. The first three questions clarify what success means and where the weak points are. The last three questions define how the team will prevent, detect, and respond. If the answers do not change the implementation plan, the team has only discussed risk. It has not managed failure.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Radiology is a useful example because it exposes the whole chain. Success is not just that the interface is live or that an image opens. Success means the right exam is ordered, scheduled, performed, read, signed, and delivered into the right clinical context. If worklist mismatches or missing-image complaints rise, the answer is not generic retraining. The answer is a controlled intervention.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Technology failure is not only downtime. An HL7 ACK, a successful DICOM send, or a normal vendor dashboard proves that something moved. It does not prove that the clinical meaning is correct. One of the highest-risk failures is wrong information moving through a system that appears healthy. That is why detection has to combine logs, user reports, workflow observation, and data validation.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Process failure happens when the design on the wall does not match the work on the unit. Shift patterns, handoffs, interruptions, walking distance, and informal coordination are not side issues. They are the work. A workaround is a signal. Sometimes it is unsafe behavior. Sometimes it is staff compensating for a bad design. The task is to classify it, control it, and redesign before the workaround becomes the normal way of operating.</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People failure is the gap between formal agreement and actual behavior. In clinical environments, adoption is proven under pressure: Busy shifts, handoffs, interruptions, and exception cases. Senior physicians, charge nurses, unit managers, analysts, and the unofficial problem solvers can make or break adoption even if they are not prominent on the project chart. When a champion goes quiet, treat it as evidence.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integrator layer exists because serious failures move across domains. A technical defect can be blamed on users. A process defect can be hidden by manual cleanup. People resistance can expose a workflow flaw that leadership did not want to confront. If nobody owns the whole picture, the organization may solve the wrong problem very efficiently while the real failure path stays in place.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dashboard is not a status report. A status report tells leaders what happened or what percent is complete. A failure management dashboard tells leaders what needs control now. If it does not force a decision to stop, change, accept, defer, or implement, then it is not really governing the implementation.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level of detail that makes the register useful. The signal is clear. The scope is bounded. The threshold is explicit. The owner pairing keeps technical and clinical operations in the same decision loop. At that point, the register becomes a control tool, not a parking lot for issues.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message is simple. Do not confuse silence with stability. Do not confuse availability with safety. Do not confuse compliance with adoption. This framework gives leaders a practical way to catch early warning signs, control exposure, and take corrective action before failure spreads through clinical workflow.</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with one active initiative. Pick the project where silence is most likely being mistaken for stability. Build the dashboard. Define the signals. Authorize the owners. Set the thresholds. Decide what intervention happens when evidence appears. Compliance is not adoption. Availability is not operational success. Control the failure path before it controls the implementation.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Failure-Aware Change Management Framework</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Detecting, Controlling, and Correcting Failure Before It Scales</a:t>
            </a:r>
            <a:br/>
            <a:br/>
            <a:r>
              <a:rPr/>
              <a:t>MKD</a:t>
            </a:r>
          </a:p>
        </p:txBody>
      </p:sp>
      <p:sp>
        <p:nvSpPr>
          <p:cNvPr id="4" name="Date Placeholder 3"/>
          <p:cNvSpPr>
            <a:spLocks noGrp="1"/>
          </p:cNvSpPr>
          <p:nvPr>
            <p:ph idx="10" sz="half" type="dt"/>
          </p:nvPr>
        </p:nvSpPr>
        <p:spPr/>
        <p:txBody>
          <a:bodyPr/>
          <a:lstStyle/>
          <a:p>
            <a:pPr lvl="0" indent="0" marL="0">
              <a:buNone/>
            </a:pPr>
            <a:r>
              <a:rPr/>
              <a:t>2026-04-17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Failure-Aware Change Management Framework</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Detecting, Controlling, and Correcting Failure Before It Scales</a:t>
            </a:r>
          </a:p>
        </p:txBody>
      </p:sp>
      <p:sp>
        <p:nvSpPr>
          <p:cNvPr id="3" name="Content Placeholder 2"/>
          <p:cNvSpPr>
            <a:spLocks noGrp="1"/>
          </p:cNvSpPr>
          <p:nvPr>
            <p:ph idx="1"/>
          </p:nvPr>
        </p:nvSpPr>
        <p:spPr/>
        <p:txBody>
          <a:bodyPr/>
          <a:lstStyle/>
          <a:p>
            <a:pPr lvl="0"/>
            <a:r>
              <a:rPr/>
              <a:t>A practical control framework for Healthcare IT change</a:t>
            </a:r>
          </a:p>
          <a:p>
            <a:pPr lvl="0"/>
            <a:r>
              <a:rPr/>
              <a:t>Built for clinical workflow, data integrity, and operational continuity</a:t>
            </a:r>
          </a:p>
          <a:p>
            <a:pPr lvl="0"/>
            <a:r>
              <a:rPr/>
              <a:t>Designed for early detection before harm spreads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Clinical Failure Signals</a:t>
            </a:r>
          </a:p>
        </p:txBody>
      </p:sp>
      <p:sp>
        <p:nvSpPr>
          <p:cNvPr id="3" name="Content Placeholder 2"/>
          <p:cNvSpPr>
            <a:spLocks noGrp="1"/>
          </p:cNvSpPr>
          <p:nvPr>
            <p:ph idx="1"/>
          </p:nvPr>
        </p:nvSpPr>
        <p:spPr/>
        <p:txBody>
          <a:bodyPr/>
          <a:lstStyle/>
          <a:p>
            <a:pPr lvl="0"/>
            <a:r>
              <a:rPr/>
              <a:t>DICOM send succeeds, but ED clinicians report missing CT images</a:t>
            </a:r>
          </a:p>
          <a:p>
            <a:pPr lvl="0"/>
            <a:r>
              <a:rPr/>
              <a:t>HL7 interface is green, but clinical meaning is wrong</a:t>
            </a:r>
          </a:p>
          <a:p>
            <a:pPr lvl="0"/>
            <a:r>
              <a:rPr/>
              <a:t>Training completion is high, but workarounds spread by shift</a:t>
            </a:r>
          </a:p>
          <a:p>
            <a:pPr lvl="0"/>
            <a:r>
              <a:rPr/>
              <a:t>Clinical champion attends meetings, then stops defending the change</a:t>
            </a:r>
          </a:p>
          <a:p>
            <a:pPr lvl="0"/>
            <a:r>
              <a:rPr/>
              <a:t>Silence is mistaken for stability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Core Statement</a:t>
            </a:r>
          </a:p>
        </p:txBody>
      </p:sp>
      <p:sp>
        <p:nvSpPr>
          <p:cNvPr id="3" name="Content Placeholder 2"/>
          <p:cNvSpPr>
            <a:spLocks noGrp="1"/>
          </p:cNvSpPr>
          <p:nvPr>
            <p:ph idx="1"/>
          </p:nvPr>
        </p:nvSpPr>
        <p:spPr/>
        <p:txBody>
          <a:bodyPr/>
          <a:lstStyle/>
          <a:p>
            <a:pPr lvl="0"/>
            <a:r>
              <a:rPr b="1"/>
              <a:t>Change Management is Failure Management.</a:t>
            </a:r>
          </a:p>
          <a:p>
            <a:pPr lvl="0"/>
            <a:r>
              <a:rPr b="1"/>
              <a:t>Core Statement:</a:t>
            </a:r>
            <a:r>
              <a:rPr/>
              <a:t> Change management identifies failure early, controls the failure path, and implements corrective action before harm spreads.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Foundational Reframe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lgn="l">
                        <a:buNone/>
                      </a:pPr>
                      <a:r>
                        <a:rPr/>
                        <a:t>Traditional View</a:t>
                      </a:r>
                    </a:p>
                  </a:txBody>
                  <a:tcPr/>
                </a:tc>
                <a:tc>
                  <a:txBody>
                    <a:bodyPr/>
                    <a:lstStyle/>
                    <a:p>
                      <a:pPr lvl="0" indent="0" marL="0" algn="l">
                        <a:buNone/>
                      </a:pPr>
                      <a:r>
                        <a:rPr/>
                        <a:t>Control-Oriented View</a:t>
                      </a:r>
                    </a:p>
                  </a:txBody>
                  <a:tcPr/>
                </a:tc>
              </a:tr>
              <a:tr h="0">
                <a:tc>
                  <a:txBody>
                    <a:bodyPr/>
                    <a:lstStyle/>
                    <a:p>
                      <a:pPr lvl="0" indent="0" marL="0" algn="l">
                        <a:buNone/>
                      </a:pPr>
                      <a:r>
                        <a:rPr/>
                        <a:t>Adoption is achievable</a:t>
                      </a:r>
                    </a:p>
                  </a:txBody>
                </a:tc>
                <a:tc>
                  <a:txBody>
                    <a:bodyPr/>
                    <a:lstStyle/>
                    <a:p>
                      <a:pPr lvl="0" indent="0" marL="0" algn="l">
                        <a:buNone/>
                      </a:pPr>
                      <a:r>
                        <a:rPr/>
                        <a:t>Failure is the default</a:t>
                      </a:r>
                    </a:p>
                  </a:txBody>
                </a:tc>
              </a:tr>
              <a:tr h="0">
                <a:tc>
                  <a:txBody>
                    <a:bodyPr/>
                    <a:lstStyle/>
                    <a:p>
                      <a:pPr lvl="0" indent="0" marL="0" algn="l">
                        <a:buNone/>
                      </a:pPr>
                      <a:r>
                        <a:rPr/>
                        <a:t>Resistance is the exception</a:t>
                      </a:r>
                    </a:p>
                  </a:txBody>
                </a:tc>
                <a:tc>
                  <a:txBody>
                    <a:bodyPr/>
                    <a:lstStyle/>
                    <a:p>
                      <a:pPr lvl="0" indent="0" marL="0" algn="l">
                        <a:buNone/>
                      </a:pPr>
                      <a:r>
                        <a:rPr/>
                        <a:t>Success is engineered</a:t>
                      </a:r>
                    </a:p>
                  </a:txBody>
                </a:tc>
              </a:tr>
              <a:tr h="0">
                <a:tc>
                  <a:txBody>
                    <a:bodyPr/>
                    <a:lstStyle/>
                    <a:p>
                      <a:pPr lvl="0" indent="0" marL="0" algn="l">
                        <a:buNone/>
                      </a:pPr>
                      <a:r>
                        <a:rPr/>
                        <a:t>Plans hold with communication</a:t>
                      </a:r>
                    </a:p>
                  </a:txBody>
                </a:tc>
                <a:tc>
                  <a:txBody>
                    <a:bodyPr/>
                    <a:lstStyle/>
                    <a:p>
                      <a:pPr lvl="0" indent="0" marL="0" algn="l">
                        <a:buNone/>
                      </a:pPr>
                      <a:r>
                        <a:rPr/>
                        <a:t>Plans are tested by reality</a:t>
                      </a:r>
                    </a:p>
                  </a:txBody>
                </a:tc>
              </a:tr>
              <a:tr h="0">
                <a:tc>
                  <a:txBody>
                    <a:bodyPr/>
                    <a:lstStyle/>
                    <a:p>
                      <a:pPr lvl="0" indent="0" marL="0" algn="l">
                        <a:buNone/>
                      </a:pPr>
                      <a:r>
                        <a:rPr/>
                        <a:t>Status reporting detects trouble</a:t>
                      </a:r>
                    </a:p>
                  </a:txBody>
                </a:tc>
                <a:tc>
                  <a:txBody>
                    <a:bodyPr/>
                    <a:lstStyle/>
                    <a:p>
                      <a:pPr lvl="0" indent="0" marL="0" algn="l">
                        <a:buNone/>
                      </a:pPr>
                      <a:r>
                        <a:rPr/>
                        <a:t>Control must be engineered</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Skipped Planning Question</a:t>
            </a:r>
          </a:p>
        </p:txBody>
      </p:sp>
      <p:sp>
        <p:nvSpPr>
          <p:cNvPr id="3" name="Content Placeholder 2"/>
          <p:cNvSpPr>
            <a:spLocks noGrp="1"/>
          </p:cNvSpPr>
          <p:nvPr>
            <p:ph idx="1"/>
          </p:nvPr>
        </p:nvSpPr>
        <p:spPr/>
        <p:txBody>
          <a:bodyPr/>
          <a:lstStyle/>
          <a:p>
            <a:pPr lvl="0"/>
            <a:r>
              <a:rPr b="1"/>
              <a:t>Question:</a:t>
            </a:r>
            <a:r>
              <a:rPr/>
              <a:t> How will we know something is going wrong before it becomes a crisis?</a:t>
            </a:r>
          </a:p>
          <a:p>
            <a:pPr lvl="0"/>
            <a:r>
              <a:rPr/>
              <a:t>It makes optimism accountable</a:t>
            </a:r>
          </a:p>
          <a:p>
            <a:pPr lvl="0"/>
            <a:r>
              <a:rPr/>
              <a:t>It forces evidence before the post-mortem</a:t>
            </a:r>
          </a:p>
          <a:p>
            <a:pPr lvl="0"/>
            <a:r>
              <a:rPr/>
              <a:t>It assigns control owners before failure becomes political</a:t>
            </a:r>
          </a:p>
          <a:p>
            <a:pPr lvl="0"/>
            <a:r>
              <a:rPr/>
              <a:t>It turns discomfort into executable discipline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 Governing Principles</a:t>
            </a:r>
          </a:p>
        </p:txBody>
      </p:sp>
      <p:sp>
        <p:nvSpPr>
          <p:cNvPr id="3" name="Content Placeholder 2"/>
          <p:cNvSpPr>
            <a:spLocks noGrp="1"/>
          </p:cNvSpPr>
          <p:nvPr>
            <p:ph idx="1"/>
          </p:nvPr>
        </p:nvSpPr>
        <p:spPr/>
        <p:txBody>
          <a:bodyPr/>
          <a:lstStyle/>
          <a:p>
            <a:pPr lvl="0"/>
            <a:r>
              <a:rPr b="1"/>
              <a:t>Failure Is the Default Condition of Change</a:t>
            </a:r>
          </a:p>
          <a:p>
            <a:pPr lvl="0"/>
            <a:r>
              <a:rPr b="1"/>
              <a:t>Detection Must Be Actively Designed</a:t>
            </a:r>
          </a:p>
          <a:p>
            <a:pPr lvl="0"/>
            <a:r>
              <a:rPr b="1"/>
              <a:t>Control Comes Before Scale</a:t>
            </a:r>
          </a:p>
          <a:p>
            <a:pPr lvl="0"/>
            <a:r>
              <a:rPr b="1"/>
              <a:t>Failure Must Trigger Intervention</a:t>
            </a:r>
          </a:p>
          <a:p>
            <a:pPr lvl="0"/>
            <a:r>
              <a:rPr b="1"/>
              <a:t>Corrective Action Must Be Implemented</a:t>
            </a:r>
          </a:p>
          <a:p>
            <a:pPr lvl="0"/>
            <a:r>
              <a:rPr b="1"/>
              <a:t>Accountability Must Cross People, Process, and Technology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Risk Register to Intervention Design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lgn="l">
                        <a:buNone/>
                      </a:pPr>
                      <a:r>
                        <a:rPr/>
                        <a:t>Weak Artifact</a:t>
                      </a:r>
                    </a:p>
                  </a:txBody>
                  <a:tcPr/>
                </a:tc>
                <a:tc>
                  <a:txBody>
                    <a:bodyPr/>
                    <a:lstStyle/>
                    <a:p>
                      <a:pPr lvl="0" indent="0" marL="0" algn="l">
                        <a:buNone/>
                      </a:pPr>
                      <a:r>
                        <a:rPr/>
                        <a:t>Strong Control Design</a:t>
                      </a:r>
                    </a:p>
                  </a:txBody>
                  <a:tcPr/>
                </a:tc>
              </a:tr>
              <a:tr h="0">
                <a:tc>
                  <a:txBody>
                    <a:bodyPr/>
                    <a:lstStyle/>
                    <a:p>
                      <a:pPr lvl="0" indent="0" marL="0" algn="l">
                        <a:buNone/>
                      </a:pPr>
                      <a:r>
                        <a:rPr/>
                        <a:t>Risk listed</a:t>
                      </a:r>
                    </a:p>
                  </a:txBody>
                </a:tc>
                <a:tc>
                  <a:txBody>
                    <a:bodyPr/>
                    <a:lstStyle/>
                    <a:p>
                      <a:pPr lvl="0" indent="0" marL="0" algn="l">
                        <a:buNone/>
                      </a:pPr>
                      <a:r>
                        <a:rPr/>
                        <a:t>Signal defined</a:t>
                      </a:r>
                    </a:p>
                  </a:txBody>
                </a:tc>
              </a:tr>
              <a:tr h="0">
                <a:tc>
                  <a:txBody>
                    <a:bodyPr/>
                    <a:lstStyle/>
                    <a:p>
                      <a:pPr lvl="0" indent="0" marL="0" algn="l">
                        <a:buNone/>
                      </a:pPr>
                      <a:r>
                        <a:rPr/>
                        <a:t>Owner named</a:t>
                      </a:r>
                    </a:p>
                  </a:txBody>
                </a:tc>
                <a:tc>
                  <a:txBody>
                    <a:bodyPr/>
                    <a:lstStyle/>
                    <a:p>
                      <a:pPr lvl="0" indent="0" marL="0" algn="l">
                        <a:buNone/>
                      </a:pPr>
                      <a:r>
                        <a:rPr/>
                        <a:t>Owner authorized</a:t>
                      </a:r>
                    </a:p>
                  </a:txBody>
                </a:tc>
              </a:tr>
              <a:tr h="0">
                <a:tc>
                  <a:txBody>
                    <a:bodyPr/>
                    <a:lstStyle/>
                    <a:p>
                      <a:pPr lvl="0" indent="0" marL="0" algn="l">
                        <a:buNone/>
                      </a:pPr>
                      <a:r>
                        <a:rPr/>
                        <a:t>Mitigation noted</a:t>
                      </a:r>
                    </a:p>
                  </a:txBody>
                </a:tc>
                <a:tc>
                  <a:txBody>
                    <a:bodyPr/>
                    <a:lstStyle/>
                    <a:p>
                      <a:pPr lvl="0" indent="0" marL="0" algn="l">
                        <a:buNone/>
                      </a:pPr>
                      <a:r>
                        <a:rPr/>
                        <a:t>Trigger threshold set</a:t>
                      </a:r>
                    </a:p>
                  </a:txBody>
                </a:tc>
              </a:tr>
              <a:tr h="0">
                <a:tc>
                  <a:txBody>
                    <a:bodyPr/>
                    <a:lstStyle/>
                    <a:p>
                      <a:pPr lvl="0" indent="0" marL="0" algn="l">
                        <a:buNone/>
                      </a:pPr>
                      <a:r>
                        <a:rPr/>
                        <a:t>Escalation documented</a:t>
                      </a:r>
                    </a:p>
                  </a:txBody>
                </a:tc>
                <a:tc>
                  <a:txBody>
                    <a:bodyPr/>
                    <a:lstStyle/>
                    <a:p>
                      <a:pPr lvl="0" indent="0" marL="0" algn="l">
                        <a:buNone/>
                      </a:pPr>
                      <a:r>
                        <a:rPr/>
                        <a:t>Decision rights confirmed</a:t>
                      </a:r>
                    </a:p>
                  </a:txBody>
                </a:tc>
              </a:tr>
              <a:tr h="0">
                <a:tc>
                  <a:txBody>
                    <a:bodyPr/>
                    <a:lstStyle/>
                    <a:p>
                      <a:pPr lvl="0" indent="0" marL="0" algn="l">
                        <a:buNone/>
                      </a:pPr>
                      <a:r>
                        <a:rPr/>
                        <a:t>Review scheduled</a:t>
                      </a:r>
                    </a:p>
                  </a:txBody>
                </a:tc>
                <a:tc>
                  <a:txBody>
                    <a:bodyPr/>
                    <a:lstStyle/>
                    <a:p>
                      <a:pPr lvl="0" indent="0" marL="0" algn="l">
                        <a:buNone/>
                      </a:pPr>
                      <a:r>
                        <a:rPr/>
                        <a:t>Intervention cadence active</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Applying the Framework</a:t>
            </a:r>
          </a:p>
        </p:txBody>
      </p:sp>
      <p:sp>
        <p:nvSpPr>
          <p:cNvPr id="3" name="Content Placeholder 2"/>
          <p:cNvSpPr>
            <a:spLocks noGrp="1"/>
          </p:cNvSpPr>
          <p:nvPr>
            <p:ph idx="1"/>
          </p:nvPr>
        </p:nvSpPr>
        <p:spPr/>
        <p:txBody>
          <a:bodyPr/>
          <a:lstStyle/>
          <a:p>
            <a:pPr lvl="0" indent="-342900" marL="342900">
              <a:buAutoNum type="arabicPeriod"/>
            </a:pPr>
            <a:r>
              <a:rPr/>
              <a:t>Map the People-Process-Technology domain and integrator risk.</a:t>
            </a:r>
          </a:p>
          <a:p>
            <a:pPr lvl="0" indent="-342900" marL="342900">
              <a:buAutoNum type="arabicPeriod"/>
            </a:pPr>
            <a:r>
              <a:rPr/>
              <a:t>Ask the six control questions for each material change element.</a:t>
            </a:r>
          </a:p>
          <a:p>
            <a:pPr lvl="0" indent="-342900" marL="342900">
              <a:buAutoNum type="arabicPeriod"/>
            </a:pPr>
            <a:r>
              <a:rPr/>
              <a:t>Convert answers into the Project Implementation Plan.</a:t>
            </a:r>
          </a:p>
          <a:p>
            <a:pPr lvl="0" indent="-342900" marL="342900">
              <a:buAutoNum type="arabicPeriod"/>
            </a:pPr>
            <a:r>
              <a:rPr/>
              <a:t>Govern execution through the dashboard, register, and decision log.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People-Process-Technology Overlay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lgn="l">
                        <a:buNone/>
                      </a:pPr>
                      <a:r>
                        <a:rPr/>
                        <a:t>Domain</a:t>
                      </a:r>
                    </a:p>
                  </a:txBody>
                  <a:tcPr/>
                </a:tc>
                <a:tc>
                  <a:txBody>
                    <a:bodyPr/>
                    <a:lstStyle/>
                    <a:p>
                      <a:pPr lvl="0" indent="0" marL="0" algn="l">
                        <a:buNone/>
                      </a:pPr>
                      <a:r>
                        <a:rPr/>
                        <a:t>Primary Failure Question</a:t>
                      </a:r>
                    </a:p>
                  </a:txBody>
                  <a:tcPr/>
                </a:tc>
              </a:tr>
              <a:tr h="0">
                <a:tc>
                  <a:txBody>
                    <a:bodyPr/>
                    <a:lstStyle/>
                    <a:p>
                      <a:pPr lvl="0" indent="0" marL="0" algn="l">
                        <a:buNone/>
                      </a:pPr>
                      <a:r>
                        <a:rPr/>
                        <a:t>Technology</a:t>
                      </a:r>
                    </a:p>
                  </a:txBody>
                </a:tc>
                <a:tc>
                  <a:txBody>
                    <a:bodyPr/>
                    <a:lstStyle/>
                    <a:p>
                      <a:pPr lvl="0" indent="0" marL="0" algn="l">
                        <a:buNone/>
                      </a:pPr>
                      <a:r>
                        <a:rPr/>
                        <a:t>Does the system support safe clinical work?</a:t>
                      </a:r>
                    </a:p>
                  </a:txBody>
                </a:tc>
              </a:tr>
              <a:tr h="0">
                <a:tc>
                  <a:txBody>
                    <a:bodyPr/>
                    <a:lstStyle/>
                    <a:p>
                      <a:pPr lvl="0" indent="0" marL="0" algn="l">
                        <a:buNone/>
                      </a:pPr>
                      <a:r>
                        <a:rPr/>
                        <a:t>Process</a:t>
                      </a:r>
                    </a:p>
                  </a:txBody>
                </a:tc>
                <a:tc>
                  <a:txBody>
                    <a:bodyPr/>
                    <a:lstStyle/>
                    <a:p>
                      <a:pPr lvl="0" indent="0" marL="0" algn="l">
                        <a:buNone/>
                      </a:pPr>
                      <a:r>
                        <a:rPr/>
                        <a:t>Does the workflow survive real conditions?</a:t>
                      </a:r>
                    </a:p>
                  </a:txBody>
                </a:tc>
              </a:tr>
              <a:tr h="0">
                <a:tc>
                  <a:txBody>
                    <a:bodyPr/>
                    <a:lstStyle/>
                    <a:p>
                      <a:pPr lvl="0" indent="0" marL="0" algn="l">
                        <a:buNone/>
                      </a:pPr>
                      <a:r>
                        <a:rPr/>
                        <a:t>People</a:t>
                      </a:r>
                    </a:p>
                  </a:txBody>
                </a:tc>
                <a:tc>
                  <a:txBody>
                    <a:bodyPr/>
                    <a:lstStyle/>
                    <a:p>
                      <a:pPr lvl="0" indent="0" marL="0" algn="l">
                        <a:buNone/>
                      </a:pPr>
                      <a:r>
                        <a:rPr/>
                        <a:t>Are alignment and behavior real?</a:t>
                      </a:r>
                    </a:p>
                  </a:txBody>
                </a:tc>
              </a:tr>
              <a:tr h="0">
                <a:tc>
                  <a:txBody>
                    <a:bodyPr/>
                    <a:lstStyle/>
                    <a:p>
                      <a:pPr lvl="0" indent="0" marL="0" algn="l">
                        <a:buNone/>
                      </a:pPr>
                      <a:r>
                        <a:rPr/>
                        <a:t>Integrator</a:t>
                      </a:r>
                    </a:p>
                  </a:txBody>
                </a:tc>
                <a:tc>
                  <a:txBody>
                    <a:bodyPr/>
                    <a:lstStyle/>
                    <a:p>
                      <a:pPr lvl="0" indent="0" marL="0" algn="l">
                        <a:buNone/>
                      </a:pPr>
                      <a:r>
                        <a:rPr/>
                        <a:t>Who controls cross-domain failure?</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 Control Questions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lgn="l">
                        <a:buNone/>
                      </a:pPr>
                      <a:r>
                        <a:rPr/>
                        <a:t>Diagnostic Area</a:t>
                      </a:r>
                    </a:p>
                  </a:txBody>
                  <a:tcPr/>
                </a:tc>
                <a:tc>
                  <a:txBody>
                    <a:bodyPr/>
                    <a:lstStyle/>
                    <a:p>
                      <a:pPr lvl="0" indent="0" marL="0" algn="l">
                        <a:buNone/>
                      </a:pPr>
                      <a:r>
                        <a:rPr/>
                        <a:t>Operating Question</a:t>
                      </a:r>
                    </a:p>
                  </a:txBody>
                  <a:tcPr/>
                </a:tc>
              </a:tr>
              <a:tr h="0">
                <a:tc>
                  <a:txBody>
                    <a:bodyPr/>
                    <a:lstStyle/>
                    <a:p>
                      <a:pPr lvl="0" indent="0" marL="0" algn="l">
                        <a:buNone/>
                      </a:pPr>
                      <a:r>
                        <a:rPr/>
                        <a:t>Success Criteria</a:t>
                      </a:r>
                    </a:p>
                  </a:txBody>
                </a:tc>
                <a:tc>
                  <a:txBody>
                    <a:bodyPr/>
                    <a:lstStyle/>
                    <a:p>
                      <a:pPr lvl="0" indent="0" marL="0" algn="l">
                        <a:buNone/>
                      </a:pPr>
                      <a:r>
                        <a:rPr/>
                        <a:t>What does safe success look like?</a:t>
                      </a:r>
                    </a:p>
                  </a:txBody>
                </a:tc>
              </a:tr>
              <a:tr h="0">
                <a:tc>
                  <a:txBody>
                    <a:bodyPr/>
                    <a:lstStyle/>
                    <a:p>
                      <a:pPr lvl="0" indent="0" marL="0" algn="l">
                        <a:buNone/>
                      </a:pPr>
                      <a:r>
                        <a:rPr/>
                        <a:t>Assumptions</a:t>
                      </a:r>
                    </a:p>
                  </a:txBody>
                </a:tc>
                <a:tc>
                  <a:txBody>
                    <a:bodyPr/>
                    <a:lstStyle/>
                    <a:p>
                      <a:pPr lvl="0" indent="0" marL="0" algn="l">
                        <a:buNone/>
                      </a:pPr>
                      <a:r>
                        <a:rPr/>
                        <a:t>What must be true for this to work?</a:t>
                      </a:r>
                    </a:p>
                  </a:txBody>
                </a:tc>
              </a:tr>
              <a:tr h="0">
                <a:tc>
                  <a:txBody>
                    <a:bodyPr/>
                    <a:lstStyle/>
                    <a:p>
                      <a:pPr lvl="0" indent="0" marL="0" algn="l">
                        <a:buNone/>
                      </a:pPr>
                      <a:r>
                        <a:rPr/>
                        <a:t>Expected Failure</a:t>
                      </a:r>
                    </a:p>
                  </a:txBody>
                </a:tc>
                <a:tc>
                  <a:txBody>
                    <a:bodyPr/>
                    <a:lstStyle/>
                    <a:p>
                      <a:pPr lvl="0" indent="0" marL="0" algn="l">
                        <a:buNone/>
                      </a:pPr>
                      <a:r>
                        <a:rPr/>
                        <a:t>Where do we expect failure to appear?</a:t>
                      </a:r>
                    </a:p>
                  </a:txBody>
                </a:tc>
              </a:tr>
              <a:tr h="0">
                <a:tc>
                  <a:txBody>
                    <a:bodyPr/>
                    <a:lstStyle/>
                    <a:p>
                      <a:pPr lvl="0" indent="0" marL="0" algn="l">
                        <a:buNone/>
                      </a:pPr>
                      <a:r>
                        <a:rPr/>
                        <a:t>Detection</a:t>
                      </a:r>
                    </a:p>
                  </a:txBody>
                </a:tc>
                <a:tc>
                  <a:txBody>
                    <a:bodyPr/>
                    <a:lstStyle/>
                    <a:p>
                      <a:pPr lvl="0" indent="0" marL="0" algn="l">
                        <a:buNone/>
                      </a:pPr>
                      <a:r>
                        <a:rPr/>
                        <a:t>How will we know the signal is credible?</a:t>
                      </a:r>
                    </a:p>
                  </a:txBody>
                </a:tc>
              </a:tr>
              <a:tr h="0">
                <a:tc>
                  <a:txBody>
                    <a:bodyPr/>
                    <a:lstStyle/>
                    <a:p>
                      <a:pPr lvl="0" indent="0" marL="0" algn="l">
                        <a:buNone/>
                      </a:pPr>
                      <a:r>
                        <a:rPr/>
                        <a:t>Prevention</a:t>
                      </a:r>
                    </a:p>
                  </a:txBody>
                </a:tc>
                <a:tc>
                  <a:txBody>
                    <a:bodyPr/>
                    <a:lstStyle/>
                    <a:p>
                      <a:pPr lvl="0" indent="0" marL="0" algn="l">
                        <a:buNone/>
                      </a:pPr>
                      <a:r>
                        <a:rPr/>
                        <a:t>What must we do now to reduce exposure?</a:t>
                      </a:r>
                    </a:p>
                  </a:txBody>
                </a:tc>
              </a:tr>
              <a:tr h="0">
                <a:tc>
                  <a:txBody>
                    <a:bodyPr/>
                    <a:lstStyle/>
                    <a:p>
                      <a:pPr lvl="0" indent="0" marL="0" algn="l">
                        <a:buNone/>
                      </a:pPr>
                      <a:r>
                        <a:rPr/>
                        <a:t>Control Response</a:t>
                      </a:r>
                    </a:p>
                  </a:txBody>
                </a:tc>
                <a:tc>
                  <a:txBody>
                    <a:bodyPr/>
                    <a:lstStyle/>
                    <a:p>
                      <a:pPr lvl="0" indent="0" marL="0" algn="l">
                        <a:buNone/>
                      </a:pPr>
                      <a:r>
                        <a:rPr/>
                        <a:t>What action do we execute when it appears?</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Radiology Workflow Example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lgn="l">
                        <a:buNone/>
                      </a:pPr>
                      <a:r>
                        <a:rPr/>
                        <a:t>Area</a:t>
                      </a:r>
                    </a:p>
                  </a:txBody>
                  <a:tcPr/>
                </a:tc>
                <a:tc>
                  <a:txBody>
                    <a:bodyPr/>
                    <a:lstStyle/>
                    <a:p>
                      <a:pPr lvl="0" indent="0" marL="0" algn="l">
                        <a:buNone/>
                      </a:pPr>
                      <a:r>
                        <a:rPr/>
                        <a:t>Control Answer</a:t>
                      </a:r>
                    </a:p>
                  </a:txBody>
                  <a:tcPr/>
                </a:tc>
              </a:tr>
              <a:tr h="0">
                <a:tc>
                  <a:txBody>
                    <a:bodyPr/>
                    <a:lstStyle/>
                    <a:p>
                      <a:pPr lvl="0" indent="0" marL="0" algn="l">
                        <a:buNone/>
                      </a:pPr>
                      <a:r>
                        <a:rPr/>
                        <a:t>Success Criteria</a:t>
                      </a:r>
                    </a:p>
                  </a:txBody>
                </a:tc>
                <a:tc>
                  <a:txBody>
                    <a:bodyPr/>
                    <a:lstStyle/>
                    <a:p>
                      <a:pPr lvl="0" indent="0" marL="0" algn="l">
                        <a:buNone/>
                      </a:pPr>
                      <a:r>
                        <a:rPr/>
                        <a:t>Orders, images, and reports move safely across RIS, PACS, and EHR</a:t>
                      </a:r>
                    </a:p>
                  </a:txBody>
                </a:tc>
              </a:tr>
              <a:tr h="0">
                <a:tc>
                  <a:txBody>
                    <a:bodyPr/>
                    <a:lstStyle/>
                    <a:p>
                      <a:pPr lvl="0" indent="0" marL="0" algn="l">
                        <a:buNone/>
                      </a:pPr>
                      <a:r>
                        <a:rPr/>
                        <a:t>Assumptions</a:t>
                      </a:r>
                    </a:p>
                  </a:txBody>
                </a:tc>
                <a:tc>
                  <a:txBody>
                    <a:bodyPr/>
                    <a:lstStyle/>
                    <a:p>
                      <a:pPr lvl="0" indent="0" marL="0" algn="l">
                        <a:buNone/>
                      </a:pPr>
                      <a:r>
                        <a:rPr/>
                        <a:t>Orders, worklists, accession numbers, images, and reports stay synchronized</a:t>
                      </a:r>
                    </a:p>
                  </a:txBody>
                </a:tc>
              </a:tr>
              <a:tr h="0">
                <a:tc>
                  <a:txBody>
                    <a:bodyPr/>
                    <a:lstStyle/>
                    <a:p>
                      <a:pPr lvl="0" indent="0" marL="0" algn="l">
                        <a:buNone/>
                      </a:pPr>
                      <a:r>
                        <a:rPr/>
                        <a:t>Expected Failure</a:t>
                      </a:r>
                    </a:p>
                  </a:txBody>
                </a:tc>
                <a:tc>
                  <a:txBody>
                    <a:bodyPr/>
                    <a:lstStyle/>
                    <a:p>
                      <a:pPr lvl="0" indent="0" marL="0" algn="l">
                        <a:buNone/>
                      </a:pPr>
                      <a:r>
                        <a:rPr/>
                        <a:t>Wrong exam context, missing images, delayed reads, or report delivery gaps</a:t>
                      </a:r>
                    </a:p>
                  </a:txBody>
                </a:tc>
              </a:tr>
              <a:tr h="0">
                <a:tc>
                  <a:txBody>
                    <a:bodyPr/>
                    <a:lstStyle/>
                    <a:p>
                      <a:pPr lvl="0" indent="0" marL="0" algn="l">
                        <a:buNone/>
                      </a:pPr>
                      <a:r>
                        <a:rPr/>
                        <a:t>Detection</a:t>
                      </a:r>
                    </a:p>
                  </a:txBody>
                </a:tc>
                <a:tc>
                  <a:txBody>
                    <a:bodyPr/>
                    <a:lstStyle/>
                    <a:p>
                      <a:pPr lvl="0" indent="0" marL="0" algn="l">
                        <a:buNone/>
                      </a:pPr>
                      <a:r>
                        <a:rPr/>
                        <a:t>Worklist mismatches, unsigned backlog, PACS complaints, missing-result calls</a:t>
                      </a:r>
                    </a:p>
                  </a:txBody>
                </a:tc>
              </a:tr>
              <a:tr h="0">
                <a:tc>
                  <a:txBody>
                    <a:bodyPr/>
                    <a:lstStyle/>
                    <a:p>
                      <a:pPr lvl="0" indent="0" marL="0" algn="l">
                        <a:buNone/>
                      </a:pPr>
                      <a:r>
                        <a:rPr/>
                        <a:t>Prevention</a:t>
                      </a:r>
                    </a:p>
                  </a:txBody>
                </a:tc>
                <a:tc>
                  <a:txBody>
                    <a:bodyPr/>
                    <a:lstStyle/>
                    <a:p>
                      <a:pPr lvl="0" indent="0" marL="0" algn="l">
                        <a:buNone/>
                      </a:pPr>
                      <a:r>
                        <a:rPr/>
                        <a:t>Validate ORM, DICOM Modality Worklist, routing, accession mapping, and reports</a:t>
                      </a:r>
                    </a:p>
                  </a:txBody>
                </a:tc>
              </a:tr>
              <a:tr h="0">
                <a:tc>
                  <a:txBody>
                    <a:bodyPr/>
                    <a:lstStyle/>
                    <a:p>
                      <a:pPr lvl="0" indent="0" marL="0" algn="l">
                        <a:buNone/>
                      </a:pPr>
                      <a:r>
                        <a:rPr/>
                        <a:t>Control Response</a:t>
                      </a:r>
                    </a:p>
                  </a:txBody>
                </a:tc>
                <a:tc>
                  <a:txBody>
                    <a:bodyPr/>
                    <a:lstStyle/>
                    <a:p>
                      <a:pPr lvl="0" indent="0" marL="0" algn="l">
                        <a:buNone/>
                      </a:pPr>
                      <a:r>
                        <a:rPr/>
                        <a:t>Pause expansion, reconcile studies, fix mappings, activate manual escalation</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Technology Failure</a:t>
            </a:r>
          </a:p>
        </p:txBody>
      </p:sp>
      <p:sp>
        <p:nvSpPr>
          <p:cNvPr id="3" name="Content Placeholder 2"/>
          <p:cNvSpPr>
            <a:spLocks noGrp="1"/>
          </p:cNvSpPr>
          <p:nvPr>
            <p:ph idx="1"/>
          </p:nvPr>
        </p:nvSpPr>
        <p:spPr/>
        <p:txBody>
          <a:bodyPr/>
          <a:lstStyle/>
          <a:p>
            <a:pPr lvl="0"/>
            <a:r>
              <a:rPr b="1"/>
              <a:t>Core Risk:</a:t>
            </a:r>
            <a:r>
              <a:rPr/>
              <a:t> The tool works technically but fails operationally</a:t>
            </a:r>
          </a:p>
          <a:p>
            <a:pPr lvl="0"/>
            <a:r>
              <a:rPr/>
              <a:t>Interface transport can succeed while clinical meaning fails</a:t>
            </a:r>
          </a:p>
          <a:p>
            <a:pPr lvl="0"/>
            <a:r>
              <a:rPr/>
              <a:t>Green dashboards can hide semantic failure</a:t>
            </a:r>
          </a:p>
          <a:p>
            <a:pPr lvl="0"/>
            <a:r>
              <a:rPr/>
              <a:t>Wrong information creates patient-safety risk</a:t>
            </a:r>
          </a:p>
          <a:p>
            <a:pPr lvl="0"/>
            <a:r>
              <a:rPr/>
              <a:t>Detection must combine logs, users, workflow, and data validation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Process Failure</a:t>
            </a:r>
          </a:p>
        </p:txBody>
      </p:sp>
      <p:sp>
        <p:nvSpPr>
          <p:cNvPr id="3" name="Content Placeholder 2"/>
          <p:cNvSpPr>
            <a:spLocks noGrp="1"/>
          </p:cNvSpPr>
          <p:nvPr>
            <p:ph idx="1"/>
          </p:nvPr>
        </p:nvSpPr>
        <p:spPr/>
        <p:txBody>
          <a:bodyPr/>
          <a:lstStyle/>
          <a:p>
            <a:pPr lvl="0"/>
            <a:r>
              <a:rPr b="1"/>
              <a:t>Core Risk:</a:t>
            </a:r>
            <a:r>
              <a:rPr/>
              <a:t> Designed workflow does not match real work</a:t>
            </a:r>
          </a:p>
          <a:p>
            <a:pPr lvl="0"/>
            <a:r>
              <a:rPr/>
              <a:t>Current-State Error: The future state is built on a false baseline</a:t>
            </a:r>
          </a:p>
          <a:p>
            <a:pPr lvl="0"/>
            <a:r>
              <a:rPr/>
              <a:t>Shadow Workflow: Workarounds expose missing steps or unsafe timing</a:t>
            </a:r>
          </a:p>
          <a:p>
            <a:pPr lvl="0"/>
            <a:r>
              <a:rPr/>
              <a:t>Stuck Between Old and New: Hybrid operations become permanent</a:t>
            </a:r>
          </a:p>
          <a:p>
            <a:pPr lvl="0"/>
            <a:r>
              <a:rPr/>
              <a:t>Control Task: Classify, control, and redesign broken workflow</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People Failure</a:t>
            </a:r>
          </a:p>
        </p:txBody>
      </p:sp>
      <p:sp>
        <p:nvSpPr>
          <p:cNvPr id="3" name="Content Placeholder 2"/>
          <p:cNvSpPr>
            <a:spLocks noGrp="1"/>
          </p:cNvSpPr>
          <p:nvPr>
            <p:ph idx="1"/>
          </p:nvPr>
        </p:nvSpPr>
        <p:spPr/>
        <p:txBody>
          <a:bodyPr/>
          <a:lstStyle/>
          <a:p>
            <a:pPr lvl="0"/>
            <a:r>
              <a:rPr b="1"/>
              <a:t>Core Risk:</a:t>
            </a:r>
            <a:r>
              <a:rPr/>
              <a:t> Superficial agreement is mistaken for adoption</a:t>
            </a:r>
          </a:p>
          <a:p>
            <a:pPr lvl="0"/>
            <a:r>
              <a:rPr/>
              <a:t>Attendance proves exposure, not competence</a:t>
            </a:r>
          </a:p>
          <a:p>
            <a:pPr lvl="0"/>
            <a:r>
              <a:rPr/>
              <a:t>Quiet champions are a political signal</a:t>
            </a:r>
          </a:p>
          <a:p>
            <a:pPr lvl="0"/>
            <a:r>
              <a:rPr/>
              <a:t>Influential Opponent: Informal authority works against change</a:t>
            </a:r>
          </a:p>
          <a:p>
            <a:pPr lvl="0"/>
            <a:r>
              <a:rPr/>
              <a:t>Owner in Name Only: Accountability exists only on paper</a:t>
            </a:r>
          </a:p>
          <a:p>
            <a:pPr lvl="0"/>
            <a:r>
              <a:rPr/>
              <a:t>Workarounds reveal the truth first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Integrator Layer</a:t>
            </a:r>
          </a:p>
        </p:txBody>
      </p:sp>
      <p:sp>
        <p:nvSpPr>
          <p:cNvPr id="3" name="Content Placeholder 2"/>
          <p:cNvSpPr>
            <a:spLocks noGrp="1"/>
          </p:cNvSpPr>
          <p:nvPr>
            <p:ph idx="1"/>
          </p:nvPr>
        </p:nvSpPr>
        <p:spPr/>
        <p:txBody>
          <a:bodyPr/>
          <a:lstStyle/>
          <a:p>
            <a:pPr lvl="0"/>
            <a:r>
              <a:rPr/>
              <a:t>Real breakdown is controlled between domains</a:t>
            </a:r>
          </a:p>
          <a:p>
            <a:pPr lvl="0"/>
            <a:r>
              <a:rPr/>
              <a:t>Technology defects get mislabeled as adoption problems</a:t>
            </a:r>
          </a:p>
          <a:p>
            <a:pPr lvl="0"/>
            <a:r>
              <a:rPr/>
              <a:t>Process gaps get patched with manual work</a:t>
            </a:r>
          </a:p>
          <a:p>
            <a:pPr lvl="0"/>
            <a:r>
              <a:rPr/>
              <a:t>People resistance exposes workflow flaws</a:t>
            </a:r>
          </a:p>
          <a:p>
            <a:pPr lvl="0"/>
            <a:r>
              <a:rPr/>
              <a:t>Clean interfaces can still create unsafe behavior when workflow meaning fails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Failure Management Dashboard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lgn="l">
                        <a:buNone/>
                      </a:pPr>
                      <a:r>
                        <a:rPr/>
                        <a:t>Layer</a:t>
                      </a:r>
                    </a:p>
                  </a:txBody>
                  <a:tcPr/>
                </a:tc>
                <a:tc>
                  <a:txBody>
                    <a:bodyPr/>
                    <a:lstStyle/>
                    <a:p>
                      <a:pPr lvl="0" indent="0" marL="0" algn="l">
                        <a:buNone/>
                      </a:pPr>
                      <a:r>
                        <a:rPr/>
                        <a:t>Purpose</a:t>
                      </a:r>
                    </a:p>
                  </a:txBody>
                  <a:tcPr/>
                </a:tc>
              </a:tr>
              <a:tr h="0">
                <a:tc>
                  <a:txBody>
                    <a:bodyPr/>
                    <a:lstStyle/>
                    <a:p>
                      <a:pPr lvl="0" indent="0" marL="0" algn="l">
                        <a:buNone/>
                      </a:pPr>
                      <a:r>
                        <a:rPr/>
                        <a:t>Executive Snapshot</a:t>
                      </a:r>
                    </a:p>
                  </a:txBody>
                </a:tc>
                <a:tc>
                  <a:txBody>
                    <a:bodyPr/>
                    <a:lstStyle/>
                    <a:p>
                      <a:pPr lvl="0" indent="0" marL="0" algn="l">
                        <a:buNone/>
                      </a:pPr>
                      <a:r>
                        <a:rPr/>
                        <a:t>Force current leadership decisions</a:t>
                      </a:r>
                    </a:p>
                  </a:txBody>
                </a:tc>
              </a:tr>
              <a:tr h="0">
                <a:tc>
                  <a:txBody>
                    <a:bodyPr/>
                    <a:lstStyle/>
                    <a:p>
                      <a:pPr lvl="0" indent="0" marL="0" algn="l">
                        <a:buNone/>
                      </a:pPr>
                      <a:r>
                        <a:rPr/>
                        <a:t>Failure Register</a:t>
                      </a:r>
                    </a:p>
                  </a:txBody>
                </a:tc>
                <a:tc>
                  <a:txBody>
                    <a:bodyPr/>
                    <a:lstStyle/>
                    <a:p>
                      <a:pPr lvl="0" indent="0" marL="0" algn="l">
                        <a:buNone/>
                      </a:pPr>
                      <a:r>
                        <a:rPr/>
                        <a:t>Track signal, control action, owner, and status</a:t>
                      </a:r>
                    </a:p>
                  </a:txBody>
                </a:tc>
              </a:tr>
              <a:tr h="0">
                <a:tc>
                  <a:txBody>
                    <a:bodyPr/>
                    <a:lstStyle/>
                    <a:p>
                      <a:pPr lvl="0" indent="0" marL="0" algn="l">
                        <a:buNone/>
                      </a:pPr>
                      <a:r>
                        <a:rPr/>
                        <a:t>Decision Log</a:t>
                      </a:r>
                    </a:p>
                  </a:txBody>
                </a:tc>
                <a:tc>
                  <a:txBody>
                    <a:bodyPr/>
                    <a:lstStyle/>
                    <a:p>
                      <a:pPr lvl="0" indent="0" marL="0" algn="l">
                        <a:buNone/>
                      </a:pPr>
                      <a:r>
                        <a:rPr/>
                        <a:t>Record stop, change, accept, and defer choices</a:t>
                      </a:r>
                    </a:p>
                  </a:txBody>
                </a:tc>
              </a:tr>
              <a:tr h="0">
                <a:tc>
                  <a:txBody>
                    <a:bodyPr/>
                    <a:lstStyle/>
                    <a:p>
                      <a:pPr lvl="0" indent="0" marL="0" algn="l">
                        <a:buNone/>
                      </a:pPr>
                      <a:r>
                        <a:rPr/>
                        <a:t>Review Cadence</a:t>
                      </a:r>
                    </a:p>
                  </a:txBody>
                </a:tc>
                <a:tc>
                  <a:txBody>
                    <a:bodyPr/>
                    <a:lstStyle/>
                    <a:p>
                      <a:pPr lvl="0" indent="0" marL="0" algn="l">
                        <a:buNone/>
                      </a:pPr>
                      <a:r>
                        <a:rPr/>
                        <a:t>Match frequency to clinical and operational risk</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Failure Register Entry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lgn="l">
                        <a:buNone/>
                      </a:pPr>
                      <a:r>
                        <a:rPr/>
                        <a:t>Field</a:t>
                      </a:r>
                    </a:p>
                  </a:txBody>
                  <a:tcPr/>
                </a:tc>
                <a:tc>
                  <a:txBody>
                    <a:bodyPr/>
                    <a:lstStyle/>
                    <a:p>
                      <a:pPr lvl="0" indent="0" marL="0" algn="l">
                        <a:buNone/>
                      </a:pPr>
                      <a:r>
                        <a:rPr/>
                        <a:t>Example</a:t>
                      </a:r>
                    </a:p>
                  </a:txBody>
                  <a:tcPr/>
                </a:tc>
              </a:tr>
              <a:tr h="0">
                <a:tc>
                  <a:txBody>
                    <a:bodyPr/>
                    <a:lstStyle/>
                    <a:p>
                      <a:pPr lvl="0" indent="0" marL="0" algn="l">
                        <a:buNone/>
                      </a:pPr>
                      <a:r>
                        <a:rPr/>
                        <a:t>Failure Signal</a:t>
                      </a:r>
                    </a:p>
                  </a:txBody>
                </a:tc>
                <a:tc>
                  <a:txBody>
                    <a:bodyPr/>
                    <a:lstStyle/>
                    <a:p>
                      <a:pPr lvl="0" indent="0" marL="0" algn="l">
                        <a:buNone/>
                      </a:pPr>
                      <a:r>
                        <a:rPr/>
                        <a:t>DICOM send success with rising missing-image complaints</a:t>
                      </a:r>
                    </a:p>
                  </a:txBody>
                </a:tc>
              </a:tr>
              <a:tr h="0">
                <a:tc>
                  <a:txBody>
                    <a:bodyPr/>
                    <a:lstStyle/>
                    <a:p>
                      <a:pPr lvl="0" indent="0" marL="0" algn="l">
                        <a:buNone/>
                      </a:pPr>
                      <a:r>
                        <a:rPr/>
                        <a:t>Scope</a:t>
                      </a:r>
                    </a:p>
                  </a:txBody>
                </a:tc>
                <a:tc>
                  <a:txBody>
                    <a:bodyPr/>
                    <a:lstStyle/>
                    <a:p>
                      <a:pPr lvl="0" indent="0" marL="0" algn="l">
                        <a:buNone/>
                      </a:pPr>
                      <a:r>
                        <a:rPr/>
                        <a:t>ED night shift, CT studies, PACS viewer and EHR imaging link</a:t>
                      </a:r>
                    </a:p>
                  </a:txBody>
                </a:tc>
              </a:tr>
              <a:tr h="0">
                <a:tc>
                  <a:txBody>
                    <a:bodyPr/>
                    <a:lstStyle/>
                    <a:p>
                      <a:pPr lvl="0" indent="0" marL="0" algn="l">
                        <a:buNone/>
                      </a:pPr>
                      <a:r>
                        <a:rPr/>
                        <a:t>Threshold</a:t>
                      </a:r>
                    </a:p>
                  </a:txBody>
                </a:tc>
                <a:tc>
                  <a:txBody>
                    <a:bodyPr/>
                    <a:lstStyle/>
                    <a:p>
                      <a:pPr lvl="0" indent="0" marL="0" algn="l">
                        <a:buNone/>
                      </a:pPr>
                      <a:r>
                        <a:rPr/>
                        <a:t>More than 3 verified complaints in 4 hours</a:t>
                      </a:r>
                    </a:p>
                  </a:txBody>
                </a:tc>
              </a:tr>
              <a:tr h="0">
                <a:tc>
                  <a:txBody>
                    <a:bodyPr/>
                    <a:lstStyle/>
                    <a:p>
                      <a:pPr lvl="0" indent="0" marL="0" algn="l">
                        <a:buNone/>
                      </a:pPr>
                      <a:r>
                        <a:rPr/>
                        <a:t>Control Owner</a:t>
                      </a:r>
                    </a:p>
                  </a:txBody>
                </a:tc>
                <a:tc>
                  <a:txBody>
                    <a:bodyPr/>
                    <a:lstStyle/>
                    <a:p>
                      <a:pPr lvl="0" indent="0" marL="0" algn="l">
                        <a:buNone/>
                      </a:pPr>
                      <a:r>
                        <a:rPr/>
                        <a:t>PACS administrator and ED clinical operations lead</a:t>
                      </a:r>
                    </a:p>
                  </a:txBody>
                </a:tc>
              </a:tr>
              <a:tr h="0">
                <a:tc>
                  <a:txBody>
                    <a:bodyPr/>
                    <a:lstStyle/>
                    <a:p>
                      <a:pPr lvl="0" indent="0" marL="0" algn="l">
                        <a:buNone/>
                      </a:pPr>
                      <a:r>
                        <a:rPr/>
                        <a:t>Decision Required</a:t>
                      </a:r>
                    </a:p>
                  </a:txBody>
                </a:tc>
                <a:tc>
                  <a:txBody>
                    <a:bodyPr/>
                    <a:lstStyle/>
                    <a:p>
                      <a:pPr lvl="0" indent="0" marL="0" algn="l">
                        <a:buNone/>
                      </a:pPr>
                      <a:r>
                        <a:rPr/>
                        <a:t>Hold expansion, reconcile studies, validate routing, activate manual image access</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Takeaways</a:t>
            </a:r>
          </a:p>
        </p:txBody>
      </p:sp>
      <p:sp>
        <p:nvSpPr>
          <p:cNvPr id="3" name="Content Placeholder 2"/>
          <p:cNvSpPr>
            <a:spLocks noGrp="1"/>
          </p:cNvSpPr>
          <p:nvPr>
            <p:ph idx="1"/>
          </p:nvPr>
        </p:nvSpPr>
        <p:spPr/>
        <p:txBody>
          <a:bodyPr/>
          <a:lstStyle/>
          <a:p>
            <a:pPr lvl="0"/>
            <a:r>
              <a:rPr/>
              <a:t>Change management is failure management</a:t>
            </a:r>
          </a:p>
          <a:p>
            <a:pPr lvl="0"/>
            <a:r>
              <a:rPr/>
              <a:t>Green systems can still create unsafe clinical work</a:t>
            </a:r>
          </a:p>
          <a:p>
            <a:pPr lvl="0"/>
            <a:r>
              <a:rPr/>
              <a:t>Detection must be designed before go-live pressure arrives</a:t>
            </a:r>
          </a:p>
          <a:p>
            <a:pPr lvl="0"/>
            <a:r>
              <a:rPr/>
              <a:t>Failure signals must trigger intervention, not later explanation</a:t>
            </a:r>
          </a:p>
          <a:p>
            <a:pPr lvl="0"/>
            <a:r>
              <a:rPr/>
              <a:t>Control belongs across people, process, technology, and the integrator layer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Apply It to One Active Initiative</a:t>
            </a:r>
          </a:p>
        </p:txBody>
      </p:sp>
      <p:sp>
        <p:nvSpPr>
          <p:cNvPr id="3" name="Content Placeholder 2"/>
          <p:cNvSpPr>
            <a:spLocks noGrp="1"/>
          </p:cNvSpPr>
          <p:nvPr>
            <p:ph idx="1"/>
          </p:nvPr>
        </p:nvSpPr>
        <p:spPr/>
        <p:txBody>
          <a:bodyPr/>
          <a:lstStyle/>
          <a:p>
            <a:pPr lvl="0"/>
            <a:r>
              <a:rPr b="1"/>
              <a:t>Discussion Prompt:</a:t>
            </a:r>
            <a:r>
              <a:rPr/>
              <a:t> Where is your current change portfolio confusing silence with stability?</a:t>
            </a:r>
          </a:p>
          <a:p>
            <a:pPr lvl="0"/>
            <a:r>
              <a:rPr b="1"/>
              <a:t>Next Step:</a:t>
            </a:r>
            <a:r>
              <a:rPr/>
              <a:t> Select one initiative and build its control dashboard</a:t>
            </a:r>
          </a:p>
          <a:p>
            <a:pPr lvl="0"/>
            <a:r>
              <a:rPr b="1"/>
              <a:t>Immediate Work:</a:t>
            </a:r>
            <a:r>
              <a:rPr/>
              <a:t> Define signals, owners, thresholds, and fallback paths</a:t>
            </a:r>
          </a:p>
          <a:p>
            <a:pPr lvl="0"/>
            <a:r>
              <a:rPr b="1"/>
              <a:t>Operating Standard:</a:t>
            </a:r>
            <a:r>
              <a:rPr/>
              <a:t> Protect continuity, safety, trust, and decision quality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Failure-Aware Change Management Framework</dc:title>
  <dc:creator>MKD</dc:creator>
  <cp:keywords/>
  <dcterms:created xsi:type="dcterms:W3CDTF">2026-04-17T09:49:44Z</dcterms:created>
  <dcterms:modified xsi:type="dcterms:W3CDTF">2026-04-17T09:49:44Z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2026-04-17</vt:lpwstr>
  </property>
  <property fmtid="{D5CDD505-2E9C-101B-9397-08002B2CF9AE}" pid="3" name="subtitle">
    <vt:lpwstr>Detecting, Controlling, and Correcting Failure Before It Scales</vt:lpwstr>
  </property>
</Properties>
</file>