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package/2006/relationships/metadata/extended-properties" Target="docProps/app0.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D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996"/>
    <p:restoredTop sz="94707"/>
  </p:normalViewPr>
  <p:slideViewPr>
    <p:cSldViewPr snapToGrid="0">
      <p:cViewPr varScale="1">
        <p:scale>
          <a:sx n="237" d="100"/>
          <a:sy n="237" d="100"/>
        </p:scale>
        <p:origin x="2000" y="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10/11/25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Today I’m going to build the foundation for a critical position on how the Philippines should approach its National Health Data Repository and Health Information Exchange. The position is clear: Health Information Exchange must be built from the ground up, starting with provincial and city-wide health system-level implementation that eventually federates nationally. This is an argument against a top-down, centralized national repository approach. But to make this argument effectively, I need to establish three foundational concepts that will demonstrate why this position is not just preferable—it’s the only approach aligned with the reality of how our health system actually works under the UHC Act.</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argument rests on three cornerstone concepts. First, that value must be local before it’s national. Second, that data flows must follow money flows. And third, that governance must follow accountability. These aren’t just nice principles—each one directly supports the position that HIE must start at the provincial and city-wide health system level. By the end of this presentation, you’ll see how these three cornerstones, taken together, make the case for this approach undeniable. Let me build this argument step by step.</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first foundation of this argument establishes that health information exchange must deliver tangible clinical and operational value at the point of care before attempting national-scale aggregation. This isn’t just about making frontline workers happy—it’s about whether the system gets adopted at all. Without local value, no one will use the system, and all our technical sophistication becomes irrelevant. This foundation establishes the “why start local” part of the argument. Let me examine the evidence.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Here’s the evidence for the first foundation. Look at how patients actually move through the health system. The pregnant woman moving from prenatal care at the rural health unit to delivery at the district hospital and back to postpartum care—this is intra-provincial movement. The diabetic patient referred from the city health center to the city hospital for specialist care—this is intra-city movement. The emergency patient arriving unconscious whose medical history is scattered across three facilities—those facilities are almost always within the same provincial or city health system. The vast majority of patients receive their entire episode of care within a single province or city health system because that’s how referral networks are structured under the UHC Act. The implication is clear: Real clinical value happens within provincial and city-wide health systems, not nationally.</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Now, let me anticipate the counter-argument: “But we need national data for policy and surveillance.” The response is: Yes, absolutely—but that’s a derivative benefit, not the primary driver of HIE implementation. National data aggregation is valuable for health policy, research, and surveillance. This isn’t an argument against it. This is an argument about sequence. National aggregation that burdens frontline workers without providing local benefit creates resentment and resistance. It turns the HIE into what workers call a “data extraction tool”—something that creates work for them to serve distant policymakers. Build local value first, and national aggregation emerges naturally from well-functioning local systems. The data flows up because it’s already being used effectively at the local level.</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 me connect Foundation 1 to this position. If clinical value is predominantly local—and the evidence clearly shows it is—and if technology adoption requires users to see immediate personal value—which every study of health IT adoption confirms—then HIE implementation must start at the provincial and city-wide health system level where that value is actually delivered. Not at the national level where the value is abstract and distant from the frontline workers we’re asking to change their workflows and adopt new systems. A doctor who can pull up a patient’s complete medication history in the emergency room becomes a champion. That’s local value. That’s what drives adoption. That’s why the argument is we must start local.</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second foundation of this argument establishes that HIE architecture must align with actual financing mechanisms, not organizational charts or ideal structures. This isn’t cynicism—it’s realism. Systems that don’t align with how money actually flows don’t get sustained, period. If DOH central office funds an HIE but the benefits accrue to LGUs, it becomes an unfunded mandate. If PhilHealth requires connectivity but doesn’t recognize it in payment mechanisms, facilities won’t prioritize it. This foundation establishes the “how to sustain it” part of the argument. Let me examine how money actually flows in our health system.</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Here’s the evidence for the second foundation. The Universal Health Care Act creates two distinct financing streams. Population-based services like health promotion and surveillance are DOH-funded through tax revenues. The law states that DOH shall endeavor to contract provincial and city-wide health systems for these services. Individual-based services like consultations and procedures are PhilHealth-funded through premiums and contracted to Health Care Provider Networks, which P/CWHS can constitute as public HCPNs. These are different payers, different recipients, different accountability mechanisms. But notice where both streams are designed to converge: at the Special Health Fund at the provincial and city-wide health system level. Both streams are intended to flow into and be managed through the SHF. The implication for HIE financing is clear: the provincial and city-wide health system is positioned as the natural funding and accountability point because that’s where both revenue streams are designed to converge.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financing reality creates clear requirements for HIE architecture. The HIE must serve both financing flows. For DOH’s population-based services, the HIE enables provincial and city-wide health systems to aggregate and report data upward. For PhilHealth’s individual-based services, the HIE enables facilities to document service delivery for claims validation. When the HIE is funded from the Special Health Fund and directly supports both revenue streams that feed into it, sustainable financing is built-in. The P/CWHS invests from their SHF because they directly benefit through improved service delivery to DOH and enhanced revenue capture from PhilHealth. This is self-sustaining. This is how you finance HIE in reality, not in theory.</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counter-argument here is: “Why can’t DOH or PhilHealth just centrally fund and operate the HIE?” The response: Because that disconnects investment from benefit. When central agencies fund infrastructure that local entities must maintain and use, you create dependency and fragility. What happens when central funding is reduced or redirected? The local systems that depend on it fail. More fundamentally, provincial and city-wide health systems won’t maintain or enhance systems they don’t control and don’t pay for. But when they invest from their Special Health Fund because the HIE directly supports both their DOH obligations and their PhilHealth revenue, they become owners, not users. They maintain it, enhance it, and sustain it because it’s theirs and it serves their needs. That’s the difference between fragile dependency and robust sustainability.</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 me connect Foundation 2 to this position. If both DOH and PhilHealth financing are designed to converge at the Special Health Fund—and the UHC Act explicitly structures it this way—and if sustainable systems require investment to align with benefit—which basic economics confirms—then HIE should be funded and operated at the provincial and city-wide health system level through the Special Health Fund. Not centrally funded by DOH or PhilHealth with local entities dependent on central resources. This position for P/CWHS-level HIE isn’t just about where the clinical value is—it’s about where the sustainable financing is designed to be. And that’s at the P/CWHS level where both revenue streams are intended to converge.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third foundation of this argument establishes that HIE governance authority should reside where health system accountability is designed to exist under law. This is about decision-making power. When governance and accountability are aligned, decisions get made and problems get solved. When they’re misaligned, everyone points fingers and no one has clear authority to act. Data sharing is fundamentally about trust, and trust requires accountability. You can’t have governance authority without accountability, and you can’t have accountability without consequences. This foundation establishes the “who decides” part of the argument. Let me examine where the UHC Act positions health system accountability.</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Here’s the evidence for the third foundation. The Universal Health Care Act establishes Provincial and City Health Boards as the intended stewards of integrated health systems. The law states that P/CHBs shall oversee and coordinate the integration of health services, manage the Special Health Fund, and exercise administrative and technical supervision over health facilities and health human resources within their jurisdictions. Now, transparency is important here—the law uses “shall endeavor to integrate,” which means full integration isn’t yet mandatory. But the law is positioning P/CHBs as the governance bodies where accountability will reside once integration occurs. When health outcomes are poor, when quality standards aren’t met, when resources are misallocated, the UHC Act is designed to hold Provincial and City Health Boards accountable, not DOH central office or individual facility chiefs. The implication is clear: accountability is being positioned at the Provincial and City Health Board level. That’s the direction the law is heading.</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Transparency is essential about where we are in implementation. Currently, the UHC Act uses the language “shall endeavor to integrate,” which means P/CWHS integration is not yet mandatory—it’s aspirational and voluntary. The law provides for national government technical and financial support to LGUs that commit to province-wide integration. The path to making it mandatory is clear: an independent study must evaluate the benefits, the Secretary of Health must give a positive recommendation, and then the President issues an Executive Order to make all local health systems integrate as prescribed by the law. So we’re in a transition period. But here’s the key point: the law establishes the framework and the direction. It positions P/CHBs as the governance bodies for integrated health systems. The argument is that we should build HIE architecture that aligns with where the law is heading, not where we were before the UHC Act.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Given this accountability structure that the UHC Act is establishing, there are clear implications for HIE governance. Provincial and City Health Boards should be positioned as the HIE governance bodies for their jurisdictions. They should decide what data is shared and with whom, who can access what information, which use cases get priority, and how privacy and security are protected. Why? Because as integration progresses, they will be accountable for the outcomes. If there’s a privacy breach, the P/CHB will be accountable. If critical clinical information isn’t available when needed, the P/CHB will be accountable. If the HIE serves national reporting at the expense of local clinical care, the P/CHB will be accountable for the health outcomes that suffer. You cannot separate governance authority from accountability. The entity that will face the consequences should have the decision-making power. The argument is to build HIE governance now that aligns with the accountability framework the UHC Act is establishing.</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counter-argument here is: “But we need national standards and interoperability—doesn’t that require central governance?” The response distinguishes between standards and governance. Yes, we absolutely need national standards for data exchange, terminology, security, and interoperability. But standards aren’t governance. Setting the rules for how systems communicate is different from deciding what data gets shared and who can access it. A federal model gives us both: national standards that enable interoperability, with local governance that places decision-making authority where accountability is being positioned. This is how successful federal health information exchanges work globally. National standards for the “how” of data exchange. Local governance for the “what” and “who” of data access. This position embraces both.</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 me connect Foundation 3 to this position. If the UHC Act explicitly positions health system accountability at the Provincial and City Health Board level—and it does—and if governance authority should reside where accountability exists—which basic organizational theory demands—then Provincial and City Health Boards should govern HIE in their jurisdictions. Not central DOH governance that makes decisions without facing local accountability. Not distributed facility-level governance that fragments decision-making below the level where accountability is being positioned. This position for P/CWHS-level HIE with P/CHB governance isn’t arbitrary—it’s the structure that aligns governance with the legal accountability framework the UHC Act is establishing. We should build HIE architecture now that will work when full integration is achieved, not architecture that contradicts where the law is heading.</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Now let me bring these three foundations together to complete the argument. Foundation 1 establishes that clinical value is predominantly local, therefore implementation must start at the provincial and city-wide health system level. Foundation 2 establishes that both DOH and PhilHealth revenue streams are designed to converge at the Special Health Fund, therefore HIE should be funded through the P/CWHS SHF for sustainability. Foundation 3 establishes that legal accountability is being positioned at the Provincial and City Health Board level, therefore governance should align with that accountability structure. When we take these three foundations together—value, financing, and governance—the coherent architecture is provincial and city-wide health system-level HIE with national federation. This architecture aligns with where the UHC Act is taking our health system, not where we were before.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 me test alternative approaches against these foundations. A centralized national repository approach fails all three foundations. It attempts to deliver national value before establishing local value, violating Foundation 1. It typically proposes central DOH or PhilHealth funding, disconnecting investment from local benefit and violating Foundation 2. And it places governance at the national level where health system accountability isn’t being positioned under the UHC Act, violating Foundation 3. A facility-level distributed approach also fails. It fragments clinical value across individual facilities rather than delivering it at the health system level where care coordination happens, weakening Foundation 1. It has no connection to Special Health Fund financing mechanisms, failing Foundation 2. And it places governance below the level where the UHC Act is positioning accountability, failing Foundation 3. The P/CWHS-level approach is the only one that satisfies all three foundations.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sequence of these foundations matters. These aren’t three independent arguments—they build on each other. Foundation 1 on value establishes the “why” we need HIE and “where to start” implementation. Foundation 2 on financing establishes “how to sustain” the HIE over time. Foundation 3 on governance establishes “who decides” about data sharing and access. Each foundation assumes the previous one. You can’t address financing without first establishing value—there’s no reason to invest in something without value. You can’t address governance without first establishing sustainable financing—there’s nothing to govern if the system isn’t sustained. Breaking this sequence undermines the entire argument. This position for P/CWHS-level HIE with national federation respects the complete sequence: start where value is delivered, fund it through the mechanism that captures both revenue streams, and govern it at the level where accountability is being positioned.</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 me acknowledge the reality of where we are in implementation. We’re in a transition period under the UHC Act. Integration isn’t mandatory yet, but it’s the direction we’re heading. Some provinces and cities are already integrating voluntarily. The national government is providing technical and financial support to these early adopters. We’re at a critical decision point for HIE architecture. Do we build for where we’ve been—a fragmented system of more than a thousand independent LGUs? Or do we build for where we’re going—integrated provincial and city-wide health systems with clear governance and accountability? The argument is that we must build for where we’re going. If we build HIE architecture for the old fragmented system, that architecture will be obsolete when integration is complete. We’ll have to throw it away and start over. But if we build P/CWHS-level HIE architecture now, it will work during the transition and be perfectly positioned when full integration is achieved.</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 me address what could be called the “perfect solution” fallacy. Critics might say this position isn’t perfect. That’s correct—it isn’t perfect. Some provinces and cities have stronger capacity than others. Some national use cases like pandemic surveillance need rapid data aggregation. Technical interoperability is genuinely complex. But here’s the response: This position isn’t about perfection—it’s about alignment with where the UHC Act is taking us. Provincial and city-wide health system capacity varies? Address that through implementation support and capacity building, not by changing the architecture to avoid working with them. That’s exactly what the UHC Act calls for—national government support to build P/CWHS capacity. National needs are real? Address those through federation that aggregates local systems, not through centralization that bypasses them. Technical challenges exist? Address those through national standards and technical assistance, not by relocating governance away from where accountability is being positioned. The question isn’t “Is this perfect?” The question is “Does this align with where the UHC Act is taking our health system?” And the answer is yes.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 me be clear about the stakes. Getting the HIE architecture wrong means building a system that frontline workers resist because it doesn’t serve them, operating on unsustainable financing that creates dependency on fickle central budgets, suffering governance paralysis when critical decisions about data sharing and privacy need to be made, and worst of all—building architecture that will be obsolete when UHC integration is complete. We’ve seen this pattern globally—technically sophisticated systems that fail because the architecture was wrong from the start. Getting the architecture right means building a system whose adoption is driven by clear local value, that’s self-sustaining through aligned financing mechanisms, that has clear decision-making authority matched to where accountability is positioned, and critically—that works during the transition period and scales seamlessly when integration is complete. The difference between failure and success isn’t primarily technical—it’s architectural. It’s whether we build for where the UHC Act is taking us or try to preserve structures that contradict that direction.</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 me summarize this complete position. What’s being advocated is provincial and city-wide health system-level Health Information Exchange with national federation through standards and aggregation mechanisms. Why? Because these three foundations demonstrate that clinical value, sustainable financing, and legal accountability all converge or are being positioned to converge at the P/CWHS level under the UHC Act. How should we implement this? Funded through the Special Health Fund that is designed to capture both DOH and PhilHealth revenue streams, governed by Provincial and City Health Boards that are being positioned to hold accountability, and federated nationally through standards that enable interoperability and aggregation. The evidence supporting this position comes from three foundations that have been systematically built: value is local before it’s national, data flows must follow money flows, and governance should follow where accountability is being positioned. Each foundation independently supports this position. Together, they demonstrate that this is the only architecture that aligns with where the UHC Act is taking our health system.</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Here’s the call to action. When you’re evaluating any National Health Data Repository or Health Information Exchange proposal—whether from DOH, PhilHealth, development partners, or vendors—demand answers to three foundation questions. First, does it deliver immediate clinical value at the provincial and city-wide health system level first, before attempting national aggregation? Second, does it align with Special Health Fund financing and serve both DOH population-based and PhilHealth individual-based contracting needs? Third, does it place governance authority where the UHC Act is positioning accountability—with Provincial and City Health Boards? If any answer is “no” or “unclear,” reject the proposal as misaligned with the direction of the UHC Act. Don’t be swayed by technical sophistication, generous funding, or political pressure. A proposal that fails any of these three foundation tests will either fail in implementation or become obsolete when UHC integration is complete.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 me close with this final statement: In health information exchange, architecture determines destiny. Technical details matter—we need good technology, strong security, sophisticated standards. But architecture matters more. We can have the best technology money can buy, the strongest security protocols, the most sophisticated interoperability standards. But if the underlying architecture doesn’t align with where the UHC Act is taking our health system—where clinical value is delivered, how the health system is being financed, and where accountability is being positioned—the system will either fail immediately or become obsolete when UHC integration is complete. This position for provincial and city-wide health system-level HIE with national federation provides the only architecturally sound foundation because it aligns with all three requirements and positions us for the future the UHC Act envisions. That’s not opinion. That’s the logical conclusion of the three foundations that have been systematically established today. Thank you.</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A2B3D-961E-3348-D02C-59A9B166263C}"/>
              </a:ext>
            </a:extLst>
          </p:cNvPr>
          <p:cNvSpPr>
            <a:spLocks noGrp="1"/>
          </p:cNvSpPr>
          <p:nvPr>
            <p:ph type="ctrTitle"/>
          </p:nvPr>
        </p:nvSpPr>
        <p:spPr>
          <a:xfrm>
            <a:off x="1524000" y="1122363"/>
            <a:ext cx="9144000" cy="2387600"/>
          </a:xfrm>
        </p:spPr>
        <p:txBody>
          <a:bodyPr anchor="b"/>
          <a:lstStyle>
            <a:lvl1pPr algn="l">
              <a:defRPr sz="6000"/>
            </a:lvl1pPr>
          </a:lstStyle>
          <a:p>
            <a:r>
              <a:rPr lang="en-US"/>
              <a:t>Click to edit Master title style</a:t>
            </a:r>
          </a:p>
        </p:txBody>
      </p:sp>
      <p:sp>
        <p:nvSpPr>
          <p:cNvPr id="3" name="Subtitle 2">
            <a:extLst>
              <a:ext uri="{FF2B5EF4-FFF2-40B4-BE49-F238E27FC236}">
                <a16:creationId xmlns:a16="http://schemas.microsoft.com/office/drawing/2014/main" id="{73D99BDC-8E29-7ED1-39A9-0D8EBBF5E3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B4D7AE-4666-FF55-A226-816C4AA55173}"/>
              </a:ext>
            </a:extLst>
          </p:cNvPr>
          <p:cNvSpPr>
            <a:spLocks noGrp="1"/>
          </p:cNvSpPr>
          <p:nvPr>
            <p:ph type="dt" sz="half" idx="10"/>
          </p:nvPr>
        </p:nvSpPr>
        <p:spPr/>
        <p:txBody>
          <a:bodyPr/>
          <a:lstStyle/>
          <a:p>
            <a:fld id="{4E5EF31F-957A-B04D-9580-84209CC1456D}" type="datetimeFigureOut">
              <a:rPr lang="en-US" smtClean="0"/>
              <a:t>10/11/25</a:t>
            </a:fld>
            <a:endParaRPr lang="en-US"/>
          </a:p>
        </p:txBody>
      </p:sp>
      <p:sp>
        <p:nvSpPr>
          <p:cNvPr id="5" name="Footer Placeholder 4">
            <a:extLst>
              <a:ext uri="{FF2B5EF4-FFF2-40B4-BE49-F238E27FC236}">
                <a16:creationId xmlns:a16="http://schemas.microsoft.com/office/drawing/2014/main" id="{737BBCD6-D422-2D14-311A-E6441E4239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470410-7C0C-EBC2-14A6-C66DCD8DAD8E}"/>
              </a:ext>
            </a:extLst>
          </p:cNvPr>
          <p:cNvSpPr>
            <a:spLocks noGrp="1"/>
          </p:cNvSpPr>
          <p:nvPr>
            <p:ph type="sldNum" sz="quarter" idx="12"/>
          </p:nvPr>
        </p:nvSpPr>
        <p:spPr/>
        <p:txBody>
          <a:bodyPr/>
          <a:lstStyle/>
          <a:p>
            <a:fld id="{04C2B311-C7F5-4849-AB4E-7977E73CD623}" type="slidenum">
              <a:rPr lang="en-US" smtClean="0"/>
              <a:t>‹#›</a:t>
            </a:fld>
            <a:endParaRPr lang="en-US"/>
          </a:p>
        </p:txBody>
      </p:sp>
    </p:spTree>
    <p:extLst>
      <p:ext uri="{BB962C8B-B14F-4D97-AF65-F5344CB8AC3E}">
        <p14:creationId xmlns:p14="http://schemas.microsoft.com/office/powerpoint/2010/main" val="342371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F949359-284B-DBC8-9FA6-8C86673AC173}"/>
              </a:ext>
            </a:extLst>
          </p:cNvPr>
          <p:cNvSpPr>
            <a:spLocks noGrp="1"/>
          </p:cNvSpPr>
          <p:nvPr>
            <p:ph type="dt" sz="half" idx="10"/>
          </p:nvPr>
        </p:nvSpPr>
        <p:spPr/>
        <p:txBody>
          <a:bodyPr/>
          <a:lstStyle/>
          <a:p>
            <a:fld id="{4E5EF31F-957A-B04D-9580-84209CC1456D}" type="datetimeFigureOut">
              <a:rPr lang="en-US" smtClean="0"/>
              <a:t>10/11/25</a:t>
            </a:fld>
            <a:endParaRPr lang="en-US"/>
          </a:p>
        </p:txBody>
      </p:sp>
      <p:sp>
        <p:nvSpPr>
          <p:cNvPr id="5" name="Footer Placeholder 4">
            <a:extLst>
              <a:ext uri="{FF2B5EF4-FFF2-40B4-BE49-F238E27FC236}">
                <a16:creationId xmlns:a16="http://schemas.microsoft.com/office/drawing/2014/main" id="{122D8565-4630-2771-DD79-3F035B625C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AB9C7A-9EAA-714D-717F-857F5E6956ED}"/>
              </a:ext>
            </a:extLst>
          </p:cNvPr>
          <p:cNvSpPr>
            <a:spLocks noGrp="1"/>
          </p:cNvSpPr>
          <p:nvPr>
            <p:ph type="sldNum" sz="quarter" idx="12"/>
          </p:nvPr>
        </p:nvSpPr>
        <p:spPr/>
        <p:txBody>
          <a:bodyPr/>
          <a:lstStyle/>
          <a:p>
            <a:fld id="{04C2B311-C7F5-4849-AB4E-7977E73CD623}" type="slidenum">
              <a:rPr lang="en-US" smtClean="0"/>
              <a:t>‹#›</a:t>
            </a:fld>
            <a:endParaRPr lang="en-US"/>
          </a:p>
        </p:txBody>
      </p:sp>
    </p:spTree>
    <p:extLst>
      <p:ext uri="{BB962C8B-B14F-4D97-AF65-F5344CB8AC3E}">
        <p14:creationId xmlns:p14="http://schemas.microsoft.com/office/powerpoint/2010/main" val="1069353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F5A01-7F3D-5516-6CFE-30E58068087C}"/>
              </a:ext>
            </a:extLst>
          </p:cNvPr>
          <p:cNvSpPr>
            <a:spLocks noGrp="1"/>
          </p:cNvSpPr>
          <p:nvPr>
            <p:ph type="title"/>
          </p:nvPr>
        </p:nvSpPr>
        <p:spPr>
          <a:xfrm>
            <a:off x="831850" y="1709738"/>
            <a:ext cx="10515600" cy="2852737"/>
          </a:xfrm>
        </p:spPr>
        <p:txBody>
          <a:bodyPr anchor="b"/>
          <a:lstStyle>
            <a:lvl1pPr algn="l">
              <a:defRPr sz="6000"/>
            </a:lvl1pPr>
          </a:lstStyle>
          <a:p>
            <a:r>
              <a:rPr lang="en-US"/>
              <a:t>Click to edit Master title style</a:t>
            </a:r>
          </a:p>
        </p:txBody>
      </p:sp>
      <p:sp>
        <p:nvSpPr>
          <p:cNvPr id="3" name="Text Placeholder 2">
            <a:extLst>
              <a:ext uri="{FF2B5EF4-FFF2-40B4-BE49-F238E27FC236}">
                <a16:creationId xmlns:a16="http://schemas.microsoft.com/office/drawing/2014/main" id="{D85EAC26-C460-4F69-909E-3679F5FAD5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E6370A-985A-AAF9-DD4E-32D8CA66A55D}"/>
              </a:ext>
            </a:extLst>
          </p:cNvPr>
          <p:cNvSpPr>
            <a:spLocks noGrp="1"/>
          </p:cNvSpPr>
          <p:nvPr>
            <p:ph type="dt" sz="half" idx="10"/>
          </p:nvPr>
        </p:nvSpPr>
        <p:spPr/>
        <p:txBody>
          <a:bodyPr/>
          <a:lstStyle/>
          <a:p>
            <a:fld id="{4E5EF31F-957A-B04D-9580-84209CC1456D}" type="datetimeFigureOut">
              <a:rPr lang="en-US" smtClean="0"/>
              <a:t>10/11/25</a:t>
            </a:fld>
            <a:endParaRPr lang="en-US"/>
          </a:p>
        </p:txBody>
      </p:sp>
      <p:sp>
        <p:nvSpPr>
          <p:cNvPr id="5" name="Footer Placeholder 4">
            <a:extLst>
              <a:ext uri="{FF2B5EF4-FFF2-40B4-BE49-F238E27FC236}">
                <a16:creationId xmlns:a16="http://schemas.microsoft.com/office/drawing/2014/main" id="{B43F642E-F5E1-04D4-98F5-C6C0049E95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A14DCF-CF65-CE4C-D5FE-F6A4B38C69AF}"/>
              </a:ext>
            </a:extLst>
          </p:cNvPr>
          <p:cNvSpPr>
            <a:spLocks noGrp="1"/>
          </p:cNvSpPr>
          <p:nvPr>
            <p:ph type="sldNum" sz="quarter" idx="12"/>
          </p:nvPr>
        </p:nvSpPr>
        <p:spPr/>
        <p:txBody>
          <a:bodyPr/>
          <a:lstStyle/>
          <a:p>
            <a:fld id="{04C2B311-C7F5-4849-AB4E-7977E73CD623}" type="slidenum">
              <a:rPr lang="en-US" smtClean="0"/>
              <a:t>‹#›</a:t>
            </a:fld>
            <a:endParaRPr lang="en-US"/>
          </a:p>
        </p:txBody>
      </p:sp>
    </p:spTree>
    <p:extLst>
      <p:ext uri="{BB962C8B-B14F-4D97-AF65-F5344CB8AC3E}">
        <p14:creationId xmlns:p14="http://schemas.microsoft.com/office/powerpoint/2010/main" val="249830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3D749-A647-B8DD-89C1-78CD560694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566AF0-9D5E-1DB8-59A0-A468EADEF4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A9FDF1-481C-DABE-BAC6-E47ADE3B96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FBDABEE-5690-22CB-3AFE-3A7103038CF6}"/>
              </a:ext>
            </a:extLst>
          </p:cNvPr>
          <p:cNvSpPr>
            <a:spLocks noGrp="1"/>
          </p:cNvSpPr>
          <p:nvPr>
            <p:ph type="dt" sz="half" idx="10"/>
          </p:nvPr>
        </p:nvSpPr>
        <p:spPr/>
        <p:txBody>
          <a:bodyPr/>
          <a:lstStyle/>
          <a:p>
            <a:fld id="{4E5EF31F-957A-B04D-9580-84209CC1456D}" type="datetimeFigureOut">
              <a:rPr lang="en-US" smtClean="0"/>
              <a:t>10/11/25</a:t>
            </a:fld>
            <a:endParaRPr lang="en-US"/>
          </a:p>
        </p:txBody>
      </p:sp>
      <p:sp>
        <p:nvSpPr>
          <p:cNvPr id="6" name="Footer Placeholder 5">
            <a:extLst>
              <a:ext uri="{FF2B5EF4-FFF2-40B4-BE49-F238E27FC236}">
                <a16:creationId xmlns:a16="http://schemas.microsoft.com/office/drawing/2014/main" id="{61167ECA-E4BC-C20F-3486-429B83C155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3E7EDF-F2FD-0BA2-AF82-C7F513D751A4}"/>
              </a:ext>
            </a:extLst>
          </p:cNvPr>
          <p:cNvSpPr>
            <a:spLocks noGrp="1"/>
          </p:cNvSpPr>
          <p:nvPr>
            <p:ph type="sldNum" sz="quarter" idx="12"/>
          </p:nvPr>
        </p:nvSpPr>
        <p:spPr/>
        <p:txBody>
          <a:bodyPr/>
          <a:lstStyle/>
          <a:p>
            <a:fld id="{04C2B311-C7F5-4849-AB4E-7977E73CD623}" type="slidenum">
              <a:rPr lang="en-US" smtClean="0"/>
              <a:t>‹#›</a:t>
            </a:fld>
            <a:endParaRPr lang="en-US"/>
          </a:p>
        </p:txBody>
      </p:sp>
    </p:spTree>
    <p:extLst>
      <p:ext uri="{BB962C8B-B14F-4D97-AF65-F5344CB8AC3E}">
        <p14:creationId xmlns:p14="http://schemas.microsoft.com/office/powerpoint/2010/main" val="3548999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34322-04D5-79D8-1244-07BE01DA3E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B5B968-945A-DAE4-63DF-BAEED6C0DA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B06463-6AEC-741B-A9B3-724ED04FBB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6C9976-F27C-4E2E-3E5F-B43ABDFB6A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6FE52D-AFFE-C3DE-9B9B-FE77AC9CEC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F448F6-D93C-C19C-B911-7BA9C2253C85}"/>
              </a:ext>
            </a:extLst>
          </p:cNvPr>
          <p:cNvSpPr>
            <a:spLocks noGrp="1"/>
          </p:cNvSpPr>
          <p:nvPr>
            <p:ph type="dt" sz="half" idx="10"/>
          </p:nvPr>
        </p:nvSpPr>
        <p:spPr/>
        <p:txBody>
          <a:bodyPr/>
          <a:lstStyle/>
          <a:p>
            <a:fld id="{4E5EF31F-957A-B04D-9580-84209CC1456D}" type="datetimeFigureOut">
              <a:rPr lang="en-US" smtClean="0"/>
              <a:t>10/11/25</a:t>
            </a:fld>
            <a:endParaRPr lang="en-US"/>
          </a:p>
        </p:txBody>
      </p:sp>
      <p:sp>
        <p:nvSpPr>
          <p:cNvPr id="8" name="Footer Placeholder 7">
            <a:extLst>
              <a:ext uri="{FF2B5EF4-FFF2-40B4-BE49-F238E27FC236}">
                <a16:creationId xmlns:a16="http://schemas.microsoft.com/office/drawing/2014/main" id="{D620A52C-9D2A-60CA-616D-EC18F85111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978D906-6C8E-D1A7-3EB7-957B4ECF8454}"/>
              </a:ext>
            </a:extLst>
          </p:cNvPr>
          <p:cNvSpPr>
            <a:spLocks noGrp="1"/>
          </p:cNvSpPr>
          <p:nvPr>
            <p:ph type="sldNum" sz="quarter" idx="12"/>
          </p:nvPr>
        </p:nvSpPr>
        <p:spPr/>
        <p:txBody>
          <a:bodyPr/>
          <a:lstStyle/>
          <a:p>
            <a:fld id="{04C2B311-C7F5-4849-AB4E-7977E73CD623}" type="slidenum">
              <a:rPr lang="en-US" smtClean="0"/>
              <a:t>‹#›</a:t>
            </a:fld>
            <a:endParaRPr lang="en-US"/>
          </a:p>
        </p:txBody>
      </p:sp>
    </p:spTree>
    <p:extLst>
      <p:ext uri="{BB962C8B-B14F-4D97-AF65-F5344CB8AC3E}">
        <p14:creationId xmlns:p14="http://schemas.microsoft.com/office/powerpoint/2010/main" val="3100283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E113F-1609-51D0-13E4-9E3FE00C2A5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39A955-5E11-39C3-689F-4EA61F1E9BA2}"/>
              </a:ext>
            </a:extLst>
          </p:cNvPr>
          <p:cNvSpPr>
            <a:spLocks noGrp="1"/>
          </p:cNvSpPr>
          <p:nvPr>
            <p:ph type="dt" sz="half" idx="10"/>
          </p:nvPr>
        </p:nvSpPr>
        <p:spPr/>
        <p:txBody>
          <a:bodyPr/>
          <a:lstStyle/>
          <a:p>
            <a:fld id="{4E5EF31F-957A-B04D-9580-84209CC1456D}" type="datetimeFigureOut">
              <a:rPr lang="en-US" smtClean="0"/>
              <a:t>10/11/25</a:t>
            </a:fld>
            <a:endParaRPr lang="en-US"/>
          </a:p>
        </p:txBody>
      </p:sp>
      <p:sp>
        <p:nvSpPr>
          <p:cNvPr id="4" name="Footer Placeholder 3">
            <a:extLst>
              <a:ext uri="{FF2B5EF4-FFF2-40B4-BE49-F238E27FC236}">
                <a16:creationId xmlns:a16="http://schemas.microsoft.com/office/drawing/2014/main" id="{68848571-8943-8A55-9210-87A69963DE7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A84298E-9BFB-2022-E18B-D575906B636E}"/>
              </a:ext>
            </a:extLst>
          </p:cNvPr>
          <p:cNvSpPr>
            <a:spLocks noGrp="1"/>
          </p:cNvSpPr>
          <p:nvPr>
            <p:ph type="sldNum" sz="quarter" idx="12"/>
          </p:nvPr>
        </p:nvSpPr>
        <p:spPr/>
        <p:txBody>
          <a:bodyPr/>
          <a:lstStyle/>
          <a:p>
            <a:fld id="{04C2B311-C7F5-4849-AB4E-7977E73CD623}" type="slidenum">
              <a:rPr lang="en-US" smtClean="0"/>
              <a:t>‹#›</a:t>
            </a:fld>
            <a:endParaRPr lang="en-US"/>
          </a:p>
        </p:txBody>
      </p:sp>
    </p:spTree>
    <p:extLst>
      <p:ext uri="{BB962C8B-B14F-4D97-AF65-F5344CB8AC3E}">
        <p14:creationId xmlns:p14="http://schemas.microsoft.com/office/powerpoint/2010/main" val="1211034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A5C0CD-ACC3-1711-A50C-BCAC2ED129AF}"/>
              </a:ext>
            </a:extLst>
          </p:cNvPr>
          <p:cNvSpPr>
            <a:spLocks noGrp="1"/>
          </p:cNvSpPr>
          <p:nvPr>
            <p:ph type="dt" sz="half" idx="10"/>
          </p:nvPr>
        </p:nvSpPr>
        <p:spPr/>
        <p:txBody>
          <a:bodyPr/>
          <a:lstStyle/>
          <a:p>
            <a:fld id="{4E5EF31F-957A-B04D-9580-84209CC1456D}" type="datetimeFigureOut">
              <a:rPr lang="en-US" smtClean="0"/>
              <a:t>10/11/25</a:t>
            </a:fld>
            <a:endParaRPr lang="en-US"/>
          </a:p>
        </p:txBody>
      </p:sp>
      <p:sp>
        <p:nvSpPr>
          <p:cNvPr id="3" name="Footer Placeholder 2">
            <a:extLst>
              <a:ext uri="{FF2B5EF4-FFF2-40B4-BE49-F238E27FC236}">
                <a16:creationId xmlns:a16="http://schemas.microsoft.com/office/drawing/2014/main" id="{BFD706FC-F993-54B4-529A-CCC1F3C74E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59F4AAF-D2DD-DF38-574E-1BA0278B79F8}"/>
              </a:ext>
            </a:extLst>
          </p:cNvPr>
          <p:cNvSpPr>
            <a:spLocks noGrp="1"/>
          </p:cNvSpPr>
          <p:nvPr>
            <p:ph type="sldNum" sz="quarter" idx="12"/>
          </p:nvPr>
        </p:nvSpPr>
        <p:spPr/>
        <p:txBody>
          <a:bodyPr/>
          <a:lstStyle/>
          <a:p>
            <a:fld id="{04C2B311-C7F5-4849-AB4E-7977E73CD623}" type="slidenum">
              <a:rPr lang="en-US" smtClean="0"/>
              <a:t>‹#›</a:t>
            </a:fld>
            <a:endParaRPr lang="en-US"/>
          </a:p>
        </p:txBody>
      </p:sp>
    </p:spTree>
    <p:extLst>
      <p:ext uri="{BB962C8B-B14F-4D97-AF65-F5344CB8AC3E}">
        <p14:creationId xmlns:p14="http://schemas.microsoft.com/office/powerpoint/2010/main" val="4044994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E9BA3-CF47-A7B0-6A55-9F4B54ECE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447542-0EBE-1B7C-B853-8A38D9C35F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74CF41-C107-4671-E25B-AE495255BF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8C1E82-CE3F-75B1-D79C-39620A316F82}"/>
              </a:ext>
            </a:extLst>
          </p:cNvPr>
          <p:cNvSpPr>
            <a:spLocks noGrp="1"/>
          </p:cNvSpPr>
          <p:nvPr>
            <p:ph type="dt" sz="half" idx="10"/>
          </p:nvPr>
        </p:nvSpPr>
        <p:spPr/>
        <p:txBody>
          <a:bodyPr/>
          <a:lstStyle/>
          <a:p>
            <a:fld id="{4E5EF31F-957A-B04D-9580-84209CC1456D}" type="datetimeFigureOut">
              <a:rPr lang="en-US" smtClean="0"/>
              <a:t>10/11/25</a:t>
            </a:fld>
            <a:endParaRPr lang="en-US"/>
          </a:p>
        </p:txBody>
      </p:sp>
      <p:sp>
        <p:nvSpPr>
          <p:cNvPr id="6" name="Footer Placeholder 5">
            <a:extLst>
              <a:ext uri="{FF2B5EF4-FFF2-40B4-BE49-F238E27FC236}">
                <a16:creationId xmlns:a16="http://schemas.microsoft.com/office/drawing/2014/main" id="{7A631A58-4242-A914-6938-369D3E1133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17B194-E0CE-C9FC-E488-9EC48892D56F}"/>
              </a:ext>
            </a:extLst>
          </p:cNvPr>
          <p:cNvSpPr>
            <a:spLocks noGrp="1"/>
          </p:cNvSpPr>
          <p:nvPr>
            <p:ph type="sldNum" sz="quarter" idx="12"/>
          </p:nvPr>
        </p:nvSpPr>
        <p:spPr/>
        <p:txBody>
          <a:bodyPr/>
          <a:lstStyle/>
          <a:p>
            <a:fld id="{04C2B311-C7F5-4849-AB4E-7977E73CD623}" type="slidenum">
              <a:rPr lang="en-US" smtClean="0"/>
              <a:t>‹#›</a:t>
            </a:fld>
            <a:endParaRPr lang="en-US"/>
          </a:p>
        </p:txBody>
      </p:sp>
    </p:spTree>
    <p:extLst>
      <p:ext uri="{BB962C8B-B14F-4D97-AF65-F5344CB8AC3E}">
        <p14:creationId xmlns:p14="http://schemas.microsoft.com/office/powerpoint/2010/main" val="2611058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C6F68-D981-D5AD-FA94-03C57457EB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5E039F2-926F-E931-7447-E4F95549A3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271F59C-EBC0-2316-3913-23F38C2DCB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545ABD-E260-7F86-560C-5DD8CA5D65BD}"/>
              </a:ext>
            </a:extLst>
          </p:cNvPr>
          <p:cNvSpPr>
            <a:spLocks noGrp="1"/>
          </p:cNvSpPr>
          <p:nvPr>
            <p:ph type="dt" sz="half" idx="10"/>
          </p:nvPr>
        </p:nvSpPr>
        <p:spPr/>
        <p:txBody>
          <a:bodyPr/>
          <a:lstStyle/>
          <a:p>
            <a:fld id="{4E5EF31F-957A-B04D-9580-84209CC1456D}" type="datetimeFigureOut">
              <a:rPr lang="en-US" smtClean="0"/>
              <a:t>10/11/25</a:t>
            </a:fld>
            <a:endParaRPr lang="en-US"/>
          </a:p>
        </p:txBody>
      </p:sp>
      <p:sp>
        <p:nvSpPr>
          <p:cNvPr id="6" name="Footer Placeholder 5">
            <a:extLst>
              <a:ext uri="{FF2B5EF4-FFF2-40B4-BE49-F238E27FC236}">
                <a16:creationId xmlns:a16="http://schemas.microsoft.com/office/drawing/2014/main" id="{B6E5B66A-F4F0-F63F-DFB6-DA7AE87E40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ADAE4C-C0CD-59CF-91EE-6B8D04DE24EC}"/>
              </a:ext>
            </a:extLst>
          </p:cNvPr>
          <p:cNvSpPr>
            <a:spLocks noGrp="1"/>
          </p:cNvSpPr>
          <p:nvPr>
            <p:ph type="sldNum" sz="quarter" idx="12"/>
          </p:nvPr>
        </p:nvSpPr>
        <p:spPr/>
        <p:txBody>
          <a:bodyPr/>
          <a:lstStyle/>
          <a:p>
            <a:fld id="{04C2B311-C7F5-4849-AB4E-7977E73CD623}" type="slidenum">
              <a:rPr lang="en-US" smtClean="0"/>
              <a:t>‹#›</a:t>
            </a:fld>
            <a:endParaRPr lang="en-US"/>
          </a:p>
        </p:txBody>
      </p:sp>
    </p:spTree>
    <p:extLst>
      <p:ext uri="{BB962C8B-B14F-4D97-AF65-F5344CB8AC3E}">
        <p14:creationId xmlns:p14="http://schemas.microsoft.com/office/powerpoint/2010/main" val="1331333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96B65-C8F7-D6DC-95E6-29EF38C0BA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40DB8B-B8A5-3D75-1F7C-FA84F78A68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3234D7-3A0C-B207-0205-0E7BC63AEC56}"/>
              </a:ext>
            </a:extLst>
          </p:cNvPr>
          <p:cNvSpPr>
            <a:spLocks noGrp="1"/>
          </p:cNvSpPr>
          <p:nvPr>
            <p:ph type="dt" sz="half" idx="10"/>
          </p:nvPr>
        </p:nvSpPr>
        <p:spPr/>
        <p:txBody>
          <a:bodyPr/>
          <a:lstStyle/>
          <a:p>
            <a:fld id="{4E5EF31F-957A-B04D-9580-84209CC1456D}" type="datetimeFigureOut">
              <a:rPr lang="en-US" smtClean="0"/>
              <a:t>10/11/25</a:t>
            </a:fld>
            <a:endParaRPr lang="en-US"/>
          </a:p>
        </p:txBody>
      </p:sp>
      <p:sp>
        <p:nvSpPr>
          <p:cNvPr id="5" name="Footer Placeholder 4">
            <a:extLst>
              <a:ext uri="{FF2B5EF4-FFF2-40B4-BE49-F238E27FC236}">
                <a16:creationId xmlns:a16="http://schemas.microsoft.com/office/drawing/2014/main" id="{8815198E-8BBC-178F-8C2C-51707FBFAA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A28FA4-3352-8100-677C-3236156C02AB}"/>
              </a:ext>
            </a:extLst>
          </p:cNvPr>
          <p:cNvSpPr>
            <a:spLocks noGrp="1"/>
          </p:cNvSpPr>
          <p:nvPr>
            <p:ph type="sldNum" sz="quarter" idx="12"/>
          </p:nvPr>
        </p:nvSpPr>
        <p:spPr/>
        <p:txBody>
          <a:bodyPr/>
          <a:lstStyle/>
          <a:p>
            <a:fld id="{04C2B311-C7F5-4849-AB4E-7977E73CD623}" type="slidenum">
              <a:rPr lang="en-US" smtClean="0"/>
              <a:t>‹#›</a:t>
            </a:fld>
            <a:endParaRPr lang="en-US"/>
          </a:p>
        </p:txBody>
      </p:sp>
    </p:spTree>
    <p:extLst>
      <p:ext uri="{BB962C8B-B14F-4D97-AF65-F5344CB8AC3E}">
        <p14:creationId xmlns:p14="http://schemas.microsoft.com/office/powerpoint/2010/main" val="1753607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CDA1C8-5DC4-109B-0B7F-0BFDE5588DE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94A8F8E-E575-D163-C071-70EC282B05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F3CFC0-A22D-8E40-F28E-48F8597AD88D}"/>
              </a:ext>
            </a:extLst>
          </p:cNvPr>
          <p:cNvSpPr>
            <a:spLocks noGrp="1"/>
          </p:cNvSpPr>
          <p:nvPr>
            <p:ph type="dt" sz="half" idx="10"/>
          </p:nvPr>
        </p:nvSpPr>
        <p:spPr/>
        <p:txBody>
          <a:bodyPr/>
          <a:lstStyle/>
          <a:p>
            <a:fld id="{4E5EF31F-957A-B04D-9580-84209CC1456D}" type="datetimeFigureOut">
              <a:rPr lang="en-US" smtClean="0"/>
              <a:t>10/11/25</a:t>
            </a:fld>
            <a:endParaRPr lang="en-US"/>
          </a:p>
        </p:txBody>
      </p:sp>
      <p:sp>
        <p:nvSpPr>
          <p:cNvPr id="5" name="Footer Placeholder 4">
            <a:extLst>
              <a:ext uri="{FF2B5EF4-FFF2-40B4-BE49-F238E27FC236}">
                <a16:creationId xmlns:a16="http://schemas.microsoft.com/office/drawing/2014/main" id="{A8691C73-33B2-1611-2E1D-6AC6797A46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143250-B8FF-249F-1BD2-8C47FF7A6F95}"/>
              </a:ext>
            </a:extLst>
          </p:cNvPr>
          <p:cNvSpPr>
            <a:spLocks noGrp="1"/>
          </p:cNvSpPr>
          <p:nvPr>
            <p:ph type="sldNum" sz="quarter" idx="12"/>
          </p:nvPr>
        </p:nvSpPr>
        <p:spPr/>
        <p:txBody>
          <a:bodyPr/>
          <a:lstStyle/>
          <a:p>
            <a:fld id="{04C2B311-C7F5-4849-AB4E-7977E73CD623}" type="slidenum">
              <a:rPr lang="en-US" smtClean="0"/>
              <a:t>‹#›</a:t>
            </a:fld>
            <a:endParaRPr lang="en-US"/>
          </a:p>
        </p:txBody>
      </p:sp>
    </p:spTree>
    <p:extLst>
      <p:ext uri="{BB962C8B-B14F-4D97-AF65-F5344CB8AC3E}">
        <p14:creationId xmlns:p14="http://schemas.microsoft.com/office/powerpoint/2010/main" val="1563906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50000"/>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7EDA09-4280-6ABB-5731-A63713E06C38}"/>
              </a:ext>
            </a:extLst>
          </p:cNvPr>
          <p:cNvSpPr>
            <a:spLocks noGrp="1"/>
          </p:cNvSpPr>
          <p:nvPr>
            <p:ph type="title"/>
          </p:nvPr>
        </p:nvSpPr>
        <p:spPr>
          <a:xfrm>
            <a:off x="0" y="0"/>
            <a:ext cx="12192000" cy="864000"/>
          </a:xfrm>
          <a:prstGeom prst="rect">
            <a:avLst/>
          </a:prstGeom>
          <a:solidFill>
            <a:schemeClr val="tx2">
              <a:lumMod val="90000"/>
              <a:lumOff val="10000"/>
            </a:schemeClr>
          </a:solidFill>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F1C4301-C108-EED1-C4DE-2B707A8057AC}"/>
              </a:ext>
            </a:extLst>
          </p:cNvPr>
          <p:cNvSpPr>
            <a:spLocks noGrp="1"/>
          </p:cNvSpPr>
          <p:nvPr>
            <p:ph type="body" idx="1"/>
          </p:nvPr>
        </p:nvSpPr>
        <p:spPr>
          <a:xfrm>
            <a:off x="838200" y="1316350"/>
            <a:ext cx="10515600" cy="5040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93223EF-3B7F-BEB5-F5FF-778B3EFBC4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5EF31F-957A-B04D-9580-84209CC1456D}" type="datetimeFigureOut">
              <a:rPr lang="en-US" smtClean="0"/>
              <a:t>10/11/25</a:t>
            </a:fld>
            <a:endParaRPr lang="en-US"/>
          </a:p>
        </p:txBody>
      </p:sp>
      <p:sp>
        <p:nvSpPr>
          <p:cNvPr id="5" name="Footer Placeholder 4">
            <a:extLst>
              <a:ext uri="{FF2B5EF4-FFF2-40B4-BE49-F238E27FC236}">
                <a16:creationId xmlns:a16="http://schemas.microsoft.com/office/drawing/2014/main" id="{6AF2664E-7466-E78C-3E0B-3DD43AFCA7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7F544FE-C022-FC2F-A429-0BA532EE39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C2B311-C7F5-4849-AB4E-7977E73CD623}" type="slidenum">
              <a:rPr lang="en-US" smtClean="0"/>
              <a:t>‹#›</a:t>
            </a:fld>
            <a:endParaRPr lang="en-US"/>
          </a:p>
        </p:txBody>
      </p:sp>
      <p:sp>
        <p:nvSpPr>
          <p:cNvPr id="7" name="TextBox 6">
            <a:extLst>
              <a:ext uri="{FF2B5EF4-FFF2-40B4-BE49-F238E27FC236}">
                <a16:creationId xmlns:a16="http://schemas.microsoft.com/office/drawing/2014/main" id="{BC55A33A-8724-6665-FEAE-C856A5B0A03E}"/>
              </a:ext>
            </a:extLst>
          </p:cNvPr>
          <p:cNvSpPr txBox="1"/>
          <p:nvPr userDrawn="1"/>
        </p:nvSpPr>
        <p:spPr>
          <a:xfrm>
            <a:off x="5237480" y="6444476"/>
            <a:ext cx="6116320" cy="276999"/>
          </a:xfrm>
          <a:prstGeom prst="rect">
            <a:avLst/>
          </a:prstGeom>
          <a:noFill/>
        </p:spPr>
        <p:txBody>
          <a:bodyPr wrap="square">
            <a:spAutoFit/>
          </a:bodyPr>
          <a:lstStyle/>
          <a:p>
            <a:pPr algn="r"/>
            <a:r>
              <a:rPr lang="en-US" sz="1200" b="0" i="0" dirty="0">
                <a:solidFill>
                  <a:schemeClr val="bg1">
                    <a:lumMod val="50000"/>
                  </a:schemeClr>
                </a:solidFill>
                <a:latin typeface="Roboto Light" panose="02000000000000000000" pitchFamily="2" charset="0"/>
                <a:ea typeface="Roboto Light" panose="02000000000000000000" pitchFamily="2" charset="0"/>
              </a:rPr>
              <a:t>For UP MSHI Use Only – Not for Public Circulation</a:t>
            </a:r>
          </a:p>
        </p:txBody>
      </p:sp>
    </p:spTree>
    <p:extLst>
      <p:ext uri="{BB962C8B-B14F-4D97-AF65-F5344CB8AC3E}">
        <p14:creationId xmlns:p14="http://schemas.microsoft.com/office/powerpoint/2010/main" val="10097709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4400" b="1" i="0" kern="1200">
          <a:solidFill>
            <a:schemeClr val="bg1"/>
          </a:solidFill>
          <a:latin typeface="Roboto Black" panose="02000000000000000000" pitchFamily="2" charset="0"/>
          <a:ea typeface="Roboto Black" panose="02000000000000000000" pitchFamily="2" charset="0"/>
          <a:cs typeface="+mj-cs"/>
        </a:defRPr>
      </a:lvl1pPr>
    </p:titleStyle>
    <p:bodyStyle>
      <a:lvl1pPr marL="228600" indent="-228600" algn="l" defTabSz="914400" rtl="0" eaLnBrk="1" latinLnBrk="0" hangingPunct="1">
        <a:lnSpc>
          <a:spcPct val="100000"/>
        </a:lnSpc>
        <a:spcBef>
          <a:spcPts val="1000"/>
        </a:spcBef>
        <a:spcAft>
          <a:spcPts val="600"/>
        </a:spcAft>
        <a:buFont typeface="Arial" panose="020B0604020202020204" pitchFamily="34" charset="0"/>
        <a:buChar char="•"/>
        <a:defRPr sz="2800" b="1" i="0" kern="1200">
          <a:solidFill>
            <a:schemeClr val="tx2">
              <a:lumMod val="75000"/>
              <a:lumOff val="25000"/>
            </a:schemeClr>
          </a:solidFill>
          <a:latin typeface="Roboto Medium" panose="02000000000000000000" pitchFamily="2" charset="0"/>
          <a:ea typeface="Roboto Medium"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2">
              <a:lumMod val="50000"/>
            </a:schemeClr>
          </a:solidFill>
          <a:latin typeface="Roboto Medium" panose="02000000000000000000" pitchFamily="2" charset="0"/>
          <a:ea typeface="Roboto Medium"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2">
              <a:lumMod val="50000"/>
            </a:schemeClr>
          </a:solidFill>
          <a:latin typeface="Roboto Medium" panose="02000000000000000000" pitchFamily="2" charset="0"/>
          <a:ea typeface="Roboto Medium"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2">
              <a:lumMod val="50000"/>
            </a:schemeClr>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2">
              <a:lumMod val="50000"/>
            </a:schemeClr>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F5A01-7F3D-5516-6CFE-30E58068087C}"/>
              </a:ext>
            </a:extLst>
          </p:cNvPr>
          <p:cNvSpPr>
            <a:spLocks noGrp="1"/>
          </p:cNvSpPr>
          <p:nvPr>
            <p:ph type="title"/>
          </p:nvPr>
        </p:nvSpPr>
        <p:spPr>
          <a:xfrm>
            <a:off x="831850" y="1709738"/>
            <a:ext cx="10515600" cy="2852737"/>
          </a:xfrm>
        </p:spPr>
        <p:txBody>
          <a:bodyPr>
            <a:normAutofit/>
          </a:bodyPr>
          <a:lstStyle/>
          <a:p>
            <a:pPr lvl="0"/>
            <a:r>
              <a:rPr lang="en-PH" dirty="0"/>
              <a:t>Building the Foundation: A Position on National Health Data </a:t>
            </a:r>
            <a:r>
              <a:rPr lang="en-PH"/>
              <a:t>Repository (NHDR)</a:t>
            </a:r>
            <a:endParaRPr lang="en-PH" dirty="0"/>
          </a:p>
        </p:txBody>
      </p:sp>
      <p:sp>
        <p:nvSpPr>
          <p:cNvPr id="4" name="Text Placeholder 3">
            <a:extLst>
              <a:ext uri="{FF2B5EF4-FFF2-40B4-BE49-F238E27FC236}">
                <a16:creationId xmlns:a16="http://schemas.microsoft.com/office/drawing/2014/main" id="{F8AD1360-D26E-1459-47E9-63D4BC239411}"/>
              </a:ext>
            </a:extLst>
          </p:cNvPr>
          <p:cNvSpPr>
            <a:spLocks noGrp="1"/>
          </p:cNvSpPr>
          <p:nvPr>
            <p:ph type="body"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The Position: Start Local, Build National</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Health Information Exchange must be built from the ground up</a:t>
            </a:r>
          </a:p>
          <a:p>
            <a:pPr lvl="0"/>
            <a:r>
              <a:rPr lang="en-PH"/>
              <a:t>P/CWHS-level implementation with national federation</a:t>
            </a:r>
          </a:p>
          <a:p>
            <a:pPr lvl="0"/>
            <a:r>
              <a:rPr lang="en-PH"/>
              <a:t>Not a top-down, centralized national repository approach</a:t>
            </a:r>
          </a:p>
          <a:p>
            <a:pPr lvl="0"/>
            <a:r>
              <a:rPr lang="en-PH"/>
              <a:t>This presentation establishes the foundational arguments for this position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The Foundation of This Argument</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Three cornerstone concepts that support this position:</a:t>
            </a:r>
          </a:p>
          <a:p>
            <a:pPr lvl="1"/>
            <a:r>
              <a:rPr lang="en-PH"/>
              <a:t>Cornerstone 1: Value is Local Before It’s National</a:t>
            </a:r>
          </a:p>
          <a:p>
            <a:pPr lvl="1"/>
            <a:r>
              <a:rPr lang="en-PH"/>
              <a:t>Cornerstone 2: Data Flows Follow Money Flows</a:t>
            </a:r>
          </a:p>
          <a:p>
            <a:pPr lvl="1"/>
            <a:r>
              <a:rPr lang="en-PH"/>
              <a:t>Cornerstone 3: Governance Follows Accountability</a:t>
            </a:r>
          </a:p>
          <a:p>
            <a:pPr lvl="0"/>
            <a:r>
              <a:rPr lang="en-PH"/>
              <a:t>Each cornerstone builds the case for P/CWHS-level HIE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normAutofit fontScale="90000"/>
          </a:bodyPr>
          <a:lstStyle/>
          <a:p>
            <a:pPr lvl="0"/>
            <a:r>
              <a:rPr lang="en-PH"/>
              <a:t>Foundation 1: Value is Local Before It’s National</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The Argument: HIE must deliver tangible value at the point of care before attempting national aggregation</a:t>
            </a:r>
          </a:p>
          <a:p>
            <a:pPr lvl="0"/>
            <a:r>
              <a:rPr lang="en-PH"/>
              <a:t>Why This Matters: Without local value, no one will use the system</a:t>
            </a:r>
          </a:p>
          <a:p>
            <a:pPr lvl="0"/>
            <a:r>
              <a:rPr lang="en-PH"/>
              <a:t>This foundation establishes the “why start local” argument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Evidence: How Patients Actually Move</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Patient care pathways are predominantly local:</a:t>
            </a:r>
          </a:p>
          <a:p>
            <a:pPr lvl="1"/>
            <a:r>
              <a:rPr lang="en-PH"/>
              <a:t>Pregnant woman: RHU → district hospital → RHU</a:t>
            </a:r>
          </a:p>
          <a:p>
            <a:pPr lvl="1"/>
            <a:r>
              <a:rPr lang="en-PH"/>
              <a:t>Diabetic patient: health center → city hospital</a:t>
            </a:r>
          </a:p>
          <a:p>
            <a:pPr lvl="1"/>
            <a:r>
              <a:rPr lang="en-PH"/>
              <a:t>Emergency patient: medical history scattered across local facilities</a:t>
            </a:r>
          </a:p>
          <a:p>
            <a:pPr lvl="0"/>
            <a:r>
              <a:rPr lang="en-PH"/>
              <a:t>Most patients never leave their P/CWHS for an entire episode of care</a:t>
            </a:r>
          </a:p>
          <a:p>
            <a:pPr lvl="0"/>
            <a:r>
              <a:rPr lang="en-PH"/>
              <a:t>Implication: Real clinical value happens within P/CWHS, not nationally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normAutofit fontScale="90000"/>
          </a:bodyPr>
          <a:lstStyle/>
          <a:p>
            <a:pPr lvl="0"/>
            <a:r>
              <a:rPr lang="en-PH"/>
              <a:t>Counter-Argument Addressed: National Aggregation</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Counter: “But we need national data for policy and surveillance”</a:t>
            </a:r>
          </a:p>
          <a:p>
            <a:pPr lvl="0"/>
            <a:r>
              <a:rPr lang="en-PH"/>
              <a:t>Response: Yes, but that’s a derivative benefit, not the primary driver</a:t>
            </a:r>
          </a:p>
          <a:p>
            <a:pPr lvl="0"/>
            <a:r>
              <a:rPr lang="en-PH"/>
              <a:t>National aggregation that burdens frontline workers without local benefit creates resentment</a:t>
            </a:r>
          </a:p>
          <a:p>
            <a:pPr lvl="0"/>
            <a:r>
              <a:rPr lang="en-PH"/>
              <a:t>Build local value first, national aggregation emerges naturally from functioning local systems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Foundation 1 Supports This Position</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If clinical value is predominantly local (evidence shows it is)</a:t>
            </a:r>
          </a:p>
          <a:p>
            <a:pPr lvl="0"/>
            <a:r>
              <a:rPr lang="en-PH"/>
              <a:t>And if technology adoption requires users to see immediate personal value (it does)</a:t>
            </a:r>
          </a:p>
          <a:p>
            <a:pPr lvl="0"/>
            <a:r>
              <a:rPr lang="en-PH"/>
              <a:t>Then: HIE implementation must start at P/CWHS level where value is delivered</a:t>
            </a:r>
          </a:p>
          <a:p>
            <a:pPr lvl="0"/>
            <a:r>
              <a:rPr lang="en-PH"/>
              <a:t>Not: At national level where value is abstract and distant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Foundation 2: Data Flows Follow Money Flows</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The Argument: HIE architecture must align with actual financing mechanisms</a:t>
            </a:r>
          </a:p>
          <a:p>
            <a:pPr lvl="0"/>
            <a:r>
              <a:rPr lang="en-PH"/>
              <a:t>Why This Matters: Systems that don’t align with money flows don’t get sustained</a:t>
            </a:r>
          </a:p>
          <a:p>
            <a:pPr lvl="0"/>
            <a:r>
              <a:rPr lang="en-PH"/>
              <a:t>This foundation establishes the “how to sustain it” argument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Evidence: UHC Act’s Two Financing Streams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761211569"/>
              </p:ext>
            </p:extLst>
          </p:nvPr>
        </p:nvGraphicFramePr>
        <p:xfrm>
          <a:off x="838200" y="1316038"/>
          <a:ext cx="10515600" cy="5040312"/>
        </p:xfrm>
        <a:graphic>
          <a:graphicData uri="http://schemas.openxmlformats.org/drawingml/2006/table">
            <a:tbl>
              <a:tblPr firstRow="1" bandRow="1">
                <a:tableStyleId>{5C22544A-7EE6-4342-B048-85BDC9FD1C3A}</a:tableStyleId>
              </a:tblPr>
              <a:tblGrid>
                <a:gridCol w="189230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1651000">
                  <a:extLst>
                    <a:ext uri="{9D8B030D-6E8A-4147-A177-3AD203B41FA5}">
                      <a16:colId xmlns:a16="http://schemas.microsoft.com/office/drawing/2014/main" val="20002"/>
                    </a:ext>
                  </a:extLst>
                </a:gridCol>
                <a:gridCol w="4495800">
                  <a:extLst>
                    <a:ext uri="{9D8B030D-6E8A-4147-A177-3AD203B41FA5}">
                      <a16:colId xmlns:a16="http://schemas.microsoft.com/office/drawing/2014/main" val="20003"/>
                    </a:ext>
                  </a:extLst>
                </a:gridCol>
              </a:tblGrid>
              <a:tr h="0">
                <a:tc>
                  <a:txBody>
                    <a:bodyPr/>
                    <a:lstStyle/>
                    <a:p>
                      <a:pPr marL="0" lvl="0" indent="0">
                        <a:buNone/>
                      </a:pPr>
                      <a:r>
                        <a:t>Service Type</a:t>
                      </a:r>
                    </a:p>
                  </a:txBody>
                  <a:tcPr/>
                </a:tc>
                <a:tc>
                  <a:txBody>
                    <a:bodyPr/>
                    <a:lstStyle/>
                    <a:p>
                      <a:pPr marL="0" lvl="0" indent="0">
                        <a:buNone/>
                      </a:pPr>
                      <a:r>
                        <a:t>Payer</a:t>
                      </a:r>
                    </a:p>
                  </a:txBody>
                  <a:tcPr/>
                </a:tc>
                <a:tc>
                  <a:txBody>
                    <a:bodyPr/>
                    <a:lstStyle/>
                    <a:p>
                      <a:pPr marL="0" lvl="0" indent="0">
                        <a:buNone/>
                      </a:pPr>
                      <a:r>
                        <a:t>Recipient</a:t>
                      </a:r>
                    </a:p>
                  </a:txBody>
                  <a:tcPr/>
                </a:tc>
                <a:tc>
                  <a:txBody>
                    <a:bodyPr/>
                    <a:lstStyle/>
                    <a:p>
                      <a:pPr marL="0" lvl="0" indent="0">
                        <a:buNone/>
                      </a:pPr>
                      <a:r>
                        <a:t>Accountability</a:t>
                      </a:r>
                    </a:p>
                  </a:txBody>
                  <a:tcPr/>
                </a:tc>
                <a:extLst>
                  <a:ext uri="{0D108BD9-81ED-4DB2-BD59-A6C34878D82A}">
                    <a16:rowId xmlns:a16="http://schemas.microsoft.com/office/drawing/2014/main" val="10000"/>
                  </a:ext>
                </a:extLst>
              </a:tr>
              <a:tr h="0">
                <a:tc>
                  <a:txBody>
                    <a:bodyPr/>
                    <a:lstStyle/>
                    <a:p>
                      <a:pPr marL="0" lvl="0" indent="0">
                        <a:buNone/>
                      </a:pPr>
                      <a:r>
                        <a:t>Population-based</a:t>
                      </a:r>
                    </a:p>
                  </a:txBody>
                  <a:tcPr/>
                </a:tc>
                <a:tc>
                  <a:txBody>
                    <a:bodyPr/>
                    <a:lstStyle/>
                    <a:p>
                      <a:pPr marL="0" lvl="0" indent="0">
                        <a:buNone/>
                      </a:pPr>
                      <a:r>
                        <a:t>DOH (taxes)</a:t>
                      </a:r>
                    </a:p>
                  </a:txBody>
                  <a:tcPr/>
                </a:tc>
                <a:tc>
                  <a:txBody>
                    <a:bodyPr/>
                    <a:lstStyle/>
                    <a:p>
                      <a:pPr marL="0" lvl="0" indent="0">
                        <a:buNone/>
                      </a:pPr>
                      <a:r>
                        <a:t>P/CWHS</a:t>
                      </a:r>
                    </a:p>
                  </a:txBody>
                  <a:tcPr/>
                </a:tc>
                <a:tc>
                  <a:txBody>
                    <a:bodyPr/>
                    <a:lstStyle/>
                    <a:p>
                      <a:pPr marL="0" lvl="0" indent="0">
                        <a:buNone/>
                      </a:pPr>
                      <a:r>
                        <a:t>Disease surveillance, program coverage</a:t>
                      </a:r>
                    </a:p>
                  </a:txBody>
                  <a:tcPr/>
                </a:tc>
                <a:extLst>
                  <a:ext uri="{0D108BD9-81ED-4DB2-BD59-A6C34878D82A}">
                    <a16:rowId xmlns:a16="http://schemas.microsoft.com/office/drawing/2014/main" val="10001"/>
                  </a:ext>
                </a:extLst>
              </a:tr>
              <a:tr h="0">
                <a:tc>
                  <a:txBody>
                    <a:bodyPr/>
                    <a:lstStyle/>
                    <a:p>
                      <a:pPr marL="0" lvl="0" indent="0">
                        <a:buNone/>
                      </a:pPr>
                      <a:r>
                        <a:t>Individual-based</a:t>
                      </a:r>
                    </a:p>
                  </a:txBody>
                  <a:tcPr/>
                </a:tc>
                <a:tc>
                  <a:txBody>
                    <a:bodyPr/>
                    <a:lstStyle/>
                    <a:p>
                      <a:pPr marL="0" lvl="0" indent="0">
                        <a:buNone/>
                      </a:pPr>
                      <a:r>
                        <a:t>PhilHealth (premiums)</a:t>
                      </a:r>
                    </a:p>
                  </a:txBody>
                  <a:tcPr/>
                </a:tc>
                <a:tc>
                  <a:txBody>
                    <a:bodyPr/>
                    <a:lstStyle/>
                    <a:p>
                      <a:pPr marL="0" lvl="0" indent="0">
                        <a:buNone/>
                      </a:pPr>
                      <a:r>
                        <a:t>HCPNs (P/CWHS)</a:t>
                      </a:r>
                    </a:p>
                  </a:txBody>
                  <a:tcPr/>
                </a:tc>
                <a:tc>
                  <a:txBody>
                    <a:bodyPr/>
                    <a:lstStyle/>
                    <a:p>
                      <a:pPr marL="0" lvl="0" indent="0">
                        <a:buNone/>
                      </a:pPr>
                      <a:r>
                        <a:t>Encounter records, claims validation</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03D6566-4625-5E22-BF4C-EE4C355971D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Both streams converge at Special Health Fund (P/CWHS level)</a:t>
            </a:r>
          </a:p>
          <a:p>
            <a:pPr lvl="0"/>
            <a:r>
              <a:rPr lang="en-PH"/>
              <a:t>Implication: P/CWHS is the natural funding and accountability point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HIE Must Serve Both Financing Streams</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For DOH (population-based): P/CWHS reports disease surveillance, program coverage, outcomes</a:t>
            </a:r>
          </a:p>
          <a:p>
            <a:pPr lvl="0"/>
            <a:r>
              <a:rPr lang="en-PH"/>
              <a:t>For PhilHealth (individual-based): Facilities document service delivery for claims and validation</a:t>
            </a:r>
          </a:p>
          <a:p>
            <a:pPr lvl="0"/>
            <a:r>
              <a:rPr lang="en-PH"/>
              <a:t>HIE funded from SHF serves both revenue streams that feed into it</a:t>
            </a:r>
          </a:p>
          <a:p>
            <a:pPr lvl="0"/>
            <a:r>
              <a:rPr lang="en-PH"/>
              <a:t>Implication: Sustainable financing is built-in at P/CWHS level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Counter-Argument Addressed: Central Funding</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Counter: “DOH or PhilHealth should centrally fund and operate the HIE”</a:t>
            </a:r>
          </a:p>
          <a:p>
            <a:pPr lvl="0"/>
            <a:r>
              <a:rPr lang="en-PH"/>
              <a:t>Response: That disconnects investment from benefit</a:t>
            </a:r>
          </a:p>
          <a:p>
            <a:pPr lvl="0"/>
            <a:r>
              <a:rPr lang="en-PH"/>
              <a:t>Central funding creates dependency and fragility</a:t>
            </a:r>
          </a:p>
          <a:p>
            <a:pPr lvl="0"/>
            <a:r>
              <a:rPr lang="en-PH"/>
              <a:t>P/CWHS won’t maintain or enhance what they don’t control and don’t pay for</a:t>
            </a:r>
          </a:p>
          <a:p>
            <a:pPr lvl="0"/>
            <a:r>
              <a:rPr lang="en-PH"/>
              <a:t>SHF funding aligns investment with benefit and creates sustainability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Foundation 2 Supports This Position</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If both DOH and PhilHealth financing are designed to converge at SHF (UHC Act structures it this way)</a:t>
            </a:r>
          </a:p>
          <a:p>
            <a:pPr lvl="0"/>
            <a:r>
              <a:rPr lang="en-PH"/>
              <a:t>And if sustainable systems require investment to align with benefit (they do)</a:t>
            </a:r>
          </a:p>
          <a:p>
            <a:pPr lvl="0"/>
            <a:r>
              <a:rPr lang="en-PH"/>
              <a:t>Then: HIE should be funded and operated at P/CWHS level through SHF</a:t>
            </a:r>
          </a:p>
          <a:p>
            <a:pPr lvl="0"/>
            <a:r>
              <a:rPr lang="en-PH"/>
              <a:t>Not: Centrally funded by DOH or PhilHealth with local dependency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normAutofit fontScale="90000"/>
          </a:bodyPr>
          <a:lstStyle/>
          <a:p>
            <a:pPr lvl="0"/>
            <a:r>
              <a:rPr lang="en-PH"/>
              <a:t>Foundation 3: Governance Follows Accountability</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The Argument: HIE governance should reside where health system accountability is designed to exist under law</a:t>
            </a:r>
          </a:p>
          <a:p>
            <a:pPr lvl="0"/>
            <a:r>
              <a:rPr lang="en-PH"/>
              <a:t>Why This Matters: Misaligned governance and accountability creates paralysis</a:t>
            </a:r>
          </a:p>
          <a:p>
            <a:pPr lvl="0"/>
            <a:r>
              <a:rPr lang="en-PH"/>
              <a:t>This foundation establishes the “who decides” argument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Evidence: UHC Act’s Accountability Structure</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UHC Act establishes Provincial and City Health Boards as stewards of integrated health systems</a:t>
            </a:r>
          </a:p>
          <a:p>
            <a:pPr lvl="0"/>
            <a:r>
              <a:rPr lang="en-PH"/>
              <a:t>P/CHBs are positioned to have authority over:</a:t>
            </a:r>
          </a:p>
          <a:p>
            <a:pPr lvl="1"/>
            <a:r>
              <a:rPr lang="en-PH"/>
              <a:t>Health facilities in their jurisdiction</a:t>
            </a:r>
          </a:p>
          <a:p>
            <a:pPr lvl="1"/>
            <a:r>
              <a:rPr lang="en-PH"/>
              <a:t>Special Health Fund resource allocation</a:t>
            </a:r>
          </a:p>
          <a:p>
            <a:pPr lvl="1"/>
            <a:r>
              <a:rPr lang="en-PH"/>
              <a:t>Health outcomes for their population</a:t>
            </a:r>
          </a:p>
          <a:p>
            <a:pPr lvl="0"/>
            <a:r>
              <a:rPr lang="en-PH"/>
              <a:t>P/CHBs are designed to make decisions on service delivery, quality, resource allocation</a:t>
            </a:r>
          </a:p>
          <a:p>
            <a:pPr lvl="0"/>
            <a:r>
              <a:rPr lang="en-PH"/>
              <a:t>Implication: Accountability is being positioned at P/CHB level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normAutofit fontScale="90000"/>
          </a:bodyPr>
          <a:lstStyle/>
          <a:p>
            <a:pPr lvl="0"/>
            <a:r>
              <a:rPr lang="en-PH"/>
              <a:t>Current Status: Integration is Voluntary, Heading Toward Mandatory</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Currently: LGUs “shall endeavor to integrate” (not yet mandatory)</a:t>
            </a:r>
          </a:p>
          <a:p>
            <a:pPr lvl="0"/>
            <a:r>
              <a:rPr lang="en-PH"/>
              <a:t>National government provides support to LGUs that commit to integration</a:t>
            </a:r>
          </a:p>
          <a:p>
            <a:pPr lvl="0"/>
            <a:r>
              <a:rPr lang="en-PH"/>
              <a:t>Path to mandatory integration:</a:t>
            </a:r>
          </a:p>
          <a:p>
            <a:pPr lvl="1"/>
            <a:r>
              <a:rPr lang="en-PH"/>
              <a:t>Independent study evaluates benefits</a:t>
            </a:r>
          </a:p>
          <a:p>
            <a:pPr lvl="1"/>
            <a:r>
              <a:rPr lang="en-PH"/>
              <a:t>Positive recommendation from Secretary of Health</a:t>
            </a:r>
          </a:p>
          <a:p>
            <a:pPr lvl="1"/>
            <a:r>
              <a:rPr lang="en-PH"/>
              <a:t>Presidential Executive Order makes it mandatory</a:t>
            </a:r>
          </a:p>
          <a:p>
            <a:pPr lvl="0"/>
            <a:r>
              <a:rPr lang="en-PH"/>
              <a:t>Key Point: The law establishes the framework and direction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Governance Requirements for HIE</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P/CHBs should be positioned as HIE governance bodies for their jurisdictions</a:t>
            </a:r>
          </a:p>
          <a:p>
            <a:pPr lvl="0"/>
            <a:r>
              <a:rPr lang="en-PH"/>
              <a:t>They should decide:</a:t>
            </a:r>
          </a:p>
          <a:p>
            <a:pPr lvl="1"/>
            <a:r>
              <a:rPr lang="en-PH"/>
              <a:t>What data is shared and with whom</a:t>
            </a:r>
          </a:p>
          <a:p>
            <a:pPr lvl="1"/>
            <a:r>
              <a:rPr lang="en-PH"/>
              <a:t>Who can access what information</a:t>
            </a:r>
          </a:p>
          <a:p>
            <a:pPr lvl="1"/>
            <a:r>
              <a:rPr lang="en-PH"/>
              <a:t>Which use cases get priority</a:t>
            </a:r>
          </a:p>
          <a:p>
            <a:pPr lvl="1"/>
            <a:r>
              <a:rPr lang="en-PH"/>
              <a:t>How privacy and security are protected</a:t>
            </a:r>
          </a:p>
          <a:p>
            <a:pPr lvl="0"/>
            <a:r>
              <a:rPr lang="en-PH"/>
              <a:t>Implication: Build HIE governance to align with UHC Act’s accountability framework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normAutofit fontScale="90000"/>
          </a:bodyPr>
          <a:lstStyle/>
          <a:p>
            <a:pPr lvl="0"/>
            <a:r>
              <a:rPr lang="en-PH"/>
              <a:t>Counter-Argument Addressed: National Standards</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Counter: “But we need national standards and interoperability”</a:t>
            </a:r>
          </a:p>
          <a:p>
            <a:pPr lvl="0"/>
            <a:r>
              <a:rPr lang="en-PH"/>
              <a:t>Response: Yes, but standards aren’t governance</a:t>
            </a:r>
          </a:p>
          <a:p>
            <a:pPr lvl="0"/>
            <a:r>
              <a:rPr lang="en-PH"/>
              <a:t>National standards for data exchange: absolutely necessary</a:t>
            </a:r>
          </a:p>
          <a:p>
            <a:pPr lvl="0"/>
            <a:r>
              <a:rPr lang="en-PH"/>
              <a:t>National governance over local data: disconnects authority from accountability</a:t>
            </a:r>
          </a:p>
          <a:p>
            <a:pPr lvl="0"/>
            <a:r>
              <a:rPr lang="en-PH"/>
              <a:t>Federal model: national standards, local governance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Foundation 3 Supports This Position</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If UHC Act positions accountability at P/CHB level (it does)</a:t>
            </a:r>
          </a:p>
          <a:p>
            <a:pPr lvl="0"/>
            <a:r>
              <a:rPr lang="en-PH"/>
              <a:t>And if governance authority should reside where accountability exists (it should)</a:t>
            </a:r>
          </a:p>
          <a:p>
            <a:pPr lvl="0"/>
            <a:r>
              <a:rPr lang="en-PH"/>
              <a:t>Then: P/CHBs should govern HIE in their jurisdictions</a:t>
            </a:r>
          </a:p>
          <a:p>
            <a:pPr lvl="0"/>
            <a:r>
              <a:rPr lang="en-PH"/>
              <a:t>Not: Central DOH governance or distributed facility-level governance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normAutofit fontScale="90000"/>
          </a:bodyPr>
          <a:lstStyle/>
          <a:p>
            <a:pPr lvl="0"/>
            <a:r>
              <a:rPr lang="en-PH"/>
              <a:t>The Complete Argument: Three Foundations Together</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Foundation 1 (Value): Clinical value is local → Start implementation at P/CWHS level</a:t>
            </a:r>
          </a:p>
          <a:p>
            <a:pPr lvl="0"/>
            <a:r>
              <a:rPr lang="en-PH"/>
              <a:t>Foundation 2 (Financing): Both revenue streams designed to converge at SHF → Fund through P/CWHS SHF</a:t>
            </a:r>
          </a:p>
          <a:p>
            <a:pPr lvl="0"/>
            <a:r>
              <a:rPr lang="en-PH"/>
              <a:t>Foundation 3 (Governance): Accountability being positioned at P/CHB → Governance should align</a:t>
            </a:r>
          </a:p>
          <a:p>
            <a:pPr lvl="0"/>
            <a:r>
              <a:rPr lang="en-PH"/>
              <a:t>Together: The coherent architecture is P/CWHS-level HIE with national federation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normAutofit fontScale="90000"/>
          </a:bodyPr>
          <a:lstStyle/>
          <a:p>
            <a:pPr lvl="0"/>
            <a:r>
              <a:rPr lang="en-PH"/>
              <a:t>Testing Alternative Approaches Against These Foundations</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Centralized National Repository Approach:</a:t>
            </a:r>
          </a:p>
          <a:p>
            <a:pPr lvl="1"/>
            <a:r>
              <a:rPr lang="en-PH"/>
              <a:t>Foundation 1: Fails—delivers national value before local value</a:t>
            </a:r>
          </a:p>
          <a:p>
            <a:pPr lvl="1"/>
            <a:r>
              <a:rPr lang="en-PH"/>
              <a:t>Foundation 2: Fails—disconnects financing from local benefit</a:t>
            </a:r>
          </a:p>
          <a:p>
            <a:pPr lvl="1"/>
            <a:r>
              <a:rPr lang="en-PH"/>
              <a:t>Foundation 3: Fails—places governance where accountability isn’t positioned</a:t>
            </a:r>
          </a:p>
          <a:p>
            <a:pPr lvl="0"/>
            <a:r>
              <a:rPr lang="en-PH"/>
              <a:t>Facility-Level Distributed Approach:</a:t>
            </a:r>
          </a:p>
          <a:p>
            <a:pPr lvl="1"/>
            <a:r>
              <a:rPr lang="en-PH"/>
              <a:t>Foundation 1: Weak—fragments value across facilities</a:t>
            </a:r>
          </a:p>
          <a:p>
            <a:pPr lvl="1"/>
            <a:r>
              <a:rPr lang="en-PH"/>
              <a:t>Foundation 2: Fails—no connection to SHF financing</a:t>
            </a:r>
          </a:p>
          <a:p>
            <a:pPr lvl="1"/>
            <a:r>
              <a:rPr lang="en-PH"/>
              <a:t>Foundation 3: Fails—places governance below accountability level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Why Sequence Matters in This Argument</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These foundations build on each other in sequence:</a:t>
            </a:r>
          </a:p>
          <a:p>
            <a:pPr lvl="1"/>
            <a:r>
              <a:rPr lang="en-PH"/>
              <a:t>Value establishes the “why” and “where to start”</a:t>
            </a:r>
          </a:p>
          <a:p>
            <a:pPr lvl="1"/>
            <a:r>
              <a:rPr lang="en-PH"/>
              <a:t>Financing establishes the “how to sustain”</a:t>
            </a:r>
          </a:p>
          <a:p>
            <a:pPr lvl="1"/>
            <a:r>
              <a:rPr lang="en-PH"/>
              <a:t>Governance establishes the “who decides”</a:t>
            </a:r>
          </a:p>
          <a:p>
            <a:pPr lvl="0"/>
            <a:r>
              <a:rPr lang="en-PH"/>
              <a:t>Breaking the sequence undermines the entire argument</a:t>
            </a:r>
          </a:p>
          <a:p>
            <a:pPr lvl="0"/>
            <a:r>
              <a:rPr lang="en-PH"/>
              <a:t>This position respects the complete sequence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The Reality of Implementation</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We’re in a transition period under the UHC Act</a:t>
            </a:r>
          </a:p>
          <a:p>
            <a:pPr lvl="0"/>
            <a:r>
              <a:rPr lang="en-PH"/>
              <a:t>Some provinces and cities are already integrating voluntarily</a:t>
            </a:r>
          </a:p>
          <a:p>
            <a:pPr lvl="0"/>
            <a:r>
              <a:rPr lang="en-PH"/>
              <a:t>National government is providing support to early adopters</a:t>
            </a:r>
          </a:p>
          <a:p>
            <a:pPr lvl="0"/>
            <a:r>
              <a:rPr lang="en-PH"/>
              <a:t>Critical Decision Point: Build HIE architecture for where we’re going, not where we’ve been</a:t>
            </a:r>
          </a:p>
          <a:p>
            <a:pPr lvl="0"/>
            <a:r>
              <a:rPr lang="en-PH"/>
              <a:t>Architecture built for the old fragmented system will be obsolete when integration is complete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Addressing the “Perfect Solution” Fallacy</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This position isn’t perfect—it’s aligned with UHC Act direction</a:t>
            </a:r>
          </a:p>
          <a:p>
            <a:pPr lvl="0"/>
            <a:r>
              <a:rPr lang="en-PH"/>
              <a:t>P/CWHS capacity varies → Address through implementation support, not architecture change</a:t>
            </a:r>
          </a:p>
          <a:p>
            <a:pPr lvl="0"/>
            <a:r>
              <a:rPr lang="en-PH"/>
              <a:t>National needs are real → Address through federation, not centralization</a:t>
            </a:r>
          </a:p>
          <a:p>
            <a:pPr lvl="0"/>
            <a:r>
              <a:rPr lang="en-PH"/>
              <a:t>Technical challenges exist → Address through standards, not governance structure</a:t>
            </a:r>
          </a:p>
          <a:p>
            <a:pPr lvl="0"/>
            <a:r>
              <a:rPr lang="en-PH"/>
              <a:t>The Question: Not “Is this perfect?” but “Does this align with where UHC Act is taking us?”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The Stakes: Why This Matters</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Getting architecture wrong means:</a:t>
            </a:r>
          </a:p>
          <a:p>
            <a:pPr lvl="1"/>
            <a:r>
              <a:rPr lang="en-PH"/>
              <a:t>System that frontline workers resist</a:t>
            </a:r>
          </a:p>
          <a:p>
            <a:pPr lvl="1"/>
            <a:r>
              <a:rPr lang="en-PH"/>
              <a:t>Unsustainable financing that creates dependency</a:t>
            </a:r>
          </a:p>
          <a:p>
            <a:pPr lvl="1"/>
            <a:r>
              <a:rPr lang="en-PH"/>
              <a:t>Governance paralysis when decisions are needed</a:t>
            </a:r>
          </a:p>
          <a:p>
            <a:pPr lvl="1"/>
            <a:r>
              <a:rPr lang="en-PH"/>
              <a:t>Architecture obsolete when UHC integration is complete</a:t>
            </a:r>
          </a:p>
          <a:p>
            <a:pPr lvl="0"/>
            <a:r>
              <a:rPr lang="en-PH"/>
              <a:t>Getting architecture right means:</a:t>
            </a:r>
          </a:p>
          <a:p>
            <a:pPr lvl="1"/>
            <a:r>
              <a:rPr lang="en-PH"/>
              <a:t>Adoption driven by local value</a:t>
            </a:r>
          </a:p>
          <a:p>
            <a:pPr lvl="1"/>
            <a:r>
              <a:rPr lang="en-PH"/>
              <a:t>Self-sustaining through aligned financing</a:t>
            </a:r>
          </a:p>
          <a:p>
            <a:pPr lvl="1"/>
            <a:r>
              <a:rPr lang="en-PH"/>
              <a:t>Clear decision-making authority</a:t>
            </a:r>
          </a:p>
          <a:p>
            <a:pPr lvl="1"/>
            <a:r>
              <a:rPr lang="en-PH"/>
              <a:t>Architecture that works now and scales when integration is complete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Position Summary</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What: P/CWHS-level HIE with national federation through standards and aggregation</a:t>
            </a:r>
          </a:p>
          <a:p>
            <a:pPr lvl="0"/>
            <a:r>
              <a:rPr lang="en-PH"/>
              <a:t>Why: Because clinical value, financing, and accountability all converge or are positioned to converge at P/CWHS level under UHC Act</a:t>
            </a:r>
          </a:p>
          <a:p>
            <a:pPr lvl="0"/>
            <a:r>
              <a:rPr lang="en-PH"/>
              <a:t>How: Funded through Special Health Fund, governed by P/CHBs, federated nationally through standards</a:t>
            </a:r>
          </a:p>
          <a:p>
            <a:pPr lvl="0"/>
            <a:r>
              <a:rPr lang="en-PH"/>
              <a:t>Evidence: Three foundations demonstrate this aligns with UHC Act’s direction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Call to Action: Use These Foundations</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normAutofit lnSpcReduction="10000"/>
          </a:bodyPr>
          <a:lstStyle/>
          <a:p>
            <a:pPr lvl="0"/>
            <a:r>
              <a:rPr lang="en-PH"/>
              <a:t>When evaluating any NHDR/HIE proposal, demand answers to:</a:t>
            </a:r>
          </a:p>
          <a:p>
            <a:pPr lvl="0"/>
            <a:r>
              <a:rPr lang="en-PH"/>
              <a:t>Foundation 1: Does it deliver immediate clinical value at P/CWHS level first?</a:t>
            </a:r>
          </a:p>
          <a:p>
            <a:pPr lvl="0"/>
            <a:r>
              <a:rPr lang="en-PH"/>
              <a:t>Foundation 2: Does it align with SHF financing and serve both DOH and PhilHealth needs?</a:t>
            </a:r>
          </a:p>
          <a:p>
            <a:pPr lvl="0"/>
            <a:r>
              <a:rPr lang="en-PH"/>
              <a:t>Foundation 3: Does it place governance where UHC Act is positioning accountability?</a:t>
            </a:r>
          </a:p>
          <a:p>
            <a:pPr lvl="0"/>
            <a:r>
              <a:rPr lang="en-PH"/>
              <a:t>If any answer is “no” or “unclear” → Reject the proposal as misaligned with UHC Act direction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normAutofit fontScale="90000"/>
          </a:bodyPr>
          <a:lstStyle/>
          <a:p>
            <a:pPr lvl="0"/>
            <a:r>
              <a:rPr lang="en-PH"/>
              <a:t>Final Statement: Architecture Determines Destiny</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a:t>Technical details matter, but architecture matters more</a:t>
            </a:r>
          </a:p>
          <a:p>
            <a:pPr lvl="0"/>
            <a:r>
              <a:rPr lang="en-PH"/>
              <a:t>We can have the best technology, strongest security, most sophisticated standards</a:t>
            </a:r>
          </a:p>
          <a:p>
            <a:pPr lvl="0"/>
            <a:r>
              <a:rPr lang="en-PH"/>
              <a:t>But if the architecture doesn’t align with where UHC Act is taking us…</a:t>
            </a:r>
          </a:p>
          <a:p>
            <a:pPr lvl="0"/>
            <a:r>
              <a:rPr lang="en-PH"/>
              <a:t>The system will fail or become obsolete</a:t>
            </a:r>
          </a:p>
          <a:p>
            <a:pPr lvl="0"/>
            <a:r>
              <a:rPr lang="en-PH"/>
              <a:t>This position provides the only architecturally sound foundation for UHC’s future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5467</Words>
  <Application>Microsoft Macintosh PowerPoint</Application>
  <PresentationFormat>Widescreen</PresentationFormat>
  <Paragraphs>220</Paragraphs>
  <Slides>28</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Aptos</vt:lpstr>
      <vt:lpstr>Arial</vt:lpstr>
      <vt:lpstr>Calibri</vt:lpstr>
      <vt:lpstr>Roboto Black</vt:lpstr>
      <vt:lpstr>Roboto Light</vt:lpstr>
      <vt:lpstr>Roboto Medium</vt:lpstr>
      <vt:lpstr>Office Theme</vt:lpstr>
      <vt:lpstr>Building the Foundation: A Position on National Health Data Repository (NHDR)</vt:lpstr>
      <vt:lpstr>The Position: Start Local, Build National</vt:lpstr>
      <vt:lpstr>The Foundation of This Argument</vt:lpstr>
      <vt:lpstr>Foundation 1: Value is Local Before It’s National</vt:lpstr>
      <vt:lpstr>Evidence: How Patients Actually Move</vt:lpstr>
      <vt:lpstr>Counter-Argument Addressed: National Aggregation</vt:lpstr>
      <vt:lpstr>Foundation 1 Supports This Position</vt:lpstr>
      <vt:lpstr>Foundation 2: Data Flows Follow Money Flows</vt:lpstr>
      <vt:lpstr>Evidence: UHC Act’s Two Financing Streams</vt:lpstr>
      <vt:lpstr>PowerPoint Presentation</vt:lpstr>
      <vt:lpstr>HIE Must Serve Both Financing Streams</vt:lpstr>
      <vt:lpstr>Counter-Argument Addressed: Central Funding</vt:lpstr>
      <vt:lpstr>Foundation 2 Supports This Position</vt:lpstr>
      <vt:lpstr>Foundation 3: Governance Follows Accountability</vt:lpstr>
      <vt:lpstr>Evidence: UHC Act’s Accountability Structure</vt:lpstr>
      <vt:lpstr>Current Status: Integration is Voluntary, Heading Toward Mandatory</vt:lpstr>
      <vt:lpstr>Governance Requirements for HIE</vt:lpstr>
      <vt:lpstr>Counter-Argument Addressed: National Standards</vt:lpstr>
      <vt:lpstr>Foundation 3 Supports This Position</vt:lpstr>
      <vt:lpstr>The Complete Argument: Three Foundations Together</vt:lpstr>
      <vt:lpstr>Testing Alternative Approaches Against These Foundations</vt:lpstr>
      <vt:lpstr>Why Sequence Matters in This Argument</vt:lpstr>
      <vt:lpstr>The Reality of Implementation</vt:lpstr>
      <vt:lpstr>Addressing the “Perfect Solution” Fallacy</vt:lpstr>
      <vt:lpstr>The Stakes: Why This Matters</vt:lpstr>
      <vt:lpstr>Position Summary</vt:lpstr>
      <vt:lpstr>Call to Action: Use These Foundations</vt:lpstr>
      <vt:lpstr>Final Statement: Architecture Determines Destiny</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14</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Arial</vt:lpstr>
      <vt:lpstr>Calibri</vt:lpstr>
      <vt:lpstr>Roboto Black</vt:lpstr>
      <vt:lpstr>Roboto Light</vt:lpstr>
      <vt:lpstr>Roboto Medium</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Mike Muin</cp:lastModifiedBy>
  <cp:revision>1</cp:revision>
  <dcterms:created xsi:type="dcterms:W3CDTF">2025-10-11T02:27:23Z</dcterms:created>
  <dcterms:modified xsi:type="dcterms:W3CDTF">2025-10-11T02:27:55Z</dcterms:modified>
</cp:coreProperties>
</file>