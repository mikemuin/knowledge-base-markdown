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D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98"/>
    <p:restoredTop sz="94774"/>
  </p:normalViewPr>
  <p:slideViewPr>
    <p:cSldViewPr snapToGrid="0">
      <p:cViewPr varScale="1">
        <p:scale>
          <a:sx n="237" d="100"/>
          <a:sy n="237" d="100"/>
        </p:scale>
        <p:origin x="1816"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10/12/25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presentation outlines a critical policy position on the National Health Data Repository and its alignment with Universal Health Care principles. The core argument is straightforward: the NHDR must be reimagined and implemented as an enabler of UHC rather than a parallel national reporting infrastructure. This position calls for a fundamental shift in NHDR governance and implementation strategy—one that prioritizes local health system empowerment, aligns with actual service delivery and financing accountability, and creates genuine clinical value before attempting national aggregation.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Universal Health Care Act represents the Philippines’ commitment to ensuring all Filipinos have equitable access to quality, affordable health care services. The law establishes Province-wide and City-wide Health Systems as the integrated service delivery model, operationalized through Health Care Provider Networks that coordinate patient care from primary to tertiary levels. The NHDR, mandated under the UHC Act as the authoritative repository of health data, must serve as the informational backbone that enables these integrated systems to function effectively.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However, the NHDR’s design and implementation must follow, enable, and implement UHC principles—not operate as a separate national data collection exercise that bypasses the very health system structures UHC creates. This is the fundamental tension that needs to be addressed. The question is whether the NHDR will truly enable integrated health systems or become another fragmented, top-down reporting burden.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first core argument focuses on where legal accountability resides. The UHC Act establishes clear facts: Health Care Provider Networks are the operational units responsible for delivering the continuum of care. These networks must coordinate patient referrals and ensure continuity of care across levels. Critically, contracted HCPNs are required to establish patient records management systems with interoperable electronic medical records in all member facilities capable of real-time information-sharing. Meanwhile, Province-wide and City-wide Health Systems manage the Special Health Fund, pooling resources from DOH population-based contracts and PhilHealth individual-based service payments.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Furthermore, Provincial and City Health Boards have statutory authority under the UHC Act over health facilities, manage pooled resources through the SHF, and are the legally designated stewards of integrated health systems in their jurisdictions. This is not opinion—this is the legal structure established by the UHC Act.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Based on these established facts, my position is clear: If legal accountability for service delivery, fund management, and patient care coordination resides at the P/CWHS level under the UHC Act, then operational health information exchange capability should also be established at this level to enable these entities to fulfill their mandated responsibilities. This is a logical extension of the legal framework, not an arbitrary preference.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consider the practical reality. The primary clinical workflow that requires health information exchange is care coordination within natural patient care pathways. Think about the pregnant woman moving from prenatal care at the rural health unit to delivery at the district hospital and back to postpartum care. Or the diabetic patient referred from the city health center to the city hospital for specialist care. Or the emergency patient arriving unconscious whose medical history is scattered across three facilities. The majority of these care coordination workflows occur within a single P/CWHS because that is how referral networks are geographically and administratively structured under the UHC Act.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leads to identification of a fundamental misalignment. When the NHDR is structured to extract data from individual facilities directly to a national repository without first enabling local network exchange, it disconnects information flow from the accountability relationships established by law. Facilities are required to submit data upward for national purposes while remaining unable to share information horizontally with the very HCPN partners they are contractually accountable to for coordinated patient care. This represents a fundamental misalignment between information architecture and the legal service delivery structure established by the UHC Act.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second core argument addresses sustainable financing. The UHC Act establishes two distinct financing streams that converge at the P/CWHS level. Population-based services—health promotion, disease surveillance, environmental health—are funded by DOH through tax revenues and contracted to P/CWHS. Individual-based services—clinical consultations, diagnostics, treatment—are funded by PhilHealth through premium contributions and contracted to HCPNs. Both streams are pooled and managed through the Special Health Fund governed by Provincial and City Health Boards. The NHDR is mandated to support both DOH and PhilHealth data requirements.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From implementation experience, we observe a consistent pattern. Health information systems that deliver tangible operational value at the point of use achieve higher adoption rates and sustainability than systems designed primarily for external reporting. When clinicians can access patient histories during consultations, when nurses can transmit laboratory results electronically, and when referral coordinators can track patient movement across facilities, these users become system advocates and champions. Conversely, systems perceived primarily as data extraction tools for external reporting create work burden without providing local benefit, generating user resistance and sustainability challenges.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Based on this pattern, my position is that health information exchange infrastructure should be financed where it creates direct operational value—and that value is created first at the local level through improved clinical workflows, reduced duplicate testing, enhanced referral coordination, and better care continuity.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When HIE infrastructure delivers tangible local value supporting P/CWHS operational mandates, the business case for SHF investment becomes rational. Provinces and cities can justify investing in HIE capability because it directly improves their ability to fulfill their legal mandate to deliver integrated services and manage pooled resources.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Conversely, when the NHDR is structured primarily for national data aggregation without clear local operational benefit, it risks becoming an unfunded mandate where effort and cost burden falls on local facilities but benefits accrue primarily to national policymakers. Without demonstrable local value proposition, SHF investment in data infrastructure becomes difficult to justify to Provincial and City Health Boards, and long-term sustainability remains uncertain.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Therefore, my financing policy position is clear: SHF investment in local HIE capability that serves P/CWHS operational needs should be the primary financing model, with national data aggregation emerging as a derivative benefit rather than the sole justification for investment. This aligns financing with value creation and ensures sustainability.</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third core argument addresses implementation sequencing. The UHC Act and its implementing rules establish the Local Health Systems Maturity Levels framework with progressive stages. This framework explicitly recognizes that health system integration is a developmental process requiring methodical progression.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 me walk through the three stages. Stage 1, the Preparatory stage, focuses on readiness. The Information Track requires conducting baseline assessment, gaps analysis, and identification of investment needs for health information management and ICT systems. This is about understanding current status and planning the path forward.</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Stage 2, the Organizational stage, focuses on system development and capacity building. The Information Track requires establishing health information management and ICT development plans and implementing functional EMR systems capable of submitting reports to DOH and PhilHealth. Critically, this is when planning for the NHDR begins, focusing on establishing national health data standards for interoperability. Notice the sequence—local systems first, then planning for national integration.</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Stage 3, the Operational stage, focuses on full operationalization. The Information Track requires validated EMR systems that link PCPNs to secondary and tertiary care providers, compliance with national health data standards for interoperability, and the NHDR operational as the single point of submission. This is the mature state—but notice it comes after local systems are functional.</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Based on this framework, my position on sequencing is that NHDR implementation strategy should explicitly align with this maturity progression rather than imposing uniform national submission requirements regardless of local system readiness. In Stage 1, national efforts should concentrate on establishing data standards, interoperability specifications, and certification processes—enabling local units to plan their systems with clear requirements. In Stage 2, the priority should be on establishing functional HIE capability within HCPNs and across P/CWHS boundaries where local systems prove value through improved care coordination. Only in Stage 3, when local systems are functional and delivering operational value, should national aggregation through federation become the focus—at which point it becomes both technically feasible and politically sustainable.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problem being highlighted is this: implementing national data submission requirements before local exchange capability is functional reverses the developmental logic established by the LHS ML framework. It asks facilities to report upward before they can communicate horizontally with HCPN partners, prioritizing national policy needs over the clinical care coordination needs that the UHC Act mandates HCPNs to fulfill. This is backwards.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Therefore, the NHDR governance and implementation timeline should explicitly measure success based on local HCPN functionality metrics before intensifying national aggregation requirements. This aligns the NHDR implementation with the developmental reality that the UHC Act already recognizes.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Based on these three core arguments, here are four policy positions. First, the NHDR should be explicitly conceptualized and implemented as a network of networks rather than a single centralized repository with direct facility connections. This means primary data exchange architecture operates at the P/CWHS level, enabling HCPN members to share patient information, coordinate referrals, and support care delivery within their natural service delivery networks. National data aggregation occurs through federation of these local exchanges, with P/CWHS systems submitting consolidated data to the NHDR after serving local operational needs. The NHDR serves as the integration hub for standardized data from autonomous but interoperable local systems, not as the primary destination for individual facility submissions.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approach respects the principle that accountability and information capability must be co-located. Just as P/CWHS have authority over their health facilities and responsibility for health outcomes, they must have operational control over the information systems that support those functions. This is fundamental to enabling them to fulfill their legal mandate.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Second, current NHDR governance emphasis on national data submission and reporting requirements must shift toward empowering and enabling service delivery capabilities at the local level. This requires DOH and PhilHealth governance frameworks that explicitly prioritize local HIE functionality over national reporting convenience. Success metrics should focus on clinical and operational outcomes—referral completion rates, medication reconciliation accuracy, emergency information availability—rather than just data submission timeliness.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also requires reorienting investment priorities to channel resources toward P/CWHS HIE infrastructure and capacity building before national data center expansion. Regulatory requirements should mandate HCPN information exchange capability as a core network function, not just data submission compliance.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goal is to stop treating the NHDR as primarily a national reporting mechanism. Health information exchange exists first to improve patient care. National surveillance, research, and policy planning are important but derivative purposes that must not drive architecture in ways that undermine local clinical value. This is the fundamental shift in thinking being advocated.</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Third, PhilHealth and DOH financing policies must recognize that sustainable health information exchange requires investment where value is created. This means clear policy guidance that P/CWHS may and should invest Special Health Fund resources in HIE infrastructure and operations as a core function supporting both DOH and PhilHealth contracting requirements.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PhilHealth contracting and payment policies should explicitly recognize HIE capability as a quality indicator and network readiness requirement, creating financial incentives for investment. DOH should provide technical assistance and capacity building support focused on helping Provincial and City Health Boards plan, finance, and govern their HIE systems using SHF resources.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Critically, there is a need to eliminate financing structures that treat NHDR compliance as an unfunded mandate while channeling resources to national-level infrastructure. When local health systems can invest SHF resources in HIE capability that delivers tangible operational value and supports both revenue streams—DOH population-based contracts and PhilHealth individual service payments—sustainability becomes built-in rather than perpetually problematic.</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Fourth and finally, DOH and PhilHealth must immediately cease planning and investment in NHDR architectures where individual health facilities report directly to national repositories while remaining unable to exchange data with their HCPN partners. This architecture is fundamentally misaligned with UHC implementation.</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Why does this bypass architecture fail? Because it disconnects information flow from service delivery accountability relationships. It creates data extraction burden without local operational benefit. It forces facilities to report upward before they can coordinate horizontally. It undermines rather than enables the integrated health systems UHC mandates. Every one of these is a violation of sound health system design.</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Instead, all NHDR investment and technical assistance should focus on empowering P/CWHS to establish functional HIE capability within their HCPNs; ensuring HCPN members can exchange patient information in real-time to support referrals, consultations, and care coordination; building local capacity for data governance, system operation, and privacy protection.</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 is a need to establish clear pathways for P/CWHS systems to federate into the national NHDR, but only after local functionality is proven. The operational roadmap must prioritize local exchange capability first, with national consolidation following as a secondary stage once the foundation is functional.</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 conclusion, the choice before DOH and PhilHealth is clear. The first path is to continue down the current trajectory of centralized national data collection that treats facilities as data sources for national purposes, disconnected from their service delivery accountability and starved of resources for local functionality.</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Or the second path: embrace a network-of-networks approach that empowers P/CWHS to build HIE capability that serves their HCPNs first, finances it sustainably through the Special Health Fund, governs it through Provincial and City Health Boards where accountability resides, and federates these local systems into a truly national repository built on a foundation of local value and capability.</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Only the second path aligns with UHC principles. Only the second path will succeed in implementation. It is time to realign NHDR implementation with UHC implementation reality. Thank you.</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A2B3D-961E-3348-D02C-59A9B166263C}"/>
              </a:ext>
            </a:extLst>
          </p:cNvPr>
          <p:cNvSpPr>
            <a:spLocks noGrp="1"/>
          </p:cNvSpPr>
          <p:nvPr>
            <p:ph type="ctrTitle"/>
          </p:nvPr>
        </p:nvSpPr>
        <p:spPr>
          <a:xfrm>
            <a:off x="1524000" y="1122363"/>
            <a:ext cx="9144000" cy="2387600"/>
          </a:xfrm>
        </p:spPr>
        <p:txBody>
          <a:bodyPr anchor="b">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73D99BDC-8E29-7ED1-39A9-0D8EBBF5E3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B4D7AE-4666-FF55-A226-816C4AA55173}"/>
              </a:ext>
            </a:extLst>
          </p:cNvPr>
          <p:cNvSpPr>
            <a:spLocks noGrp="1"/>
          </p:cNvSpPr>
          <p:nvPr>
            <p:ph type="dt" sz="half" idx="10"/>
          </p:nvPr>
        </p:nvSpPr>
        <p:spPr/>
        <p:txBody>
          <a:bodyPr/>
          <a:lstStyle/>
          <a:p>
            <a:fld id="{4E5EF31F-957A-B04D-9580-84209CC1456D}" type="datetimeFigureOut">
              <a:rPr lang="en-US" smtClean="0"/>
              <a:t>10/12/25</a:t>
            </a:fld>
            <a:endParaRPr lang="en-US"/>
          </a:p>
        </p:txBody>
      </p:sp>
      <p:sp>
        <p:nvSpPr>
          <p:cNvPr id="5" name="Footer Placeholder 4">
            <a:extLst>
              <a:ext uri="{FF2B5EF4-FFF2-40B4-BE49-F238E27FC236}">
                <a16:creationId xmlns:a16="http://schemas.microsoft.com/office/drawing/2014/main" id="{737BBCD6-D422-2D14-311A-E6441E4239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470410-7C0C-EBC2-14A6-C66DCD8DAD8E}"/>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342371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949359-284B-DBC8-9FA6-8C86673AC173}"/>
              </a:ext>
            </a:extLst>
          </p:cNvPr>
          <p:cNvSpPr>
            <a:spLocks noGrp="1"/>
          </p:cNvSpPr>
          <p:nvPr>
            <p:ph type="dt" sz="half" idx="10"/>
          </p:nvPr>
        </p:nvSpPr>
        <p:spPr/>
        <p:txBody>
          <a:bodyPr/>
          <a:lstStyle/>
          <a:p>
            <a:fld id="{4E5EF31F-957A-B04D-9580-84209CC1456D}" type="datetimeFigureOut">
              <a:rPr lang="en-US" smtClean="0"/>
              <a:t>10/12/25</a:t>
            </a:fld>
            <a:endParaRPr lang="en-US"/>
          </a:p>
        </p:txBody>
      </p:sp>
      <p:sp>
        <p:nvSpPr>
          <p:cNvPr id="5" name="Footer Placeholder 4">
            <a:extLst>
              <a:ext uri="{FF2B5EF4-FFF2-40B4-BE49-F238E27FC236}">
                <a16:creationId xmlns:a16="http://schemas.microsoft.com/office/drawing/2014/main" id="{122D8565-4630-2771-DD79-3F035B625C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B9C7A-9EAA-714D-717F-857F5E6956ED}"/>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1069353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F5A01-7F3D-5516-6CFE-30E58068087C}"/>
              </a:ext>
            </a:extLst>
          </p:cNvPr>
          <p:cNvSpPr>
            <a:spLocks noGrp="1"/>
          </p:cNvSpPr>
          <p:nvPr>
            <p:ph type="title"/>
          </p:nvPr>
        </p:nvSpPr>
        <p:spPr>
          <a:xfrm>
            <a:off x="831850" y="1709738"/>
            <a:ext cx="10515600" cy="2852737"/>
          </a:xfrm>
        </p:spPr>
        <p:txBody>
          <a:bodyPr anchor="b"/>
          <a:lstStyle>
            <a:lvl1pPr algn="l">
              <a:defRPr sz="6000"/>
            </a:lvl1pPr>
          </a:lstStyle>
          <a:p>
            <a:r>
              <a:rPr lang="en-US"/>
              <a:t>Click to edit Master title style</a:t>
            </a:r>
          </a:p>
        </p:txBody>
      </p:sp>
      <p:sp>
        <p:nvSpPr>
          <p:cNvPr id="3" name="Text Placeholder 2">
            <a:extLst>
              <a:ext uri="{FF2B5EF4-FFF2-40B4-BE49-F238E27FC236}">
                <a16:creationId xmlns:a16="http://schemas.microsoft.com/office/drawing/2014/main" id="{D85EAC26-C460-4F69-909E-3679F5FAD5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E6370A-985A-AAF9-DD4E-32D8CA66A55D}"/>
              </a:ext>
            </a:extLst>
          </p:cNvPr>
          <p:cNvSpPr>
            <a:spLocks noGrp="1"/>
          </p:cNvSpPr>
          <p:nvPr>
            <p:ph type="dt" sz="half" idx="10"/>
          </p:nvPr>
        </p:nvSpPr>
        <p:spPr/>
        <p:txBody>
          <a:bodyPr/>
          <a:lstStyle/>
          <a:p>
            <a:fld id="{4E5EF31F-957A-B04D-9580-84209CC1456D}" type="datetimeFigureOut">
              <a:rPr lang="en-US" smtClean="0"/>
              <a:t>10/12/25</a:t>
            </a:fld>
            <a:endParaRPr lang="en-US"/>
          </a:p>
        </p:txBody>
      </p:sp>
      <p:sp>
        <p:nvSpPr>
          <p:cNvPr id="5" name="Footer Placeholder 4">
            <a:extLst>
              <a:ext uri="{FF2B5EF4-FFF2-40B4-BE49-F238E27FC236}">
                <a16:creationId xmlns:a16="http://schemas.microsoft.com/office/drawing/2014/main" id="{B43F642E-F5E1-04D4-98F5-C6C0049E95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A14DCF-CF65-CE4C-D5FE-F6A4B38C69AF}"/>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249830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3D749-A647-B8DD-89C1-78CD560694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566AF0-9D5E-1DB8-59A0-A468EADEF4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A9FDF1-481C-DABE-BAC6-E47ADE3B96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BDABEE-5690-22CB-3AFE-3A7103038CF6}"/>
              </a:ext>
            </a:extLst>
          </p:cNvPr>
          <p:cNvSpPr>
            <a:spLocks noGrp="1"/>
          </p:cNvSpPr>
          <p:nvPr>
            <p:ph type="dt" sz="half" idx="10"/>
          </p:nvPr>
        </p:nvSpPr>
        <p:spPr/>
        <p:txBody>
          <a:bodyPr/>
          <a:lstStyle/>
          <a:p>
            <a:fld id="{4E5EF31F-957A-B04D-9580-84209CC1456D}" type="datetimeFigureOut">
              <a:rPr lang="en-US" smtClean="0"/>
              <a:t>10/12/25</a:t>
            </a:fld>
            <a:endParaRPr lang="en-US"/>
          </a:p>
        </p:txBody>
      </p:sp>
      <p:sp>
        <p:nvSpPr>
          <p:cNvPr id="6" name="Footer Placeholder 5">
            <a:extLst>
              <a:ext uri="{FF2B5EF4-FFF2-40B4-BE49-F238E27FC236}">
                <a16:creationId xmlns:a16="http://schemas.microsoft.com/office/drawing/2014/main" id="{61167ECA-E4BC-C20F-3486-429B83C155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3E7EDF-F2FD-0BA2-AF82-C7F513D751A4}"/>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3548999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34322-04D5-79D8-1244-07BE01DA3E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B5B968-945A-DAE4-63DF-BAEED6C0DA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B06463-6AEC-741B-A9B3-724ED04FBB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9976-F27C-4E2E-3E5F-B43ABDFB6A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6FE52D-AFFE-C3DE-9B9B-FE77AC9CEC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F448F6-D93C-C19C-B911-7BA9C2253C85}"/>
              </a:ext>
            </a:extLst>
          </p:cNvPr>
          <p:cNvSpPr>
            <a:spLocks noGrp="1"/>
          </p:cNvSpPr>
          <p:nvPr>
            <p:ph type="dt" sz="half" idx="10"/>
          </p:nvPr>
        </p:nvSpPr>
        <p:spPr/>
        <p:txBody>
          <a:bodyPr/>
          <a:lstStyle/>
          <a:p>
            <a:fld id="{4E5EF31F-957A-B04D-9580-84209CC1456D}" type="datetimeFigureOut">
              <a:rPr lang="en-US" smtClean="0"/>
              <a:t>10/12/25</a:t>
            </a:fld>
            <a:endParaRPr lang="en-US"/>
          </a:p>
        </p:txBody>
      </p:sp>
      <p:sp>
        <p:nvSpPr>
          <p:cNvPr id="8" name="Footer Placeholder 7">
            <a:extLst>
              <a:ext uri="{FF2B5EF4-FFF2-40B4-BE49-F238E27FC236}">
                <a16:creationId xmlns:a16="http://schemas.microsoft.com/office/drawing/2014/main" id="{D620A52C-9D2A-60CA-616D-EC18F85111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78D906-6C8E-D1A7-3EB7-957B4ECF8454}"/>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3100283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E113F-1609-51D0-13E4-9E3FE00C2A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39A955-5E11-39C3-689F-4EA61F1E9BA2}"/>
              </a:ext>
            </a:extLst>
          </p:cNvPr>
          <p:cNvSpPr>
            <a:spLocks noGrp="1"/>
          </p:cNvSpPr>
          <p:nvPr>
            <p:ph type="dt" sz="half" idx="10"/>
          </p:nvPr>
        </p:nvSpPr>
        <p:spPr/>
        <p:txBody>
          <a:bodyPr/>
          <a:lstStyle/>
          <a:p>
            <a:fld id="{4E5EF31F-957A-B04D-9580-84209CC1456D}" type="datetimeFigureOut">
              <a:rPr lang="en-US" smtClean="0"/>
              <a:t>10/12/25</a:t>
            </a:fld>
            <a:endParaRPr lang="en-US"/>
          </a:p>
        </p:txBody>
      </p:sp>
      <p:sp>
        <p:nvSpPr>
          <p:cNvPr id="4" name="Footer Placeholder 3">
            <a:extLst>
              <a:ext uri="{FF2B5EF4-FFF2-40B4-BE49-F238E27FC236}">
                <a16:creationId xmlns:a16="http://schemas.microsoft.com/office/drawing/2014/main" id="{68848571-8943-8A55-9210-87A69963DE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84298E-9BFB-2022-E18B-D575906B636E}"/>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1211034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A5C0CD-ACC3-1711-A50C-BCAC2ED129AF}"/>
              </a:ext>
            </a:extLst>
          </p:cNvPr>
          <p:cNvSpPr>
            <a:spLocks noGrp="1"/>
          </p:cNvSpPr>
          <p:nvPr>
            <p:ph type="dt" sz="half" idx="10"/>
          </p:nvPr>
        </p:nvSpPr>
        <p:spPr/>
        <p:txBody>
          <a:bodyPr/>
          <a:lstStyle/>
          <a:p>
            <a:fld id="{4E5EF31F-957A-B04D-9580-84209CC1456D}" type="datetimeFigureOut">
              <a:rPr lang="en-US" smtClean="0"/>
              <a:t>10/12/25</a:t>
            </a:fld>
            <a:endParaRPr lang="en-US"/>
          </a:p>
        </p:txBody>
      </p:sp>
      <p:sp>
        <p:nvSpPr>
          <p:cNvPr id="3" name="Footer Placeholder 2">
            <a:extLst>
              <a:ext uri="{FF2B5EF4-FFF2-40B4-BE49-F238E27FC236}">
                <a16:creationId xmlns:a16="http://schemas.microsoft.com/office/drawing/2014/main" id="{BFD706FC-F993-54B4-529A-CCC1F3C74E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9F4AAF-D2DD-DF38-574E-1BA0278B79F8}"/>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4044994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E9BA3-CF47-A7B0-6A55-9F4B54EC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447542-0EBE-1B7C-B853-8A38D9C35F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74CF41-C107-4671-E25B-AE495255B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8C1E82-CE3F-75B1-D79C-39620A316F82}"/>
              </a:ext>
            </a:extLst>
          </p:cNvPr>
          <p:cNvSpPr>
            <a:spLocks noGrp="1"/>
          </p:cNvSpPr>
          <p:nvPr>
            <p:ph type="dt" sz="half" idx="10"/>
          </p:nvPr>
        </p:nvSpPr>
        <p:spPr/>
        <p:txBody>
          <a:bodyPr/>
          <a:lstStyle/>
          <a:p>
            <a:fld id="{4E5EF31F-957A-B04D-9580-84209CC1456D}" type="datetimeFigureOut">
              <a:rPr lang="en-US" smtClean="0"/>
              <a:t>10/12/25</a:t>
            </a:fld>
            <a:endParaRPr lang="en-US"/>
          </a:p>
        </p:txBody>
      </p:sp>
      <p:sp>
        <p:nvSpPr>
          <p:cNvPr id="6" name="Footer Placeholder 5">
            <a:extLst>
              <a:ext uri="{FF2B5EF4-FFF2-40B4-BE49-F238E27FC236}">
                <a16:creationId xmlns:a16="http://schemas.microsoft.com/office/drawing/2014/main" id="{7A631A58-4242-A914-6938-369D3E1133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17B194-E0CE-C9FC-E488-9EC48892D56F}"/>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2611058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C6F68-D981-D5AD-FA94-03C57457EB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E039F2-926F-E931-7447-E4F95549A3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71F59C-EBC0-2316-3913-23F38C2DCB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545ABD-E260-7F86-560C-5DD8CA5D65BD}"/>
              </a:ext>
            </a:extLst>
          </p:cNvPr>
          <p:cNvSpPr>
            <a:spLocks noGrp="1"/>
          </p:cNvSpPr>
          <p:nvPr>
            <p:ph type="dt" sz="half" idx="10"/>
          </p:nvPr>
        </p:nvSpPr>
        <p:spPr/>
        <p:txBody>
          <a:bodyPr/>
          <a:lstStyle/>
          <a:p>
            <a:fld id="{4E5EF31F-957A-B04D-9580-84209CC1456D}" type="datetimeFigureOut">
              <a:rPr lang="en-US" smtClean="0"/>
              <a:t>10/12/25</a:t>
            </a:fld>
            <a:endParaRPr lang="en-US"/>
          </a:p>
        </p:txBody>
      </p:sp>
      <p:sp>
        <p:nvSpPr>
          <p:cNvPr id="6" name="Footer Placeholder 5">
            <a:extLst>
              <a:ext uri="{FF2B5EF4-FFF2-40B4-BE49-F238E27FC236}">
                <a16:creationId xmlns:a16="http://schemas.microsoft.com/office/drawing/2014/main" id="{B6E5B66A-F4F0-F63F-DFB6-DA7AE87E40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ADAE4C-C0CD-59CF-91EE-6B8D04DE24EC}"/>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1331333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96B65-C8F7-D6DC-95E6-29EF38C0BA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40DB8B-B8A5-3D75-1F7C-FA84F78A68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3234D7-3A0C-B207-0205-0E7BC63AEC56}"/>
              </a:ext>
            </a:extLst>
          </p:cNvPr>
          <p:cNvSpPr>
            <a:spLocks noGrp="1"/>
          </p:cNvSpPr>
          <p:nvPr>
            <p:ph type="dt" sz="half" idx="10"/>
          </p:nvPr>
        </p:nvSpPr>
        <p:spPr/>
        <p:txBody>
          <a:bodyPr/>
          <a:lstStyle/>
          <a:p>
            <a:fld id="{4E5EF31F-957A-B04D-9580-84209CC1456D}" type="datetimeFigureOut">
              <a:rPr lang="en-US" smtClean="0"/>
              <a:t>10/12/25</a:t>
            </a:fld>
            <a:endParaRPr lang="en-US"/>
          </a:p>
        </p:txBody>
      </p:sp>
      <p:sp>
        <p:nvSpPr>
          <p:cNvPr id="5" name="Footer Placeholder 4">
            <a:extLst>
              <a:ext uri="{FF2B5EF4-FFF2-40B4-BE49-F238E27FC236}">
                <a16:creationId xmlns:a16="http://schemas.microsoft.com/office/drawing/2014/main" id="{8815198E-8BBC-178F-8C2C-51707FBFAA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A28FA4-3352-8100-677C-3236156C02AB}"/>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1753607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CDA1C8-5DC4-109B-0B7F-0BFDE5588D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4A8F8E-E575-D163-C071-70EC282B05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F3CFC0-A22D-8E40-F28E-48F8597AD88D}"/>
              </a:ext>
            </a:extLst>
          </p:cNvPr>
          <p:cNvSpPr>
            <a:spLocks noGrp="1"/>
          </p:cNvSpPr>
          <p:nvPr>
            <p:ph type="dt" sz="half" idx="10"/>
          </p:nvPr>
        </p:nvSpPr>
        <p:spPr/>
        <p:txBody>
          <a:bodyPr/>
          <a:lstStyle/>
          <a:p>
            <a:fld id="{4E5EF31F-957A-B04D-9580-84209CC1456D}" type="datetimeFigureOut">
              <a:rPr lang="en-US" smtClean="0"/>
              <a:t>10/12/25</a:t>
            </a:fld>
            <a:endParaRPr lang="en-US"/>
          </a:p>
        </p:txBody>
      </p:sp>
      <p:sp>
        <p:nvSpPr>
          <p:cNvPr id="5" name="Footer Placeholder 4">
            <a:extLst>
              <a:ext uri="{FF2B5EF4-FFF2-40B4-BE49-F238E27FC236}">
                <a16:creationId xmlns:a16="http://schemas.microsoft.com/office/drawing/2014/main" id="{A8691C73-33B2-1611-2E1D-6AC6797A46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43250-B8FF-249F-1BD2-8C47FF7A6F95}"/>
              </a:ext>
            </a:extLst>
          </p:cNvPr>
          <p:cNvSpPr>
            <a:spLocks noGrp="1"/>
          </p:cNvSpPr>
          <p:nvPr>
            <p:ph type="sldNum" sz="quarter" idx="12"/>
          </p:nvPr>
        </p:nvSpPr>
        <p:spPr/>
        <p:txBody>
          <a:bodyPr/>
          <a:lstStyle/>
          <a:p>
            <a:fld id="{04C2B311-C7F5-4849-AB4E-7977E73CD623}" type="slidenum">
              <a:rPr lang="en-US" smtClean="0"/>
              <a:t>‹#›</a:t>
            </a:fld>
            <a:endParaRPr lang="en-US"/>
          </a:p>
        </p:txBody>
      </p:sp>
    </p:spTree>
    <p:extLst>
      <p:ext uri="{BB962C8B-B14F-4D97-AF65-F5344CB8AC3E}">
        <p14:creationId xmlns:p14="http://schemas.microsoft.com/office/powerpoint/2010/main" val="1563906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7EDA09-4280-6ABB-5731-A63713E06C38}"/>
              </a:ext>
            </a:extLst>
          </p:cNvPr>
          <p:cNvSpPr>
            <a:spLocks noGrp="1"/>
          </p:cNvSpPr>
          <p:nvPr>
            <p:ph type="title"/>
          </p:nvPr>
        </p:nvSpPr>
        <p:spPr>
          <a:xfrm>
            <a:off x="0" y="0"/>
            <a:ext cx="12192000" cy="864000"/>
          </a:xfrm>
          <a:prstGeom prst="rect">
            <a:avLst/>
          </a:prstGeom>
          <a:solidFill>
            <a:schemeClr val="tx2">
              <a:lumMod val="75000"/>
              <a:lumOff val="25000"/>
            </a:schemeClr>
          </a:solidFill>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1C4301-C108-EED1-C4DE-2B707A8057AC}"/>
              </a:ext>
            </a:extLst>
          </p:cNvPr>
          <p:cNvSpPr>
            <a:spLocks noGrp="1"/>
          </p:cNvSpPr>
          <p:nvPr>
            <p:ph type="body" idx="1"/>
          </p:nvPr>
        </p:nvSpPr>
        <p:spPr>
          <a:xfrm>
            <a:off x="838200" y="1316350"/>
            <a:ext cx="10515600" cy="5040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93223EF-3B7F-BEB5-F5FF-778B3EFBC4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5EF31F-957A-B04D-9580-84209CC1456D}" type="datetimeFigureOut">
              <a:rPr lang="en-US" smtClean="0"/>
              <a:t>10/12/25</a:t>
            </a:fld>
            <a:endParaRPr lang="en-US"/>
          </a:p>
        </p:txBody>
      </p:sp>
      <p:sp>
        <p:nvSpPr>
          <p:cNvPr id="5" name="Footer Placeholder 4">
            <a:extLst>
              <a:ext uri="{FF2B5EF4-FFF2-40B4-BE49-F238E27FC236}">
                <a16:creationId xmlns:a16="http://schemas.microsoft.com/office/drawing/2014/main" id="{6AF2664E-7466-E78C-3E0B-3DD43AFCA7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7F544FE-C022-FC2F-A429-0BA532EE39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C2B311-C7F5-4849-AB4E-7977E73CD623}" type="slidenum">
              <a:rPr lang="en-US" smtClean="0"/>
              <a:t>‹#›</a:t>
            </a:fld>
            <a:endParaRPr lang="en-US"/>
          </a:p>
        </p:txBody>
      </p:sp>
    </p:spTree>
    <p:extLst>
      <p:ext uri="{BB962C8B-B14F-4D97-AF65-F5344CB8AC3E}">
        <p14:creationId xmlns:p14="http://schemas.microsoft.com/office/powerpoint/2010/main" val="10097709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000" b="1" i="0" kern="1200">
          <a:solidFill>
            <a:schemeClr val="bg1"/>
          </a:solidFill>
          <a:latin typeface="Source Sans Pro" panose="020B0503030403020204" pitchFamily="34" charset="0"/>
          <a:ea typeface="Source Sans Pro" panose="020B0503030403020204" pitchFamily="34" charset="0"/>
          <a:cs typeface="Noto Sans ExtraBold" panose="020B0502040504020204" pitchFamily="34" charset="0"/>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2400" b="0" i="0" kern="1200">
          <a:solidFill>
            <a:schemeClr val="tx2">
              <a:lumMod val="75000"/>
              <a:lumOff val="25000"/>
            </a:schemeClr>
          </a:solidFill>
          <a:latin typeface="Source Sans Pro" panose="020B0503030403020204" pitchFamily="34" charset="0"/>
          <a:ea typeface="Source Sans Pro" panose="020B0503030403020204" pitchFamily="34" charset="0"/>
          <a:cs typeface="Noto Sans Medium" panose="020B050204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2">
              <a:lumMod val="50000"/>
            </a:schemeClr>
          </a:solidFill>
          <a:latin typeface="Source Sans Pro" panose="020B0503030403020204" pitchFamily="34" charset="0"/>
          <a:ea typeface="Source Sans Pro" panose="020B0503030403020204" pitchFamily="34" charset="0"/>
          <a:cs typeface="Noto Sans Medium" panose="020B050204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2">
              <a:lumMod val="50000"/>
            </a:schemeClr>
          </a:solidFill>
          <a:latin typeface="Source Sans Pro" panose="020B0503030403020204" pitchFamily="34" charset="0"/>
          <a:ea typeface="Source Sans Pro" panose="020B0503030403020204" pitchFamily="34" charset="0"/>
          <a:cs typeface="Noto Sans Medium" panose="020B050204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2">
              <a:lumMod val="50000"/>
            </a:schemeClr>
          </a:solidFill>
          <a:latin typeface="Source Sans Pro" panose="020B0503030403020204" pitchFamily="34" charset="0"/>
          <a:ea typeface="Source Sans Pro" panose="020B0503030403020204" pitchFamily="34" charset="0"/>
          <a:cs typeface="Noto Sans Medium" panose="020B050204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2">
              <a:lumMod val="50000"/>
            </a:schemeClr>
          </a:solidFill>
          <a:latin typeface="Source Sans Pro" panose="020B0503030403020204" pitchFamily="34" charset="0"/>
          <a:ea typeface="Source Sans Pro" panose="020B0503030403020204" pitchFamily="34" charset="0"/>
          <a:cs typeface="Noto Sans Medium"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F5A01-7F3D-5516-6CFE-30E58068087C}"/>
              </a:ext>
            </a:extLst>
          </p:cNvPr>
          <p:cNvSpPr>
            <a:spLocks noGrp="1"/>
          </p:cNvSpPr>
          <p:nvPr>
            <p:ph type="title"/>
          </p:nvPr>
        </p:nvSpPr>
        <p:spPr>
          <a:xfrm>
            <a:off x="831850" y="1709738"/>
            <a:ext cx="10515600" cy="2852737"/>
          </a:xfrm>
        </p:spPr>
        <p:txBody>
          <a:bodyPr/>
          <a:lstStyle/>
          <a:p>
            <a:pPr lvl="0"/>
            <a:r>
              <a:rPr lang="en-PH" dirty="0"/>
              <a:t>Realigning NHDR Implementation with UHC Principles</a:t>
            </a:r>
          </a:p>
        </p:txBody>
      </p:sp>
      <p:sp>
        <p:nvSpPr>
          <p:cNvPr id="4" name="Text Placeholder 3">
            <a:extLst>
              <a:ext uri="{FF2B5EF4-FFF2-40B4-BE49-F238E27FC236}">
                <a16:creationId xmlns:a16="http://schemas.microsoft.com/office/drawing/2014/main" id="{5E623897-5E39-5C59-E1B3-60BCFFE1D6A7}"/>
              </a:ext>
            </a:extLst>
          </p:cNvPr>
          <p:cNvSpPr>
            <a:spLocks noGrp="1"/>
          </p:cNvSpPr>
          <p:nvPr>
            <p:ph type="body" idx="1"/>
          </p:nvPr>
        </p:nvSpPr>
        <p:spPr>
          <a:xfrm>
            <a:off x="831850" y="4589463"/>
            <a:ext cx="10515600" cy="1500187"/>
          </a:xfrm>
        </p:spPr>
        <p:txBody>
          <a:bodyPr>
            <a:normAutofit/>
          </a:bodyPr>
          <a:lstStyle/>
          <a:p>
            <a:r>
              <a:rPr lang="en-PH" b="1" dirty="0"/>
              <a:t>Policy Position Paper</a:t>
            </a:r>
            <a:endParaRPr lang="en-US" b="1" dirty="0"/>
          </a:p>
          <a:p>
            <a:r>
              <a:rPr lang="en-US" sz="2000" dirty="0"/>
              <a:t>Dr. Mike Muin</a:t>
            </a:r>
            <a:endParaRPr lang="en-PH"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dirty="0"/>
              <a:t>Executive Summary</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dirty="0"/>
              <a:t>NHDR must be reimagined as an </a:t>
            </a:r>
            <a:r>
              <a:rPr lang="en-PH" b="1" dirty="0">
                <a:highlight>
                  <a:srgbClr val="FFFF00"/>
                </a:highlight>
              </a:rPr>
              <a:t>enabler</a:t>
            </a:r>
            <a:r>
              <a:rPr lang="en-PH" dirty="0">
                <a:highlight>
                  <a:srgbClr val="FFFF00"/>
                </a:highlight>
              </a:rPr>
              <a:t> of Universal Health Care</a:t>
            </a:r>
          </a:p>
          <a:p>
            <a:pPr lvl="0"/>
            <a:r>
              <a:rPr lang="en-PH" dirty="0"/>
              <a:t>Fundamental shift needed: prioritize local health system empowerment</a:t>
            </a:r>
          </a:p>
          <a:p>
            <a:pPr lvl="0"/>
            <a:r>
              <a:rPr lang="en-PH" dirty="0"/>
              <a:t>Align with actual service delivery and financing accountability</a:t>
            </a:r>
          </a:p>
          <a:p>
            <a:pPr lvl="0"/>
            <a:r>
              <a:rPr lang="en-PH" dirty="0"/>
              <a:t>Create </a:t>
            </a:r>
            <a:r>
              <a:rPr lang="en-PH" b="1" dirty="0">
                <a:highlight>
                  <a:srgbClr val="FFFD78"/>
                </a:highlight>
              </a:rPr>
              <a:t>genuine clinical value </a:t>
            </a:r>
            <a:r>
              <a:rPr lang="en-PH" dirty="0"/>
              <a:t>before national aggregation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Introduction: The UHC Mandate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b="1" dirty="0"/>
              <a:t>Universal Health Care Act</a:t>
            </a:r>
            <a:r>
              <a:rPr lang="en-PH" dirty="0"/>
              <a:t>:</a:t>
            </a:r>
          </a:p>
          <a:p>
            <a:pPr lvl="1"/>
            <a:r>
              <a:rPr lang="en-PH" dirty="0"/>
              <a:t>Equitable access to quality, affordable health care</a:t>
            </a:r>
          </a:p>
          <a:p>
            <a:pPr lvl="0"/>
            <a:r>
              <a:rPr lang="en-PH" b="1" dirty="0"/>
              <a:t>P/CWHS </a:t>
            </a:r>
            <a:r>
              <a:rPr lang="en-PH" dirty="0"/>
              <a:t>established as integrated service delivery model</a:t>
            </a:r>
          </a:p>
          <a:p>
            <a:pPr lvl="0"/>
            <a:r>
              <a:rPr lang="en-PH" b="1" dirty="0"/>
              <a:t>HCPNs </a:t>
            </a:r>
            <a:r>
              <a:rPr lang="en-PH" dirty="0"/>
              <a:t>operationalize coordination </a:t>
            </a:r>
            <a:r>
              <a:rPr lang="en-PH" dirty="0">
                <a:highlight>
                  <a:srgbClr val="FFFD78"/>
                </a:highlight>
              </a:rPr>
              <a:t>from primary to tertiary care</a:t>
            </a:r>
          </a:p>
          <a:p>
            <a:pPr lvl="0"/>
            <a:r>
              <a:rPr lang="en-PH" b="1" dirty="0"/>
              <a:t>NHDR </a:t>
            </a:r>
            <a:r>
              <a:rPr lang="en-PH" dirty="0"/>
              <a:t>mandated as authoritative repository of health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The Core Issue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lvl="0"/>
            <a:r>
              <a:rPr lang="en-PH" dirty="0"/>
              <a:t>NHDR must follow, enable, and implement UHC principles</a:t>
            </a:r>
          </a:p>
          <a:p>
            <a:pPr lvl="0"/>
            <a:r>
              <a:rPr lang="en-PH" dirty="0"/>
              <a:t>Should </a:t>
            </a:r>
            <a:r>
              <a:rPr lang="en-PH" b="1" dirty="0">
                <a:highlight>
                  <a:srgbClr val="FFFF00"/>
                </a:highlight>
              </a:rPr>
              <a:t>not operate </a:t>
            </a:r>
            <a:r>
              <a:rPr lang="en-PH" dirty="0"/>
              <a:t>as </a:t>
            </a:r>
            <a:r>
              <a:rPr lang="en-PH" b="1" dirty="0">
                <a:highlight>
                  <a:srgbClr val="FFFF00"/>
                </a:highlight>
              </a:rPr>
              <a:t>separate national data collection exercise</a:t>
            </a:r>
          </a:p>
          <a:p>
            <a:pPr lvl="0"/>
            <a:r>
              <a:rPr lang="en-PH" dirty="0"/>
              <a:t>Cannot bypass health system structures that UHC creates</a:t>
            </a:r>
          </a:p>
          <a:p>
            <a:pPr lvl="0"/>
            <a:r>
              <a:rPr lang="en-PH" dirty="0"/>
              <a:t>Must align with the integrated service delivery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Argument 1: Legal Accountability at P/CWHS Level</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Established Facts from UHC Act:</a:t>
            </a:r>
          </a:p>
          <a:p>
            <a:pPr lvl="0"/>
            <a:r>
              <a:rPr lang="en-PH" dirty="0"/>
              <a:t>HCPNs responsible for </a:t>
            </a:r>
            <a:r>
              <a:rPr lang="en-PH" b="1" dirty="0">
                <a:highlight>
                  <a:srgbClr val="FFFF00"/>
                </a:highlight>
              </a:rPr>
              <a:t>continuum of care delivery</a:t>
            </a:r>
          </a:p>
          <a:p>
            <a:pPr lvl="0"/>
            <a:r>
              <a:rPr lang="en-PH" dirty="0"/>
              <a:t>Must </a:t>
            </a:r>
            <a:r>
              <a:rPr lang="en-PH" b="1" dirty="0"/>
              <a:t>coordinate patient referrals </a:t>
            </a:r>
            <a:r>
              <a:rPr lang="en-PH" dirty="0"/>
              <a:t>and </a:t>
            </a:r>
            <a:r>
              <a:rPr lang="en-PH" b="1" dirty="0"/>
              <a:t>ensure continuity</a:t>
            </a:r>
          </a:p>
          <a:p>
            <a:pPr lvl="0"/>
            <a:r>
              <a:rPr lang="en-PH" dirty="0"/>
              <a:t>Required to establish </a:t>
            </a:r>
            <a:r>
              <a:rPr lang="en-PH" b="1" dirty="0"/>
              <a:t>interoperable EMR systems </a:t>
            </a:r>
            <a:r>
              <a:rPr lang="en-PH" dirty="0"/>
              <a:t>with real-time information-sharing</a:t>
            </a:r>
          </a:p>
          <a:p>
            <a:pPr lvl="0"/>
            <a:r>
              <a:rPr lang="en-PH" dirty="0"/>
              <a:t>P/CWHS manage </a:t>
            </a:r>
            <a:r>
              <a:rPr lang="en-PH" b="1" dirty="0"/>
              <a:t>Special Health Fund</a:t>
            </a:r>
            <a:r>
              <a:rPr lang="en-PH" dirty="0"/>
              <a:t> from DOH and PhilHealth streams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Argument 1: Legal Accountability (continued)</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Statutory Authority:</a:t>
            </a:r>
          </a:p>
          <a:p>
            <a:pPr lvl="0"/>
            <a:r>
              <a:rPr lang="en-PH" dirty="0"/>
              <a:t>Provincial and City Health Boards have authority over health facilities</a:t>
            </a:r>
          </a:p>
          <a:p>
            <a:pPr lvl="0"/>
            <a:r>
              <a:rPr lang="en-PH" dirty="0"/>
              <a:t>P/CHBs manage pooled resources through SHF</a:t>
            </a:r>
          </a:p>
          <a:p>
            <a:pPr lvl="0"/>
            <a:r>
              <a:rPr lang="en-PH" b="1" dirty="0">
                <a:highlight>
                  <a:srgbClr val="FFFF00"/>
                </a:highlight>
              </a:rPr>
              <a:t>Legally designated stewards of integrated health systems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1: Position</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If legal accountability resides at P/CWHS level, then </a:t>
            </a:r>
            <a:r>
              <a:rPr lang="en-PH" b="1" dirty="0">
                <a:highlight>
                  <a:srgbClr val="FFFF00"/>
                </a:highlight>
              </a:rPr>
              <a:t>operational HIE capability </a:t>
            </a:r>
            <a:r>
              <a:rPr lang="en-PH" b="1" dirty="0"/>
              <a:t>should also be established at this level</a:t>
            </a:r>
            <a:endParaRPr lang="en-PH" dirty="0"/>
          </a:p>
          <a:p>
            <a:pPr lvl="0"/>
            <a:r>
              <a:rPr lang="en-PH" dirty="0"/>
              <a:t>Enables entities to fulfill mandated responsibilities</a:t>
            </a:r>
          </a:p>
          <a:p>
            <a:pPr lvl="0"/>
            <a:r>
              <a:rPr lang="en-PH" dirty="0"/>
              <a:t>Data must serve those legally responsible for patient outcomes</a:t>
            </a:r>
          </a:p>
          <a:p>
            <a:pPr lvl="0"/>
            <a:r>
              <a:rPr lang="en-PH" dirty="0"/>
              <a:t>Care coordination is primarily intra-P/CWHS workflow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1: The Practical Reality</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Primary clinical workflow: care coordination within patient pathways</a:t>
            </a:r>
          </a:p>
          <a:p>
            <a:pPr lvl="0"/>
            <a:r>
              <a:rPr lang="en-PH" dirty="0"/>
              <a:t>Pregnant woman: rural health unit → district hospital → postpartum care</a:t>
            </a:r>
          </a:p>
          <a:p>
            <a:pPr lvl="0"/>
            <a:r>
              <a:rPr lang="en-PH" dirty="0"/>
              <a:t>Diabetic patient: city health center → city hospital for specialist care</a:t>
            </a:r>
          </a:p>
          <a:p>
            <a:pPr lvl="0"/>
            <a:r>
              <a:rPr lang="en-PH" dirty="0"/>
              <a:t>Emergency patient: arriving unconscious with scattered medical history</a:t>
            </a:r>
          </a:p>
          <a:p>
            <a:pPr lvl="0"/>
            <a:endParaRPr lang="en-PH" dirty="0"/>
          </a:p>
          <a:p>
            <a:pPr lvl="0"/>
            <a:r>
              <a:rPr lang="en-PH" b="1" dirty="0">
                <a:highlight>
                  <a:srgbClr val="FFFF00"/>
                </a:highlight>
              </a:rPr>
              <a:t>Majority of workflows occur within single P/CWHS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Argument 1: The Fundamental Misalignment</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When NHDR extracts data directly from facilities to national repository:</a:t>
            </a:r>
          </a:p>
          <a:p>
            <a:pPr lvl="0"/>
            <a:r>
              <a:rPr lang="en-PH" dirty="0"/>
              <a:t>Disconnects information flow from legal accountability relationships</a:t>
            </a:r>
          </a:p>
          <a:p>
            <a:pPr lvl="0"/>
            <a:r>
              <a:rPr lang="en-PH" dirty="0"/>
              <a:t>Facilities submit data upward for national purposes</a:t>
            </a:r>
          </a:p>
          <a:p>
            <a:pPr lvl="0"/>
            <a:r>
              <a:rPr lang="en-PH" dirty="0"/>
              <a:t>Cannot share information horizontally with HCPN partners</a:t>
            </a:r>
          </a:p>
          <a:p>
            <a:pPr lvl="0"/>
            <a:r>
              <a:rPr lang="en-PH" b="1" dirty="0">
                <a:highlight>
                  <a:srgbClr val="FFFF00"/>
                </a:highlight>
              </a:rPr>
              <a:t>Contradicts contractual accountability </a:t>
            </a:r>
            <a:r>
              <a:rPr lang="en-PH" dirty="0"/>
              <a:t>for coordinated patient care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2: Sustainable Financing</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Established Facts from UHC Act:</a:t>
            </a:r>
          </a:p>
          <a:p>
            <a:pPr lvl="0"/>
            <a:r>
              <a:rPr lang="en-PH" dirty="0"/>
              <a:t>Two distinct financing streams converge at P/CWHS level</a:t>
            </a:r>
          </a:p>
          <a:p>
            <a:pPr lvl="1"/>
            <a:r>
              <a:rPr lang="en-PH" dirty="0"/>
              <a:t>Population-based services: DOH-funded through tax revenues to P/CWHS</a:t>
            </a:r>
          </a:p>
          <a:p>
            <a:pPr lvl="1"/>
            <a:r>
              <a:rPr lang="en-PH" dirty="0"/>
              <a:t>Individual-based services: PhilHealth-funded through premiums to HCPNs</a:t>
            </a:r>
          </a:p>
          <a:p>
            <a:pPr lvl="0"/>
            <a:r>
              <a:rPr lang="en-PH" dirty="0"/>
              <a:t>Both pooled in Special Health Fund</a:t>
            </a:r>
          </a:p>
          <a:p>
            <a:pPr lvl="0"/>
            <a:r>
              <a:rPr lang="en-PH" dirty="0"/>
              <a:t>Governed by Provincial and City Health Boards</a:t>
            </a:r>
          </a:p>
          <a:p>
            <a:pPr lvl="0"/>
            <a:r>
              <a:rPr lang="en-PH" dirty="0"/>
              <a:t>NHDR mandated to support both DOH and PhilHealth data requirements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Argument 2: Implementation Experience Pattern</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Observed from field implementation:</a:t>
            </a:r>
          </a:p>
          <a:p>
            <a:pPr lvl="0"/>
            <a:r>
              <a:rPr lang="en-PH" dirty="0"/>
              <a:t>Systems delivering </a:t>
            </a:r>
            <a:r>
              <a:rPr lang="en-PH" b="1" dirty="0">
                <a:highlight>
                  <a:srgbClr val="FFFF00"/>
                </a:highlight>
              </a:rPr>
              <a:t>tangible operational value </a:t>
            </a:r>
            <a:r>
              <a:rPr lang="en-PH" dirty="0"/>
              <a:t>achieve </a:t>
            </a:r>
            <a:r>
              <a:rPr lang="en-PH" b="1" dirty="0">
                <a:highlight>
                  <a:srgbClr val="FFFF00"/>
                </a:highlight>
              </a:rPr>
              <a:t>higher adoption</a:t>
            </a:r>
            <a:endParaRPr lang="en-PH" dirty="0"/>
          </a:p>
          <a:p>
            <a:pPr lvl="0"/>
            <a:r>
              <a:rPr lang="en-PH" dirty="0"/>
              <a:t>When clinicians access patient histories, nurses transmit results electronically, users become system advocates and champions</a:t>
            </a:r>
          </a:p>
          <a:p>
            <a:pPr lvl="0"/>
            <a:r>
              <a:rPr lang="en-PH" dirty="0"/>
              <a:t>Systems perceived as data extraction tools create burden without local benefit, generate user resistance and sustainability challenges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2: Position on Value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HIE infrastructure should be financed where it creates direct operational value</a:t>
            </a:r>
          </a:p>
          <a:p>
            <a:pPr lvl="0"/>
            <a:r>
              <a:rPr lang="en-PH" dirty="0"/>
              <a:t>Value created first at local level through:</a:t>
            </a:r>
          </a:p>
          <a:p>
            <a:pPr lvl="1"/>
            <a:r>
              <a:rPr lang="en-PH" dirty="0"/>
              <a:t>Improved clinical workflows</a:t>
            </a:r>
          </a:p>
          <a:p>
            <a:pPr lvl="1"/>
            <a:r>
              <a:rPr lang="en-PH" dirty="0"/>
              <a:t>Reduced duplicate testing</a:t>
            </a:r>
          </a:p>
          <a:p>
            <a:pPr lvl="1"/>
            <a:r>
              <a:rPr lang="en-PH" dirty="0"/>
              <a:t>Enhanced referral coordination</a:t>
            </a:r>
          </a:p>
          <a:p>
            <a:pPr lvl="1"/>
            <a:r>
              <a:rPr lang="en-PH" dirty="0"/>
              <a:t>Better care continuity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2: The Business Case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When HIE delivers tangible local value supporting P/CWHS mandates:</a:t>
            </a:r>
          </a:p>
          <a:p>
            <a:pPr lvl="0"/>
            <a:r>
              <a:rPr lang="en-PH" dirty="0"/>
              <a:t>Business case for SHF investment becomes rational</a:t>
            </a:r>
          </a:p>
          <a:p>
            <a:pPr lvl="0"/>
            <a:r>
              <a:rPr lang="en-PH" dirty="0"/>
              <a:t>Provinces and cities can justify investment</a:t>
            </a:r>
          </a:p>
          <a:p>
            <a:pPr lvl="0"/>
            <a:r>
              <a:rPr lang="en-PH" dirty="0"/>
              <a:t>Directly improves ability to fulfill legal mandate</a:t>
            </a:r>
          </a:p>
          <a:p>
            <a:pPr lvl="0"/>
            <a:r>
              <a:rPr lang="en-PH" dirty="0"/>
              <a:t>Supports integrated service delivery and pooled resource management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2: The Risk of Misalignment</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When NHDR structured primarily for national aggregation:</a:t>
            </a:r>
          </a:p>
          <a:p>
            <a:pPr lvl="0"/>
            <a:r>
              <a:rPr lang="en-PH" dirty="0"/>
              <a:t>Risks becoming unfunded mandate</a:t>
            </a:r>
          </a:p>
          <a:p>
            <a:pPr lvl="0"/>
            <a:r>
              <a:rPr lang="en-PH" dirty="0"/>
              <a:t>Effort and cost burden falls on local facilities</a:t>
            </a:r>
          </a:p>
          <a:p>
            <a:pPr lvl="0"/>
            <a:r>
              <a:rPr lang="en-PH" dirty="0"/>
              <a:t>Benefits accrue primarily to national policymakers</a:t>
            </a:r>
          </a:p>
          <a:p>
            <a:pPr lvl="0"/>
            <a:r>
              <a:rPr lang="en-PH" dirty="0"/>
              <a:t>SHF investment difficult to justify without local value</a:t>
            </a:r>
          </a:p>
          <a:p>
            <a:pPr lvl="0"/>
            <a:r>
              <a:rPr lang="en-PH" dirty="0"/>
              <a:t>Long-term sustainability remains uncertain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2: Financing Policy Position</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Primary financing model:</a:t>
            </a:r>
          </a:p>
          <a:p>
            <a:pPr lvl="0"/>
            <a:r>
              <a:rPr lang="en-PH" dirty="0"/>
              <a:t>SHF investment in local HIE capability</a:t>
            </a:r>
          </a:p>
          <a:p>
            <a:pPr lvl="0"/>
            <a:r>
              <a:rPr lang="en-PH" dirty="0"/>
              <a:t>Serves P/CWHS operational needs</a:t>
            </a:r>
          </a:p>
          <a:p>
            <a:pPr lvl="0"/>
            <a:r>
              <a:rPr lang="en-PH" dirty="0"/>
              <a:t>National data aggregation emerges as </a:t>
            </a:r>
            <a:r>
              <a:rPr lang="en-PH" b="1" dirty="0">
                <a:highlight>
                  <a:srgbClr val="FFFF00"/>
                </a:highlight>
              </a:rPr>
              <a:t>derivative benefit</a:t>
            </a:r>
            <a:r>
              <a:rPr lang="en-PH" dirty="0"/>
              <a:t>, not the sole justification for investment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3: Implementation Sequencing</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LHS ML Framework - Established Facts:</a:t>
            </a:r>
          </a:p>
          <a:p>
            <a:pPr lvl="0"/>
            <a:r>
              <a:rPr lang="en-PH" dirty="0"/>
              <a:t>Local Health Systems Maturity Levels with progressive stages</a:t>
            </a:r>
          </a:p>
          <a:p>
            <a:pPr lvl="0"/>
            <a:r>
              <a:rPr lang="en-PH" dirty="0"/>
              <a:t>Recognizes integration as </a:t>
            </a:r>
            <a:r>
              <a:rPr lang="en-PH" b="1" dirty="0">
                <a:highlight>
                  <a:srgbClr val="FFFF00"/>
                </a:highlight>
              </a:rPr>
              <a:t>developmental process</a:t>
            </a:r>
          </a:p>
          <a:p>
            <a:pPr lvl="0"/>
            <a:r>
              <a:rPr lang="en-PH" dirty="0"/>
              <a:t>Requires methodical progression through stages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3: Stage 1 - Preparatory</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Information Track Requirements:</a:t>
            </a:r>
          </a:p>
          <a:p>
            <a:pPr lvl="0"/>
            <a:r>
              <a:rPr lang="en-PH" dirty="0"/>
              <a:t>Focus on readiness, baseline assessment, and planning</a:t>
            </a:r>
          </a:p>
          <a:p>
            <a:pPr lvl="0"/>
            <a:r>
              <a:rPr lang="en-PH" dirty="0"/>
              <a:t>Conduct </a:t>
            </a:r>
            <a:r>
              <a:rPr lang="en-PH" b="1" dirty="0">
                <a:highlight>
                  <a:srgbClr val="FFFF00"/>
                </a:highlight>
              </a:rPr>
              <a:t>baseline assessment </a:t>
            </a:r>
            <a:r>
              <a:rPr lang="en-PH" dirty="0"/>
              <a:t>and </a:t>
            </a:r>
            <a:r>
              <a:rPr lang="en-PH" b="1" dirty="0">
                <a:highlight>
                  <a:srgbClr val="FFFF00"/>
                </a:highlight>
              </a:rPr>
              <a:t>gaps analysis</a:t>
            </a:r>
          </a:p>
          <a:p>
            <a:pPr lvl="0"/>
            <a:r>
              <a:rPr lang="en-PH" dirty="0"/>
              <a:t>Identify investment needs for health information management and ICT systems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3: Stage 2 - Organizational</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Information Track Requirements:</a:t>
            </a:r>
          </a:p>
          <a:p>
            <a:pPr lvl="0"/>
            <a:r>
              <a:rPr lang="en-PH" dirty="0"/>
              <a:t>Focus on </a:t>
            </a:r>
            <a:r>
              <a:rPr lang="en-PH" b="1" dirty="0">
                <a:highlight>
                  <a:srgbClr val="FFFF00"/>
                </a:highlight>
              </a:rPr>
              <a:t>system development</a:t>
            </a:r>
            <a:r>
              <a:rPr lang="en-PH" dirty="0"/>
              <a:t> and </a:t>
            </a:r>
            <a:r>
              <a:rPr lang="en-PH" b="1" dirty="0">
                <a:highlight>
                  <a:srgbClr val="FFFF00"/>
                </a:highlight>
              </a:rPr>
              <a:t>capacity building</a:t>
            </a:r>
          </a:p>
          <a:p>
            <a:pPr lvl="0"/>
            <a:r>
              <a:rPr lang="en-PH" dirty="0"/>
              <a:t>Establish health information management and ICT development plans</a:t>
            </a:r>
          </a:p>
          <a:p>
            <a:pPr lvl="0"/>
            <a:r>
              <a:rPr lang="en-PH" dirty="0"/>
              <a:t>Implement functional EMR systems capable of submitting reports to DOH and PhilHealth</a:t>
            </a:r>
          </a:p>
          <a:p>
            <a:pPr lvl="0"/>
            <a:r>
              <a:rPr lang="en-PH" dirty="0"/>
              <a:t>Planning for NHDR begins</a:t>
            </a:r>
          </a:p>
          <a:p>
            <a:pPr lvl="0"/>
            <a:r>
              <a:rPr lang="en-PH" b="1" dirty="0">
                <a:highlight>
                  <a:srgbClr val="FFFF00"/>
                </a:highlight>
              </a:rPr>
              <a:t>Establish national health data standards for interoperability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3: Stage 3 - Operational</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Information Track Requirements:</a:t>
            </a:r>
          </a:p>
          <a:p>
            <a:pPr lvl="0"/>
            <a:r>
              <a:rPr lang="en-PH" dirty="0"/>
              <a:t>Focus on </a:t>
            </a:r>
            <a:r>
              <a:rPr lang="en-PH" b="1" dirty="0">
                <a:highlight>
                  <a:srgbClr val="FFFF00"/>
                </a:highlight>
              </a:rPr>
              <a:t>full operationalization</a:t>
            </a:r>
          </a:p>
          <a:p>
            <a:pPr lvl="0"/>
            <a:r>
              <a:rPr lang="en-PH" dirty="0"/>
              <a:t>Validated </a:t>
            </a:r>
            <a:r>
              <a:rPr lang="en-PH" b="1" dirty="0">
                <a:highlight>
                  <a:srgbClr val="FFFF00"/>
                </a:highlight>
              </a:rPr>
              <a:t>EMR systems linking PCPNs to secondary and tertiary providers</a:t>
            </a:r>
          </a:p>
          <a:p>
            <a:pPr lvl="0"/>
            <a:r>
              <a:rPr lang="en-PH" dirty="0"/>
              <a:t>Compliance with national health data standards for interoperability</a:t>
            </a:r>
          </a:p>
          <a:p>
            <a:pPr lvl="0"/>
            <a:r>
              <a:rPr lang="en-PH" dirty="0"/>
              <a:t>NHDR operational as single point of submission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3: Position on Sequencing</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NHDR strategy should align with maturity progression:</a:t>
            </a:r>
          </a:p>
          <a:p>
            <a:pPr lvl="0"/>
            <a:r>
              <a:rPr lang="en-PH" dirty="0"/>
              <a:t>Stage 1 alignment: National efforts on standards, specifications, SCIV</a:t>
            </a:r>
          </a:p>
          <a:p>
            <a:pPr lvl="0"/>
            <a:r>
              <a:rPr lang="en-PH" dirty="0"/>
              <a:t>Stage 2 alignment: Priority on </a:t>
            </a:r>
            <a:r>
              <a:rPr lang="en-PH" b="1" dirty="0">
                <a:highlight>
                  <a:srgbClr val="FFFF00"/>
                </a:highlight>
              </a:rPr>
              <a:t>functional HIE within HCPNs and P/CWHS</a:t>
            </a:r>
          </a:p>
          <a:p>
            <a:pPr lvl="0"/>
            <a:r>
              <a:rPr lang="en-PH" dirty="0"/>
              <a:t>Stage 3 alignment: National aggregation when local systems functional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3: The Reversal Problem</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Implementing national submission before local exchange capability:</a:t>
            </a:r>
          </a:p>
          <a:p>
            <a:pPr lvl="0"/>
            <a:r>
              <a:rPr lang="en-PH" dirty="0"/>
              <a:t>Reverses developmental logic of LHS ML framework</a:t>
            </a:r>
          </a:p>
          <a:p>
            <a:pPr lvl="0"/>
            <a:r>
              <a:rPr lang="en-PH" dirty="0"/>
              <a:t>Asks facilities to report upward before communicating horizontally</a:t>
            </a:r>
          </a:p>
          <a:p>
            <a:pPr lvl="0"/>
            <a:r>
              <a:rPr lang="en-PH" dirty="0">
                <a:highlight>
                  <a:srgbClr val="FFFF00"/>
                </a:highlight>
              </a:rPr>
              <a:t>Prioritizes </a:t>
            </a:r>
            <a:r>
              <a:rPr lang="en-PH" b="1" dirty="0">
                <a:highlight>
                  <a:srgbClr val="FFFF00"/>
                </a:highlight>
              </a:rPr>
              <a:t>national policy needs </a:t>
            </a:r>
            <a:r>
              <a:rPr lang="en-PH" dirty="0">
                <a:highlight>
                  <a:srgbClr val="FFFF00"/>
                </a:highlight>
              </a:rPr>
              <a:t>over </a:t>
            </a:r>
            <a:r>
              <a:rPr lang="en-PH" b="1" dirty="0">
                <a:highlight>
                  <a:srgbClr val="FFFF00"/>
                </a:highlight>
              </a:rPr>
              <a:t>clinical care coordination</a:t>
            </a:r>
          </a:p>
          <a:p>
            <a:pPr lvl="0"/>
            <a:r>
              <a:rPr lang="en-PH" dirty="0"/>
              <a:t>Contradicts UHC Act mandates for HCPN coordination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Argument 3: Success Measurement</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NHDR governance should measure:</a:t>
            </a:r>
          </a:p>
          <a:p>
            <a:pPr lvl="0"/>
            <a:r>
              <a:rPr lang="en-PH" dirty="0">
                <a:highlight>
                  <a:srgbClr val="FFFF00"/>
                </a:highlight>
              </a:rPr>
              <a:t>Local HCPN functionality metrics first</a:t>
            </a:r>
          </a:p>
          <a:p>
            <a:pPr lvl="0"/>
            <a:r>
              <a:rPr lang="en-PH" dirty="0"/>
              <a:t>Before intensifying national aggregation requirements</a:t>
            </a:r>
          </a:p>
          <a:p>
            <a:pPr lvl="0"/>
            <a:r>
              <a:rPr lang="en-PH" dirty="0"/>
              <a:t>Align timeline with LHS ML progression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Policy Position 1: NHDR as Network of Networks</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normAutofit/>
          </a:bodyPr>
          <a:lstStyle/>
          <a:p>
            <a:pPr marL="0" lvl="0" indent="0">
              <a:buNone/>
            </a:pPr>
            <a:r>
              <a:rPr lang="en-PH" b="1" dirty="0"/>
              <a:t>Establish NHDR architecture as federation of local HIEs:</a:t>
            </a:r>
          </a:p>
          <a:p>
            <a:pPr lvl="0"/>
            <a:r>
              <a:rPr lang="en-PH" dirty="0">
                <a:highlight>
                  <a:srgbClr val="FFFF00"/>
                </a:highlight>
              </a:rPr>
              <a:t>Primary data exchange operates at P/CWHS level</a:t>
            </a:r>
          </a:p>
          <a:p>
            <a:pPr lvl="0"/>
            <a:r>
              <a:rPr lang="en-PH" dirty="0"/>
              <a:t>Enables HCPN members to share patient information and coordinate care</a:t>
            </a:r>
          </a:p>
          <a:p>
            <a:pPr lvl="0"/>
            <a:r>
              <a:rPr lang="en-PH" dirty="0"/>
              <a:t>National aggregation through federation of local exchanges</a:t>
            </a:r>
          </a:p>
          <a:p>
            <a:pPr lvl="0"/>
            <a:r>
              <a:rPr lang="en-PH" dirty="0"/>
              <a:t>P/CWHS systems submit consolidated data after serving local needs</a:t>
            </a:r>
          </a:p>
          <a:p>
            <a:pPr lvl="0"/>
            <a:r>
              <a:rPr lang="en-PH" b="1" dirty="0">
                <a:highlight>
                  <a:srgbClr val="FFFF00"/>
                </a:highlight>
              </a:rPr>
              <a:t>NHDR as integration hub </a:t>
            </a:r>
            <a:r>
              <a:rPr lang="en-PH" dirty="0"/>
              <a:t>for standardized data from autonomous but interoperable systems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Policy Position 1: Alignment Principle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This approach respects co-location of accountability and information capability:</a:t>
            </a:r>
          </a:p>
          <a:p>
            <a:pPr lvl="0"/>
            <a:r>
              <a:rPr lang="en-PH" dirty="0"/>
              <a:t>P/CWHS have authority over health facilities</a:t>
            </a:r>
          </a:p>
          <a:p>
            <a:pPr lvl="0"/>
            <a:r>
              <a:rPr lang="en-PH" dirty="0">
                <a:highlight>
                  <a:srgbClr val="FFFF00"/>
                </a:highlight>
              </a:rPr>
              <a:t>P/CWHS have </a:t>
            </a:r>
            <a:r>
              <a:rPr lang="en-PH" b="1" dirty="0">
                <a:highlight>
                  <a:srgbClr val="FFFF00"/>
                </a:highlight>
              </a:rPr>
              <a:t>responsibility for health outcomes</a:t>
            </a:r>
          </a:p>
          <a:p>
            <a:pPr lvl="0"/>
            <a:r>
              <a:rPr lang="en-PH" dirty="0"/>
              <a:t>P/CWHS must have operational control over information systems</a:t>
            </a:r>
          </a:p>
          <a:p>
            <a:pPr lvl="0"/>
            <a:r>
              <a:rPr lang="en-PH" dirty="0"/>
              <a:t>Supports fulfillment of legal functions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Policy Position 2: Reorient NHDR Governance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Shift from national reporting to local service delivery enablement:</a:t>
            </a:r>
          </a:p>
          <a:p>
            <a:pPr lvl="0"/>
            <a:r>
              <a:rPr lang="en-PH" dirty="0"/>
              <a:t>DOH and PhilHealth frameworks prioritize local HIE functionality</a:t>
            </a:r>
          </a:p>
          <a:p>
            <a:pPr lvl="0"/>
            <a:r>
              <a:rPr lang="en-PH" dirty="0"/>
              <a:t>Success metrics focus on </a:t>
            </a:r>
            <a:r>
              <a:rPr lang="en-PH" b="1" dirty="0">
                <a:highlight>
                  <a:srgbClr val="FFFF00"/>
                </a:highlight>
              </a:rPr>
              <a:t>clinical and operational outcomes</a:t>
            </a:r>
          </a:p>
          <a:p>
            <a:pPr lvl="1"/>
            <a:r>
              <a:rPr lang="en-PH" dirty="0"/>
              <a:t>Referral completion rates</a:t>
            </a:r>
          </a:p>
          <a:p>
            <a:pPr lvl="1"/>
            <a:r>
              <a:rPr lang="en-PH" dirty="0"/>
              <a:t>Medication reconciliation accuracy</a:t>
            </a:r>
          </a:p>
          <a:p>
            <a:pPr lvl="1"/>
            <a:r>
              <a:rPr lang="en-PH" dirty="0"/>
              <a:t>Emergency information availability</a:t>
            </a:r>
          </a:p>
          <a:p>
            <a:pPr lvl="0"/>
            <a:r>
              <a:rPr lang="en-PH" dirty="0"/>
              <a:t>Not just data submission timeliness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Policy Position 2: Investment and Regulation</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Reorient priorities:</a:t>
            </a:r>
          </a:p>
          <a:p>
            <a:pPr lvl="0"/>
            <a:r>
              <a:rPr lang="en-PH" dirty="0"/>
              <a:t>Investment priorities channel resources to P/CWHS HIE infrastructure</a:t>
            </a:r>
          </a:p>
          <a:p>
            <a:pPr lvl="0"/>
            <a:r>
              <a:rPr lang="en-PH" b="1" dirty="0">
                <a:highlight>
                  <a:srgbClr val="FFFF00"/>
                </a:highlight>
              </a:rPr>
              <a:t>Capacity building</a:t>
            </a:r>
            <a:r>
              <a:rPr lang="en-PH" dirty="0">
                <a:highlight>
                  <a:srgbClr val="FFFF00"/>
                </a:highlight>
              </a:rPr>
              <a:t> before national data center expansion</a:t>
            </a:r>
          </a:p>
          <a:p>
            <a:pPr lvl="0"/>
            <a:r>
              <a:rPr lang="en-PH" dirty="0"/>
              <a:t>Regulatory requirements mandate HCPN information exchange capability</a:t>
            </a:r>
          </a:p>
          <a:p>
            <a:pPr lvl="0"/>
            <a:r>
              <a:rPr lang="en-PH" dirty="0"/>
              <a:t>As core network function, not just data submission compliance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fontScale="90000"/>
          </a:bodyPr>
          <a:lstStyle/>
          <a:p>
            <a:pPr lvl="0"/>
            <a:r>
              <a:rPr lang="en-PH"/>
              <a:t>Policy Position 2: Stop Treating NHDR as Reporting Tool</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The fundamental shift:</a:t>
            </a:r>
          </a:p>
          <a:p>
            <a:pPr lvl="0"/>
            <a:r>
              <a:rPr lang="en-PH" dirty="0"/>
              <a:t>Health information exchange exists first to </a:t>
            </a:r>
            <a:r>
              <a:rPr lang="en-PH" b="1" dirty="0">
                <a:highlight>
                  <a:srgbClr val="FFFF00"/>
                </a:highlight>
              </a:rPr>
              <a:t>improve patient care</a:t>
            </a:r>
          </a:p>
          <a:p>
            <a:pPr lvl="0"/>
            <a:r>
              <a:rPr lang="en-PH" dirty="0"/>
              <a:t>National surveillance, research, policy planning are </a:t>
            </a:r>
            <a:r>
              <a:rPr lang="en-PH" dirty="0">
                <a:highlight>
                  <a:srgbClr val="FFFF00"/>
                </a:highlight>
              </a:rPr>
              <a:t>important but derivative</a:t>
            </a:r>
          </a:p>
          <a:p>
            <a:pPr lvl="0"/>
            <a:r>
              <a:rPr lang="en-PH" dirty="0"/>
              <a:t>These purposes must not drive architecture</a:t>
            </a:r>
          </a:p>
          <a:p>
            <a:pPr lvl="0"/>
            <a:r>
              <a:rPr lang="en-PH" dirty="0"/>
              <a:t>Cannot undermine local clinical value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Policy Position 3: Align Financing With Local Value</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PhilHealth and DOH financing policies must recognize:</a:t>
            </a:r>
          </a:p>
          <a:p>
            <a:pPr lvl="0"/>
            <a:r>
              <a:rPr lang="en-PH" dirty="0">
                <a:highlight>
                  <a:srgbClr val="FFFF00"/>
                </a:highlight>
              </a:rPr>
              <a:t>Sustainable HIE requires investment where </a:t>
            </a:r>
            <a:r>
              <a:rPr lang="en-PH" b="1" dirty="0">
                <a:highlight>
                  <a:srgbClr val="FFFF00"/>
                </a:highlight>
              </a:rPr>
              <a:t>value is created</a:t>
            </a:r>
          </a:p>
          <a:p>
            <a:pPr lvl="0"/>
            <a:r>
              <a:rPr lang="en-PH" dirty="0"/>
              <a:t>Clear policy guidance for SHF investment in HIE infrastructure</a:t>
            </a:r>
          </a:p>
          <a:p>
            <a:pPr lvl="0"/>
            <a:r>
              <a:rPr lang="en-PH" dirty="0"/>
              <a:t>As core function supporting both DOH and PhilHealth contracting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Policy Position 3: Create Financial Incentives</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Policy mechanisms needed:</a:t>
            </a:r>
          </a:p>
          <a:p>
            <a:pPr lvl="0"/>
            <a:r>
              <a:rPr lang="en-PH" dirty="0"/>
              <a:t>PhilHealth contracting recognizes </a:t>
            </a:r>
            <a:r>
              <a:rPr lang="en-PH" b="1" dirty="0">
                <a:highlight>
                  <a:srgbClr val="FFFF00"/>
                </a:highlight>
              </a:rPr>
              <a:t>HIE capability </a:t>
            </a:r>
            <a:r>
              <a:rPr lang="en-PH" dirty="0"/>
              <a:t>as quality indicator</a:t>
            </a:r>
          </a:p>
          <a:p>
            <a:pPr lvl="0"/>
            <a:r>
              <a:rPr lang="en-PH" dirty="0">
                <a:highlight>
                  <a:srgbClr val="FFFF00"/>
                </a:highlight>
              </a:rPr>
              <a:t>HIE as network readiness requirement</a:t>
            </a:r>
          </a:p>
          <a:p>
            <a:pPr lvl="0"/>
            <a:r>
              <a:rPr lang="en-PH" dirty="0"/>
              <a:t>Creates financial incentives for investment</a:t>
            </a:r>
          </a:p>
          <a:p>
            <a:pPr lvl="0"/>
            <a:r>
              <a:rPr lang="en-PH" dirty="0"/>
              <a:t>DOH technical assistance for P/CHBs to plan, finance, govern HIE using SHF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Policy Position 3: Eliminate Unfunded Mandates</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Critical financing reform:</a:t>
            </a:r>
          </a:p>
          <a:p>
            <a:pPr lvl="0"/>
            <a:r>
              <a:rPr lang="en-PH" dirty="0"/>
              <a:t>Eliminate structures treating NHDR compliance as </a:t>
            </a:r>
            <a:r>
              <a:rPr lang="en-PH" b="1" dirty="0">
                <a:highlight>
                  <a:srgbClr val="FFFF00"/>
                </a:highlight>
              </a:rPr>
              <a:t>unfunded mandate</a:t>
            </a:r>
          </a:p>
          <a:p>
            <a:pPr lvl="0"/>
            <a:r>
              <a:rPr lang="en-PH" dirty="0">
                <a:highlight>
                  <a:srgbClr val="FFFF00"/>
                </a:highlight>
              </a:rPr>
              <a:t>Stop channeling resources only to national-level infrastructure</a:t>
            </a:r>
          </a:p>
          <a:p>
            <a:pPr lvl="0"/>
            <a:r>
              <a:rPr lang="en-PH" dirty="0"/>
              <a:t>Enable local investment supporting both revenue streams</a:t>
            </a:r>
          </a:p>
          <a:p>
            <a:pPr lvl="0"/>
            <a:r>
              <a:rPr lang="en-PH" dirty="0"/>
              <a:t>Built-in sustainability when local systems invest in operational value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Policy Position 4: Cease Bypass Architectures</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t>DOH and PhilHealth must immediately cease:</a:t>
            </a:r>
          </a:p>
          <a:p>
            <a:pPr lvl="0"/>
            <a:r>
              <a:rPr lang="en-PH" dirty="0"/>
              <a:t>Planning NHDR where </a:t>
            </a:r>
            <a:r>
              <a:rPr lang="en-PH" dirty="0">
                <a:highlight>
                  <a:srgbClr val="FFFD78"/>
                </a:highlight>
              </a:rPr>
              <a:t>facilities report directly to national repository</a:t>
            </a:r>
          </a:p>
          <a:p>
            <a:pPr lvl="0"/>
            <a:r>
              <a:rPr lang="en-PH" dirty="0"/>
              <a:t>While unable to exchange data with HCPN partners</a:t>
            </a:r>
          </a:p>
          <a:p>
            <a:pPr lvl="0"/>
            <a:r>
              <a:rPr lang="en-PH" dirty="0"/>
              <a:t>This architecture fundamentally </a:t>
            </a:r>
            <a:r>
              <a:rPr lang="en-PH" b="1" dirty="0">
                <a:highlight>
                  <a:srgbClr val="FFFD78"/>
                </a:highlight>
              </a:rPr>
              <a:t>misaligns</a:t>
            </a:r>
            <a:r>
              <a:rPr lang="en-PH" dirty="0"/>
              <a:t> with UHC implementation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Why Bypass Architecture Fails</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Fundamental misalignments:</a:t>
            </a:r>
          </a:p>
          <a:p>
            <a:pPr lvl="0"/>
            <a:r>
              <a:rPr lang="en-PH" dirty="0">
                <a:highlight>
                  <a:srgbClr val="FFFD78"/>
                </a:highlight>
              </a:rPr>
              <a:t>Disconnects</a:t>
            </a:r>
            <a:r>
              <a:rPr lang="en-PH" dirty="0"/>
              <a:t> information flow from service delivery accountability</a:t>
            </a:r>
          </a:p>
          <a:p>
            <a:pPr lvl="0"/>
            <a:r>
              <a:rPr lang="en-PH" dirty="0"/>
              <a:t>Creates data extraction </a:t>
            </a:r>
            <a:r>
              <a:rPr lang="en-PH" dirty="0">
                <a:highlight>
                  <a:srgbClr val="FFFD78"/>
                </a:highlight>
              </a:rPr>
              <a:t>burden</a:t>
            </a:r>
            <a:r>
              <a:rPr lang="en-PH" dirty="0"/>
              <a:t> without local operational </a:t>
            </a:r>
            <a:r>
              <a:rPr lang="en-PH" dirty="0">
                <a:highlight>
                  <a:srgbClr val="FFFD78"/>
                </a:highlight>
              </a:rPr>
              <a:t>benefit</a:t>
            </a:r>
          </a:p>
          <a:p>
            <a:pPr lvl="0"/>
            <a:r>
              <a:rPr lang="en-PH" dirty="0">
                <a:highlight>
                  <a:srgbClr val="FFFD78"/>
                </a:highlight>
              </a:rPr>
              <a:t>Forces facilities </a:t>
            </a:r>
            <a:r>
              <a:rPr lang="en-PH" dirty="0"/>
              <a:t>to report upward before coordinating horizontally</a:t>
            </a:r>
          </a:p>
          <a:p>
            <a:pPr lvl="0"/>
            <a:r>
              <a:rPr lang="en-PH" dirty="0">
                <a:highlight>
                  <a:srgbClr val="FFFD78"/>
                </a:highlight>
              </a:rPr>
              <a:t>Undermines</a:t>
            </a:r>
            <a:r>
              <a:rPr lang="en-PH" dirty="0"/>
              <a:t> rather than enables integrated health systems UHC mandates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Redirect All Investment</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All NHDR investment and technical assistance should focus on:</a:t>
            </a:r>
          </a:p>
          <a:p>
            <a:pPr lvl="0"/>
            <a:r>
              <a:rPr lang="en-PH" dirty="0"/>
              <a:t>Empowering P/CWHS to </a:t>
            </a:r>
            <a:r>
              <a:rPr lang="en-PH" b="1" dirty="0">
                <a:highlight>
                  <a:srgbClr val="FFFD78"/>
                </a:highlight>
              </a:rPr>
              <a:t>establish functional HIE </a:t>
            </a:r>
            <a:r>
              <a:rPr lang="en-PH" dirty="0"/>
              <a:t>within HCPNs</a:t>
            </a:r>
          </a:p>
          <a:p>
            <a:pPr lvl="0"/>
            <a:r>
              <a:rPr lang="en-PH" dirty="0"/>
              <a:t>Ensuring HCPN members exchange patient information in real-time</a:t>
            </a:r>
          </a:p>
          <a:p>
            <a:pPr lvl="0"/>
            <a:r>
              <a:rPr lang="en-PH" dirty="0"/>
              <a:t>Supporting referrals, consultations, care coordination</a:t>
            </a:r>
          </a:p>
          <a:p>
            <a:pPr lvl="0"/>
            <a:r>
              <a:rPr lang="en-PH" dirty="0"/>
              <a:t>Building local capacity for data governance, system operation, privacy protection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The Correct Roadmap</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Implementation sequence:</a:t>
            </a:r>
          </a:p>
          <a:p>
            <a:pPr lvl="0"/>
            <a:r>
              <a:rPr lang="en-PH" dirty="0"/>
              <a:t>Establish clear pathways for P/CWHS systems to federate into national NHDR</a:t>
            </a:r>
          </a:p>
          <a:p>
            <a:pPr lvl="0"/>
            <a:r>
              <a:rPr lang="en-PH" dirty="0"/>
              <a:t>Only after local functionality is proven</a:t>
            </a:r>
          </a:p>
          <a:p>
            <a:pPr lvl="0"/>
            <a:r>
              <a:rPr lang="en-PH" dirty="0">
                <a:highlight>
                  <a:srgbClr val="FFFD78"/>
                </a:highlight>
              </a:rPr>
              <a:t>Operational roadmap prioritizes local exchange capability first</a:t>
            </a:r>
          </a:p>
          <a:p>
            <a:pPr lvl="0"/>
            <a:r>
              <a:rPr lang="en-PH" dirty="0"/>
              <a:t>National consolidation follows as secondary stage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normAutofit/>
          </a:bodyPr>
          <a:lstStyle/>
          <a:p>
            <a:pPr lvl="0"/>
            <a:r>
              <a:rPr lang="en-PH"/>
              <a:t>Conclusion: The Choice Before DOH and PhilHealth</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Path 1: Continue current trajectory</a:t>
            </a:r>
          </a:p>
          <a:p>
            <a:pPr lvl="0"/>
            <a:r>
              <a:rPr lang="en-PH" dirty="0"/>
              <a:t>Centralized national data collection</a:t>
            </a:r>
          </a:p>
          <a:p>
            <a:pPr lvl="0"/>
            <a:r>
              <a:rPr lang="en-PH" dirty="0"/>
              <a:t>Treats facilities as </a:t>
            </a:r>
            <a:r>
              <a:rPr lang="en-PH" dirty="0">
                <a:highlight>
                  <a:srgbClr val="FFFD78"/>
                </a:highlight>
              </a:rPr>
              <a:t>data sources </a:t>
            </a:r>
            <a:r>
              <a:rPr lang="en-PH" dirty="0"/>
              <a:t>for national purposes</a:t>
            </a:r>
          </a:p>
          <a:p>
            <a:pPr lvl="0"/>
            <a:r>
              <a:rPr lang="en-PH" dirty="0">
                <a:highlight>
                  <a:srgbClr val="FFFD78"/>
                </a:highlight>
              </a:rPr>
              <a:t>Disconnected</a:t>
            </a:r>
            <a:r>
              <a:rPr lang="en-PH" dirty="0"/>
              <a:t> from service delivery accountability</a:t>
            </a:r>
          </a:p>
          <a:p>
            <a:pPr lvl="0"/>
            <a:r>
              <a:rPr lang="en-PH" dirty="0">
                <a:highlight>
                  <a:srgbClr val="FFFD78"/>
                </a:highlight>
              </a:rPr>
              <a:t>Starved of resources</a:t>
            </a:r>
            <a:r>
              <a:rPr lang="en-PH" dirty="0"/>
              <a:t> for local functionality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Conclusion: The Alternative Path</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Path 2: Network-of-networks approach</a:t>
            </a:r>
          </a:p>
          <a:p>
            <a:pPr lvl="0"/>
            <a:r>
              <a:rPr lang="en-PH" dirty="0"/>
              <a:t>Empowers P/CWHS to build HIE serving HCPNs first</a:t>
            </a:r>
          </a:p>
          <a:p>
            <a:pPr lvl="0"/>
            <a:r>
              <a:rPr lang="en-PH" dirty="0"/>
              <a:t>Finances sustainably through Special Health Fund</a:t>
            </a:r>
          </a:p>
          <a:p>
            <a:pPr lvl="0"/>
            <a:r>
              <a:rPr lang="en-PH" dirty="0"/>
              <a:t>Governs through P/CHBs where accountability resides</a:t>
            </a:r>
          </a:p>
          <a:p>
            <a:pPr lvl="0"/>
            <a:r>
              <a:rPr lang="en-PH" dirty="0">
                <a:highlight>
                  <a:srgbClr val="FFFD78"/>
                </a:highlight>
              </a:rPr>
              <a:t>Federates local systems into national repository</a:t>
            </a:r>
          </a:p>
          <a:p>
            <a:pPr lvl="0"/>
            <a:r>
              <a:rPr lang="en-PH" dirty="0"/>
              <a:t>Built on foundation of </a:t>
            </a:r>
            <a:r>
              <a:rPr lang="en-PH" b="1" dirty="0">
                <a:highlight>
                  <a:srgbClr val="FFFD78"/>
                </a:highlight>
              </a:rPr>
              <a:t>local value and capability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5570-1AC5-D526-E97B-1825380B930F}"/>
              </a:ext>
            </a:extLst>
          </p:cNvPr>
          <p:cNvSpPr>
            <a:spLocks noGrp="1"/>
          </p:cNvSpPr>
          <p:nvPr>
            <p:ph type="title"/>
          </p:nvPr>
        </p:nvSpPr>
        <p:spPr>
          <a:xfrm>
            <a:off x="0" y="0"/>
            <a:ext cx="12192000" cy="864000"/>
          </a:xfrm>
        </p:spPr>
        <p:txBody>
          <a:bodyPr/>
          <a:lstStyle/>
          <a:p>
            <a:pPr lvl="0"/>
            <a:r>
              <a:rPr lang="en-PH"/>
              <a:t>The Only Viable Path Forward</a:t>
            </a:r>
          </a:p>
        </p:txBody>
      </p:sp>
      <p:sp>
        <p:nvSpPr>
          <p:cNvPr id="3" name="Content Placeholder 2">
            <a:extLst>
              <a:ext uri="{FF2B5EF4-FFF2-40B4-BE49-F238E27FC236}">
                <a16:creationId xmlns:a16="http://schemas.microsoft.com/office/drawing/2014/main" id="{C7113660-2689-C453-5503-EDC42E3B4AAE}"/>
              </a:ext>
            </a:extLst>
          </p:cNvPr>
          <p:cNvSpPr>
            <a:spLocks noGrp="1"/>
          </p:cNvSpPr>
          <p:nvPr>
            <p:ph idx="1"/>
          </p:nvPr>
        </p:nvSpPr>
        <p:spPr>
          <a:xfrm>
            <a:off x="838200" y="1316350"/>
            <a:ext cx="10515600" cy="5040000"/>
          </a:xfrm>
        </p:spPr>
        <p:txBody>
          <a:bodyPr/>
          <a:lstStyle/>
          <a:p>
            <a:pPr marL="0" lvl="0" indent="0">
              <a:buNone/>
            </a:pPr>
            <a:r>
              <a:rPr lang="en-PH" b="1" dirty="0">
                <a:solidFill>
                  <a:schemeClr val="tx2">
                    <a:lumMod val="90000"/>
                    <a:lumOff val="10000"/>
                  </a:schemeClr>
                </a:solidFill>
              </a:rPr>
              <a:t>Only the second path:</a:t>
            </a:r>
          </a:p>
          <a:p>
            <a:pPr lvl="0"/>
            <a:r>
              <a:rPr lang="en-PH" dirty="0"/>
              <a:t>Aligns with UHC principles</a:t>
            </a:r>
          </a:p>
          <a:p>
            <a:pPr lvl="0"/>
            <a:r>
              <a:rPr lang="en-PH" dirty="0"/>
              <a:t>Will succeed in implementation</a:t>
            </a:r>
          </a:p>
          <a:p>
            <a:pPr lvl="0"/>
            <a:r>
              <a:rPr lang="en-PH" dirty="0">
                <a:highlight>
                  <a:srgbClr val="FFFF00"/>
                </a:highlight>
              </a:rPr>
              <a:t>Time to </a:t>
            </a:r>
            <a:r>
              <a:rPr lang="en-PH" b="1" dirty="0">
                <a:highlight>
                  <a:srgbClr val="FFFF00"/>
                </a:highlight>
              </a:rPr>
              <a:t>realign NHDR </a:t>
            </a:r>
            <a:r>
              <a:rPr lang="en-PH" dirty="0">
                <a:highlight>
                  <a:srgbClr val="FFFF00"/>
                </a:highlight>
              </a:rPr>
              <a:t>with UHC implementation reality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1346</TotalTime>
  <Words>4117</Words>
  <Application>Microsoft Macintosh PowerPoint</Application>
  <PresentationFormat>Widescreen</PresentationFormat>
  <Paragraphs>288</Paragraphs>
  <Slides>37</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Aptos</vt:lpstr>
      <vt:lpstr>Arial</vt:lpstr>
      <vt:lpstr>Calibri</vt:lpstr>
      <vt:lpstr>Source Sans Pro</vt:lpstr>
      <vt:lpstr>Office Theme</vt:lpstr>
      <vt:lpstr>Realigning NHDR Implementation with UHC Principles</vt:lpstr>
      <vt:lpstr>Executive Summary</vt:lpstr>
      <vt:lpstr>Introduction: The UHC Mandate</vt:lpstr>
      <vt:lpstr>The Core Issue</vt:lpstr>
      <vt:lpstr>Argument 1: Legal Accountability at P/CWHS Level</vt:lpstr>
      <vt:lpstr>Argument 1: Legal Accountability (continued)</vt:lpstr>
      <vt:lpstr>Argument 1: Position</vt:lpstr>
      <vt:lpstr>Argument 1: The Practical Reality</vt:lpstr>
      <vt:lpstr>Argument 1: The Fundamental Misalignment</vt:lpstr>
      <vt:lpstr>Argument 2: Sustainable Financing</vt:lpstr>
      <vt:lpstr>Argument 2: Implementation Experience Pattern</vt:lpstr>
      <vt:lpstr>Argument 2: Position on Value</vt:lpstr>
      <vt:lpstr>Argument 2: The Business Case</vt:lpstr>
      <vt:lpstr>Argument 2: The Risk of Misalignment</vt:lpstr>
      <vt:lpstr>Argument 2: Financing Policy Position</vt:lpstr>
      <vt:lpstr>Argument 3: Implementation Sequencing</vt:lpstr>
      <vt:lpstr>Argument 3: Stage 1 - Preparatory</vt:lpstr>
      <vt:lpstr>Argument 3: Stage 2 - Organizational</vt:lpstr>
      <vt:lpstr>Argument 3: Stage 3 - Operational</vt:lpstr>
      <vt:lpstr>Argument 3: Position on Sequencing</vt:lpstr>
      <vt:lpstr>Argument 3: The Reversal Problem</vt:lpstr>
      <vt:lpstr>Argument 3: Success Measurement</vt:lpstr>
      <vt:lpstr>Policy Position 1: NHDR as Network of Networks</vt:lpstr>
      <vt:lpstr>Policy Position 1: Alignment Principle</vt:lpstr>
      <vt:lpstr>Policy Position 2: Reorient NHDR Governance</vt:lpstr>
      <vt:lpstr>Policy Position 2: Investment and Regulation</vt:lpstr>
      <vt:lpstr>Policy Position 2: Stop Treating NHDR as Reporting Tool</vt:lpstr>
      <vt:lpstr>Policy Position 3: Align Financing With Local Value</vt:lpstr>
      <vt:lpstr>Policy Position 3: Create Financial Incentives</vt:lpstr>
      <vt:lpstr>Policy Position 3: Eliminate Unfunded Mandates</vt:lpstr>
      <vt:lpstr>Policy Position 4: Cease Bypass Architectures</vt:lpstr>
      <vt:lpstr>Why Bypass Architecture Fails</vt:lpstr>
      <vt:lpstr>Redirect All Investment</vt:lpstr>
      <vt:lpstr>The Correct Roadmap</vt:lpstr>
      <vt:lpstr>Conclusion: The Choice Before DOH and PhilHealth</vt:lpstr>
      <vt:lpstr>Conclusion: The Alternative Path</vt:lpstr>
      <vt:lpstr>The Only Viable Path Forward</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14</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Arial</vt:lpstr>
      <vt:lpstr>Calibri</vt:lpstr>
      <vt:lpstr>Roboto Black</vt:lpstr>
      <vt:lpstr>Roboto Light</vt:lpstr>
      <vt:lpstr>Roboto Medium</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Mike Muin</cp:lastModifiedBy>
  <cp:revision>20</cp:revision>
  <dcterms:created xsi:type="dcterms:W3CDTF">2025-10-11T03:38:50Z</dcterms:created>
  <dcterms:modified xsi:type="dcterms:W3CDTF">2025-10-12T02:14:15Z</dcterms:modified>
</cp:coreProperties>
</file>