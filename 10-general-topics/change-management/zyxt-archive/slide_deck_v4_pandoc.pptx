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notesMaster" Target="notesMasters/notesMaster1.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framework comes from field experience: Health IT projects that succeeded, projects that failed, and the more dangerous category — projects that failed quietly enough that no one could agree they had failed at all.</a:t>
            </a:r>
          </a:p>
          <a:p>
            <a:pPr lvl="0" indent="0" marL="0">
              <a:buNone/>
            </a:pPr>
          </a:p>
          <a:p>
            <a:pPr lvl="0" indent="0" marL="0">
              <a:buNone/>
            </a:pPr>
            <a:r>
              <a:rPr/>
              <a:t>This is not a theory of change management from a conference room. It is about what happens inside hospitals when systems, workflows, and clinical behavior all have to change at the same time.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statements appear again and again after Health IT projects disappoint.</a:t>
            </a:r>
          </a:p>
          <a:p>
            <a:pPr lvl="0" indent="0" marL="0">
              <a:buNone/>
            </a:pPr>
          </a:p>
          <a:p>
            <a:pPr lvl="0" indent="0" marL="0">
              <a:buNone/>
            </a:pPr>
            <a:r>
              <a:rPr/>
              <a:t>“The system went live on time, but staff never really adopted it.”</a:t>
            </a:r>
          </a:p>
          <a:p>
            <a:pPr lvl="0" indent="0" marL="0">
              <a:buNone/>
            </a:pPr>
          </a:p>
          <a:p>
            <a:pPr lvl="0" indent="0" marL="0">
              <a:buNone/>
            </a:pPr>
            <a:r>
              <a:rPr/>
              <a:t>“The process looked right on paper, but that is not how anyone actually worked.”</a:t>
            </a:r>
          </a:p>
          <a:p>
            <a:pPr lvl="0" indent="0" marL="0">
              <a:buNone/>
            </a:pPr>
          </a:p>
          <a:p>
            <a:pPr lvl="0" indent="0" marL="0">
              <a:buNone/>
            </a:pPr>
            <a:r>
              <a:rPr/>
              <a:t>“Leadership was supportive, until they weren’t.”</a:t>
            </a:r>
          </a:p>
          <a:p>
            <a:pPr lvl="0" indent="0" marL="0">
              <a:buNone/>
            </a:pPr>
          </a:p>
          <a:p>
            <a:pPr lvl="0" indent="0" marL="0">
              <a:buNone/>
            </a:pPr>
            <a:r>
              <a:rPr/>
              <a:t>These sound like three different failures. They are not. They are the same failure wearing different clothes.</a:t>
            </a:r>
          </a:p>
          <a:p>
            <a:pPr lvl="0" indent="0" marL="0">
              <a:buNone/>
            </a:pPr>
          </a:p>
          <a:p>
            <a:pPr lvl="0" indent="0" marL="0">
              <a:buNone/>
            </a:pPr>
            <a:r>
              <a:rPr/>
              <a:t>The pattern repeats because most change management approaches are built to manage success. They are less good at managing the failure that is already forming under the surface.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change frameworks are optimistic by design. They assume that if the right steps are followed, adoption will happen. Resistance is treated as the exception.</a:t>
            </a:r>
          </a:p>
          <a:p>
            <a:pPr lvl="0" indent="0" marL="0">
              <a:buNone/>
            </a:pPr>
          </a:p>
          <a:p>
            <a:pPr lvl="0" indent="0" marL="0">
              <a:buNone/>
            </a:pPr>
            <a:r>
              <a:rPr/>
              <a:t>This framework starts somewhere less comfortable.</a:t>
            </a:r>
          </a:p>
          <a:p>
            <a:pPr lvl="0" indent="0" marL="0">
              <a:buNone/>
            </a:pPr>
          </a:p>
          <a:p>
            <a:pPr lvl="0" indent="0" marL="0">
              <a:buNone/>
            </a:pPr>
            <a:r>
              <a:rPr/>
              <a:t>Failure is the default. Success is engineered.</a:t>
            </a:r>
          </a:p>
          <a:p>
            <a:pPr lvl="0" indent="0" marL="0">
              <a:buNone/>
            </a:pPr>
          </a:p>
          <a:p>
            <a:pPr lvl="0" indent="0" marL="0">
              <a:buNone/>
            </a:pPr>
            <a:r>
              <a:rPr/>
              <a:t>Not because the people are incompetent. Not because the technology is bad. Not because the organization does not care. Failure is the default because clinical environments are complex, busy, political, and unforgiving.</a:t>
            </a:r>
          </a:p>
          <a:p>
            <a:pPr lvl="0" indent="0" marL="0">
              <a:buNone/>
            </a:pPr>
          </a:p>
          <a:p>
            <a:pPr lvl="0" indent="0" marL="0">
              <a:buNone/>
            </a:pPr>
            <a:r>
              <a:rPr/>
              <a:t>Engineered does not mean over-planned. It means detected, owned, prevented where possible, and contained when prevention fails.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most projects, failure announces itself. A missed deadline shows up on the plan. A budget overrun appears in the report. A system outage fires an alert.</a:t>
            </a:r>
          </a:p>
          <a:p>
            <a:pPr lvl="0" indent="0" marL="0">
              <a:buNone/>
            </a:pPr>
          </a:p>
          <a:p>
            <a:pPr lvl="0" indent="0" marL="0">
              <a:buNone/>
            </a:pPr>
            <a:r>
              <a:rPr/>
              <a:t>In Health IT change management, the most consequential failures often make no noise.</a:t>
            </a:r>
          </a:p>
          <a:p>
            <a:pPr lvl="0" indent="0" marL="0">
              <a:buNone/>
            </a:pPr>
          </a:p>
          <a:p>
            <a:pPr lvl="0" indent="0" marL="0">
              <a:buNone/>
            </a:pPr>
            <a:r>
              <a:rPr/>
              <a:t>A stakeholder who was supportive in month one drifts into disengagement by month four. No alert fires. A clinical champion starts to withdraw. No report captures it. Data begins flowing incorrectly between two systems that both appear to be working. No dashboard turns red.</a:t>
            </a:r>
          </a:p>
          <a:p>
            <a:pPr lvl="0" indent="0" marL="0">
              <a:buNone/>
            </a:pPr>
          </a:p>
          <a:p>
            <a:pPr lvl="0" indent="0" marL="0">
              <a:buNone/>
            </a:pPr>
            <a:r>
              <a:rPr/>
              <a:t>This framework identifies twenty ways a Health IT implementation can fail. Fourteen carry a high risk of silent failure.</a:t>
            </a:r>
          </a:p>
          <a:p>
            <a:pPr lvl="0" indent="0" marL="0">
              <a:buNone/>
            </a:pPr>
          </a:p>
          <a:p>
            <a:pPr lvl="0" indent="0" marL="0">
              <a:buNone/>
            </a:pPr>
            <a:r>
              <a:rPr/>
              <a:t>So the important question is not only, “Where could we fail?” The more neglected question is, “How will we know something is going wrong before it becomes a crisis?”</a:t>
            </a:r>
          </a:p>
          <a:p>
            <a:pPr lvl="0" indent="0" marL="0">
              <a:buNone/>
            </a:pPr>
          </a:p>
          <a:p>
            <a:pPr lvl="0" indent="0" marL="0">
              <a:buNone/>
            </a:pPr>
            <a:r>
              <a:rPr/>
              <a:t>That question is uncomfortable. It requires looking for evidence that the project is not working, at the exact moment when the organization wants proof that it is.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framework starts with one sentence: the Core Statement.</a:t>
            </a:r>
          </a:p>
          <a:p>
            <a:pPr lvl="0" indent="0" marL="0">
              <a:buNone/>
            </a:pPr>
          </a:p>
          <a:p>
            <a:pPr lvl="0" indent="0" marL="0">
              <a:buNone/>
            </a:pPr>
            <a:r>
              <a:rPr/>
              <a:t>“Change management is the disciplined management of failure across People, Process, and Technology — concurrent with project execution — to protect the integrity of the transition from the current to the future state.”</a:t>
            </a:r>
          </a:p>
          <a:p>
            <a:pPr lvl="0" indent="0" marL="0">
              <a:buNone/>
            </a:pPr>
          </a:p>
          <a:p>
            <a:pPr lvl="0" indent="0" marL="0">
              <a:buNone/>
            </a:pPr>
            <a:r>
              <a:rPr/>
              <a:t>There are two phrases to hold onto.</a:t>
            </a:r>
          </a:p>
          <a:p>
            <a:pPr lvl="0" indent="0" marL="0">
              <a:buNone/>
            </a:pPr>
          </a:p>
          <a:p>
            <a:pPr lvl="0" indent="0" marL="0">
              <a:buNone/>
            </a:pPr>
            <a:r>
              <a:rPr/>
              <a:t>“Concurrent with project execution” means change management starts on day one, not after go-live.</a:t>
            </a:r>
          </a:p>
          <a:p>
            <a:pPr lvl="0" indent="0" marL="0">
              <a:buNone/>
            </a:pPr>
          </a:p>
          <a:p>
            <a:pPr lvl="0" indent="0" marL="0">
              <a:buNone/>
            </a:pPr>
            <a:r>
              <a:rPr/>
              <a:t>“Integrity of the transition” means the real goal is not launch. The real goal is a stable operating state after the launch.</a:t>
            </a:r>
          </a:p>
          <a:p>
            <a:pPr lvl="0" indent="0" marL="0">
              <a:buNone/>
            </a:pPr>
          </a:p>
          <a:p>
            <a:pPr lvl="0" indent="0" marL="0">
              <a:buNone/>
            </a:pPr>
            <a:r>
              <a:rPr/>
              <a:t>From that Core Statement come five Governing Principles.</a:t>
            </a:r>
          </a:p>
          <a:p>
            <a:pPr lvl="0" indent="0" marL="0">
              <a:buNone/>
            </a:pPr>
          </a:p>
          <a:p>
            <a:pPr lvl="0" indent="0" marL="0">
              <a:buNone/>
            </a:pPr>
            <a:r>
              <a:rPr/>
              <a:t>First: Start on day one, not day done. If change management starts after configuration, the most important decisions have already been made.</a:t>
            </a:r>
          </a:p>
          <a:p>
            <a:pPr lvl="0" indent="0" marL="0">
              <a:buNone/>
            </a:pPr>
          </a:p>
          <a:p>
            <a:pPr lvl="0" indent="0" marL="0">
              <a:buNone/>
            </a:pPr>
            <a:r>
              <a:rPr/>
              <a:t>Second: Engineer for failure, not optimism. Assume the plan will break somewhere, then design the controls before it does. Failure is the default; success is engineered through detection, ownership, prevention, and response.</a:t>
            </a:r>
          </a:p>
          <a:p>
            <a:pPr lvl="0" indent="0" marL="0">
              <a:buNone/>
            </a:pPr>
          </a:p>
          <a:p>
            <a:pPr lvl="0" indent="0" marL="0">
              <a:buNone/>
            </a:pPr>
            <a:r>
              <a:rPr/>
              <a:t>Third: What you can’t see will hurt you most. Silent failure needs active detection, not passive reporting.</a:t>
            </a:r>
          </a:p>
          <a:p>
            <a:pPr lvl="0" indent="0" marL="0">
              <a:buNone/>
            </a:pPr>
          </a:p>
          <a:p>
            <a:pPr lvl="0" indent="0" marL="0">
              <a:buNone/>
            </a:pPr>
            <a:r>
              <a:rPr/>
              <a:t>Fourth: If everyone owns it, no one owns it. Accountability for the transition has to be assigned. It will not appear by goodwill.</a:t>
            </a:r>
          </a:p>
          <a:p>
            <a:pPr lvl="0" indent="0" marL="0">
              <a:buNone/>
            </a:pPr>
          </a:p>
          <a:p>
            <a:pPr lvl="0" indent="0" marL="0">
              <a:buNone/>
            </a:pPr>
            <a:r>
              <a:rPr/>
              <a:t>Fifth: Not all failure costs the same. A training gap is recoverable. A patient safety event is not. The response has to match the consequence.</a:t>
            </a:r>
          </a:p>
          <a:p>
            <a:pPr lvl="0" indent="0" marL="0">
              <a:buNone/>
            </a:pPr>
          </a:p>
          <a:p>
            <a:pPr lvl="0" indent="0" marL="0">
              <a:buNone/>
            </a:pPr>
            <a:r>
              <a:rPr/>
              <a:t>The framework then works across three layers: People, Process, and Technology. These are not silos. They are three surfaces of the same transition.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framework is used in a simple loop: identify, question, implement.</a:t>
            </a:r>
          </a:p>
          <a:p>
            <a:pPr lvl="0" indent="0" marL="0">
              <a:buNone/>
            </a:pPr>
          </a:p>
          <a:p>
            <a:pPr lvl="0" indent="0" marL="0">
              <a:buNone/>
            </a:pPr>
            <a:r>
              <a:rPr/>
              <a:t>Identify means taking inventory. Who is involved? What workflows are changing? Which systems, data flows, and infrastructure are in scope?</a:t>
            </a:r>
          </a:p>
          <a:p>
            <a:pPr lvl="0" indent="0" marL="0">
              <a:buNone/>
            </a:pPr>
          </a:p>
          <a:p>
            <a:pPr lvl="0" indent="0" marL="0">
              <a:buNone/>
            </a:pPr>
            <a:r>
              <a:rPr/>
              <a:t>Question means running the same six questions against that inventory.</a:t>
            </a:r>
          </a:p>
          <a:p>
            <a:pPr lvl="0" indent="0" marL="0">
              <a:buNone/>
            </a:pPr>
          </a:p>
          <a:p>
            <a:pPr lvl="0" indent="0" marL="0">
              <a:buNone/>
            </a:pPr>
            <a:r>
              <a:rPr/>
              <a:t>Implement means turning the answers into live project controls: checkpoints, trackers, detection schedules, prevention tasks, and response protocols.</a:t>
            </a:r>
          </a:p>
          <a:p>
            <a:pPr lvl="0" indent="0" marL="0">
              <a:buNone/>
            </a:pPr>
          </a:p>
          <a:p>
            <a:pPr lvl="0" indent="0" marL="0">
              <a:buNone/>
            </a:pPr>
            <a:r>
              <a:rPr/>
              <a:t>The important point is that this is not a workshop exercise. It repeats at every major milestone, through go-live, and into sustainment.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You do not need to memorize the six questions. Listen for the pattern: define success, expose assumptions, identify failure, detect it early, prevent what you can, and prepare for what still breaks.</a:t>
            </a:r>
          </a:p>
          <a:p>
            <a:pPr lvl="0" indent="0" marL="0">
              <a:buNone/>
            </a:pPr>
          </a:p>
          <a:p>
            <a:pPr lvl="0" indent="0" marL="0">
              <a:buNone/>
            </a:pPr>
            <a:r>
              <a:rPr/>
              <a:t>First: What does success look like? It has to be specific enough that two people can agree whether it happened.</a:t>
            </a:r>
          </a:p>
          <a:p>
            <a:pPr lvl="0" indent="0" marL="0">
              <a:buNone/>
            </a:pPr>
          </a:p>
          <a:p>
            <a:pPr lvl="0" indent="0" marL="0">
              <a:buNone/>
            </a:pPr>
            <a:r>
              <a:rPr/>
              <a:t>Second: What are we taking for granted? Every unconfirmed assumption is a risk wearing a nicer name.</a:t>
            </a:r>
          </a:p>
          <a:p>
            <a:pPr lvl="0" indent="0" marL="0">
              <a:buNone/>
            </a:pPr>
          </a:p>
          <a:p>
            <a:pPr lvl="0" indent="0" marL="0">
              <a:buNone/>
            </a:pPr>
            <a:r>
              <a:rPr/>
              <a:t>Third: Where could we fail? Sort the answers by consequence: low, high, and irreversible.</a:t>
            </a:r>
          </a:p>
          <a:p>
            <a:pPr lvl="0" indent="0" marL="0">
              <a:buNone/>
            </a:pPr>
          </a:p>
          <a:p>
            <a:pPr lvl="0" indent="0" marL="0">
              <a:buNone/>
            </a:pPr>
            <a:r>
              <a:rPr/>
              <a:t>Fourth: How will we know if something is going wrong before it becomes a crisis? This is the question most teams skip. It requires data, observation, conversations, behavioral signals, a cadence, and a named owner.</a:t>
            </a:r>
          </a:p>
          <a:p>
            <a:pPr lvl="0" indent="0" marL="0">
              <a:buNone/>
            </a:pPr>
          </a:p>
          <a:p>
            <a:pPr lvl="0" indent="0" marL="0">
              <a:buNone/>
            </a:pPr>
            <a:r>
              <a:rPr/>
              <a:t>Fifth: What do we do now to reduce the chance of failure? Prevention without an owner and deadline is only intention.</a:t>
            </a:r>
          </a:p>
          <a:p>
            <a:pPr lvl="0" indent="0" marL="0">
              <a:buNone/>
            </a:pPr>
          </a:p>
          <a:p>
            <a:pPr lvl="0" indent="0" marL="0">
              <a:buNone/>
            </a:pPr>
            <a:r>
              <a:rPr/>
              <a:t>Sixth: If something fails, what do we do? The response needs a trigger, steps, an owner, and a recovery target. For patient safety risks, the first step is containment. Stop the harm first. Understand it second.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framework depends on two kinds of ownership.</a:t>
            </a:r>
          </a:p>
          <a:p>
            <a:pPr lvl="0" indent="0" marL="0">
              <a:buNone/>
            </a:pPr>
          </a:p>
          <a:p>
            <a:pPr lvl="0" indent="0" marL="0">
              <a:buNone/>
            </a:pPr>
            <a:r>
              <a:rPr/>
              <a:t>The Change Manager owns the methodology: the instruments, the detection cadence, the analysis, and the escalation.</a:t>
            </a:r>
          </a:p>
          <a:p>
            <a:pPr lvl="0" indent="0" marL="0">
              <a:buNone/>
            </a:pPr>
          </a:p>
          <a:p>
            <a:pPr lvl="0" indent="0" marL="0">
              <a:buNone/>
            </a:pPr>
            <a:r>
              <a:rPr/>
              <a:t>But the Change Manager cannot close problems that require organizational authority. They cannot physically close a transition period, remove a nominal owner, or mandate a clinical practice standard across a department.</a:t>
            </a:r>
          </a:p>
          <a:p>
            <a:pPr lvl="0" indent="0" marL="0">
              <a:buNone/>
            </a:pPr>
          </a:p>
          <a:p>
            <a:pPr lvl="0" indent="0" marL="0">
              <a:buNone/>
            </a:pPr>
            <a:r>
              <a:rPr/>
              <a:t>That authority sits with the Project Sponsor and executive leadership. Their job is not to run the methodology. Their job is to act on what the methodology surfaces.</a:t>
            </a:r>
          </a:p>
          <a:p>
            <a:pPr lvl="0" indent="0" marL="0">
              <a:buNone/>
            </a:pPr>
          </a:p>
          <a:p>
            <a:pPr lvl="0" indent="0" marL="0">
              <a:buNone/>
            </a:pPr>
            <a:r>
              <a:rPr/>
              <a:t>A Change Manager without executive backing can see the permanent transition period and have no power to close it. A Project Sponsor without a functioning methodology has no reliable signal that the transition has become permanent.</a:t>
            </a:r>
          </a:p>
          <a:p>
            <a:pPr lvl="0" indent="0" marL="0">
              <a:buNone/>
            </a:pPr>
          </a:p>
          <a:p>
            <a:pPr lvl="0" indent="0" marL="0">
              <a:buNone/>
            </a:pPr>
            <a:r>
              <a:rPr/>
              <a:t>Both are required. Neither substitutes for the other.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Go-live ends the launch phase. It does not end the work.</a:t>
            </a:r>
          </a:p>
          <a:p>
            <a:pPr lvl="0" indent="0" marL="0">
              <a:buNone/>
            </a:pPr>
          </a:p>
          <a:p>
            <a:pPr lvl="0" indent="0" marL="0">
              <a:buNone/>
            </a:pPr>
            <a:r>
              <a:rPr/>
              <a:t>The implementation team may leave. The milestone plan may close. The intense pre-launch activity may stop.</a:t>
            </a:r>
          </a:p>
          <a:p>
            <a:pPr lvl="0" indent="0" marL="0">
              <a:buNone/>
            </a:pPr>
          </a:p>
          <a:p>
            <a:pPr lvl="0" indent="0" marL="0">
              <a:buNone/>
            </a:pPr>
            <a:r>
              <a:rPr/>
              <a:t>But the detection cadence, assumption tracking, stakeholder monitoring, process compliance checks, and system health reviews must continue for at least twelve months.</a:t>
            </a:r>
          </a:p>
          <a:p>
            <a:pPr lvl="0" indent="0" marL="0">
              <a:buNone/>
            </a:pPr>
          </a:p>
          <a:p>
            <a:pPr lvl="0" indent="0" marL="0">
              <a:buNone/>
            </a:pPr>
            <a:r>
              <a:rPr/>
              <a:t>The framework ends only when ownership has been formally transferred to operations, and when the receiving teams have the tools, knowledge, and authority to keep running what they have inherited.</a:t>
            </a:r>
          </a:p>
          <a:p>
            <a:pPr lvl="0" indent="0" marL="0">
              <a:buNone/>
            </a:pPr>
          </a:p>
          <a:p>
            <a:pPr lvl="0" indent="0" marL="0">
              <a:buNone/>
            </a:pPr>
            <a:r>
              <a:rPr/>
              <a:t>Not when the transfer is announced. When it is verified.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Technology Layer is the most visible layer. It has a vendor, a name, a launch date, and a price tag.</a:t>
            </a:r>
          </a:p>
          <a:p>
            <a:pPr lvl="0" indent="0" marL="0">
              <a:buNone/>
            </a:pPr>
          </a:p>
          <a:p>
            <a:pPr lvl="0" indent="0" marL="0">
              <a:buNone/>
            </a:pPr>
            <a:r>
              <a:rPr/>
              <a:t>In the Technology Layer, engineered success means adoption is designed, measured, and sustained. It is not inferred from go-live.</a:t>
            </a:r>
          </a:p>
          <a:p>
            <a:pPr lvl="0" indent="0" marL="0">
              <a:buNone/>
            </a:pPr>
          </a:p>
          <a:p>
            <a:pPr lvl="0" indent="0" marL="0">
              <a:buNone/>
            </a:pPr>
            <a:r>
              <a:rPr/>
              <a:t>That visibility creates overconfidence.</a:t>
            </a:r>
          </a:p>
          <a:p>
            <a:pPr lvl="0" indent="0" marL="0">
              <a:buNone/>
            </a:pPr>
          </a:p>
          <a:p>
            <a:pPr lvl="0" indent="0" marL="0">
              <a:buNone/>
            </a:pPr>
            <a:r>
              <a:rPr/>
              <a:t>A system that exists is not the same as a system that works. A system that is running is not the same as a system that is being used correctly, consistently, and safely.</a:t>
            </a:r>
          </a:p>
          <a:p>
            <a:pPr lvl="0" indent="0" marL="0">
              <a:buNone/>
            </a:pPr>
          </a:p>
          <a:p>
            <a:pPr lvl="0" indent="0" marL="0">
              <a:buNone/>
            </a:pPr>
            <a:r>
              <a:rPr/>
              <a:t>Technology success means the right system is in place, reliably accessible, easy enough that staff choose to use it, and measurably improving the work it was meant to support.</a:t>
            </a:r>
          </a:p>
          <a:p>
            <a:pPr lvl="0" indent="0" marL="0">
              <a:buNone/>
            </a:pPr>
          </a:p>
          <a:p>
            <a:pPr lvl="0" indent="0" marL="0">
              <a:buNone/>
            </a:pPr>
            <a:r>
              <a:rPr/>
              <a:t>And that has to remain true after launch day.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most dangerous assumption in Health IT is that going live means the technology has succeeded.</a:t>
            </a:r>
          </a:p>
          <a:p>
            <a:pPr lvl="0" indent="0" marL="0">
              <a:buNone/>
            </a:pPr>
          </a:p>
          <a:p>
            <a:pPr lvl="0" indent="0" marL="0">
              <a:buNone/>
            </a:pPr>
            <a:r>
              <a:rPr/>
              <a:t>After launch, support begins to withdraw. Small issues accumulate. Staff find workarounds for friction points. Those workarounds become habits.</a:t>
            </a:r>
          </a:p>
          <a:p>
            <a:pPr lvl="0" indent="0" marL="0">
              <a:buNone/>
            </a:pPr>
          </a:p>
          <a:p>
            <a:pPr lvl="0" indent="0" marL="0">
              <a:buNone/>
            </a:pPr>
            <a:r>
              <a:rPr/>
              <a:t>Months later, what looks like a technology failure has often been building since the week after launch.</a:t>
            </a:r>
          </a:p>
          <a:p>
            <a:pPr lvl="0" indent="0" marL="0">
              <a:buNone/>
            </a:pPr>
          </a:p>
          <a:p>
            <a:pPr lvl="0" indent="0" marL="0">
              <a:buNone/>
            </a:pPr>
            <a:r>
              <a:rPr/>
              <a:t>The real measure is adoption. Not whether the system can be used, but whether it is being used as intended, by the right staff, across real conditions.</a:t>
            </a:r>
          </a:p>
          <a:p>
            <a:pPr lvl="0" indent="0" marL="0">
              <a:buNone/>
            </a:pPr>
          </a:p>
          <a:p>
            <a:pPr lvl="0" indent="0" marL="0">
              <a:buNone/>
            </a:pPr>
            <a:r>
              <a:rPr/>
              <a:t>A system that staff work around has failed, no matter how smoothly it launched.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six technology failure areas. Again, do not try to memorize the list. Listen for the pattern: the system can be present, available, and still clinically unreliable.</a:t>
            </a:r>
          </a:p>
          <a:p>
            <a:pPr lvl="0" indent="0" marL="0">
              <a:buNone/>
            </a:pPr>
          </a:p>
          <a:p>
            <a:pPr lvl="0" indent="0" marL="0">
              <a:buNone/>
            </a:pPr>
            <a:r>
              <a:rPr/>
              <a:t>First: wrong system selection. The system does not fit how staff actually work.</a:t>
            </a:r>
          </a:p>
          <a:p>
            <a:pPr lvl="0" indent="0" marL="0">
              <a:buNone/>
            </a:pPr>
          </a:p>
          <a:p>
            <a:pPr lvl="0" indent="0" marL="0">
              <a:buNone/>
            </a:pPr>
            <a:r>
              <a:rPr/>
              <a:t>Second: access and infrastructure. Staff cannot reliably reach the system where the work happens.</a:t>
            </a:r>
          </a:p>
          <a:p>
            <a:pPr lvl="0" indent="0" marL="0">
              <a:buNone/>
            </a:pPr>
          </a:p>
          <a:p>
            <a:pPr lvl="0" indent="0" marL="0">
              <a:buNone/>
            </a:pPr>
            <a:r>
              <a:rPr/>
              <a:t>Third: data accuracy and system connections. This is the highest-risk area. Incorrect data can directly affect patient safety, and the failure may be invisible until someone acts on the wrong information.</a:t>
            </a:r>
          </a:p>
          <a:p>
            <a:pPr lvl="0" indent="0" marL="0">
              <a:buNone/>
            </a:pPr>
          </a:p>
          <a:p>
            <a:pPr lvl="0" indent="0" marL="0">
              <a:buNone/>
            </a:pPr>
            <a:r>
              <a:rPr/>
              <a:t>Fourth: staff not using the system. The system is available, but too slow, too cumbersome, or too disconnected from real workflows.</a:t>
            </a:r>
          </a:p>
          <a:p>
            <a:pPr lvl="0" indent="0" marL="0">
              <a:buNone/>
            </a:pPr>
          </a:p>
          <a:p>
            <a:pPr lvl="0" indent="0" marL="0">
              <a:buNone/>
            </a:pPr>
            <a:r>
              <a:rPr/>
              <a:t>Fifth: the system does not improve the work. It runs, but the promised improvement never appears.</a:t>
            </a:r>
          </a:p>
          <a:p>
            <a:pPr lvl="0" indent="0" marL="0">
              <a:buNone/>
            </a:pPr>
          </a:p>
          <a:p>
            <a:pPr lvl="0" indent="0" marL="0">
              <a:buNone/>
            </a:pPr>
            <a:r>
              <a:rPr/>
              <a:t>Sixth: decline after launch. The system works at launch, then deteriorates as support withdraws and small problems compound.</a:t>
            </a:r>
          </a:p>
          <a:p>
            <a:pPr lvl="0" indent="0" marL="0">
              <a:buNone/>
            </a:pPr>
          </a:p>
          <a:p>
            <a:pPr lvl="0" indent="0" marL="0">
              <a:buNone/>
            </a:pPr>
            <a:r>
              <a:rPr/>
              <a:t>Four of these six can fail silently. That is why technology monitoring cannot stop at uptime.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Technology problems do not stay technical for long.</a:t>
            </a:r>
          </a:p>
          <a:p>
            <a:pPr lvl="0" indent="0" marL="0">
              <a:buNone/>
            </a:pPr>
          </a:p>
          <a:p>
            <a:pPr lvl="0" indent="0" marL="0">
              <a:buNone/>
            </a:pPr>
            <a:r>
              <a:rPr/>
              <a:t>When data accuracy fails, staff stop trusting the system. They create paper logs, manual checks, and informal safeguards. The process becomes inconsistent across the organization.</a:t>
            </a:r>
          </a:p>
          <a:p>
            <a:pPr lvl="0" indent="0" marL="0">
              <a:buNone/>
            </a:pPr>
          </a:p>
          <a:p>
            <a:pPr lvl="0" indent="0" marL="0">
              <a:buNone/>
            </a:pPr>
            <a:r>
              <a:rPr/>
              <a:t>When staff stop using the system, the work splits. Some of it is in the system. Some of it is outside. No one has a complete picture of any given patient.</a:t>
            </a:r>
          </a:p>
          <a:p>
            <a:pPr lvl="0" indent="0" marL="0">
              <a:buNone/>
            </a:pPr>
          </a:p>
          <a:p>
            <a:pPr lvl="0" indent="0" marL="0">
              <a:buNone/>
            </a:pPr>
            <a:r>
              <a:rPr/>
              <a:t>When a system is selected without genuine staff input, trust is damaged early. People who might have supported the project become resistant before the project has even reached its hardest phase.</a:t>
            </a:r>
          </a:p>
          <a:p>
            <a:pPr lvl="0" indent="0" marL="0">
              <a:buNone/>
            </a:pPr>
          </a:p>
          <a:p>
            <a:pPr lvl="0" indent="0" marL="0">
              <a:buNone/>
            </a:pPr>
            <a:r>
              <a:rPr/>
              <a:t>So if a technology problem keeps returning, do not assume the cause is technical. It may be sitting in Process or People.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Process Layer manages the transition from how work is done today to how it needs to be done after the change.</a:t>
            </a:r>
          </a:p>
          <a:p>
            <a:pPr lvl="0" indent="0" marL="0">
              <a:buNone/>
            </a:pPr>
          </a:p>
          <a:p>
            <a:pPr lvl="0" indent="0" marL="0">
              <a:buNone/>
            </a:pPr>
            <a:r>
              <a:rPr/>
              <a:t>In the Process Layer, engineered success means the transition period is actively closed. It is not allowed to become the new normal.</a:t>
            </a:r>
          </a:p>
          <a:p>
            <a:pPr lvl="0" indent="0" marL="0">
              <a:buNone/>
            </a:pPr>
          </a:p>
          <a:p>
            <a:pPr lvl="0" indent="0" marL="0">
              <a:buNone/>
            </a:pPr>
            <a:r>
              <a:rPr/>
              <a:t>Every clinical environment has two versions of every process.</a:t>
            </a:r>
          </a:p>
          <a:p>
            <a:pPr lvl="0" indent="0" marL="0">
              <a:buNone/>
            </a:pPr>
          </a:p>
          <a:p>
            <a:pPr lvl="0" indent="0" marL="0">
              <a:buNone/>
            </a:pPr>
            <a:r>
              <a:rPr/>
              <a:t>There is the official version: the policy, the flowchart, the version leadership believes is happening.</a:t>
            </a:r>
          </a:p>
          <a:p>
            <a:pPr lvl="0" indent="0" marL="0">
              <a:buNone/>
            </a:pPr>
          </a:p>
          <a:p>
            <a:pPr lvl="0" indent="0" marL="0">
              <a:buNone/>
            </a:pPr>
            <a:r>
              <a:rPr/>
              <a:t>Then there is the real version: what staff actually do under time pressure, during short-staffed shifts, and in the gaps the formal process never solved.</a:t>
            </a:r>
          </a:p>
          <a:p>
            <a:pPr lvl="0" indent="0" marL="0">
              <a:buNone/>
            </a:pPr>
          </a:p>
          <a:p>
            <a:pPr lvl="0" indent="0" marL="0">
              <a:buNone/>
            </a:pPr>
            <a:r>
              <a:rPr/>
              <a:t>The gap between those two versions is where implementations fall apart.</a:t>
            </a:r>
          </a:p>
          <a:p>
            <a:pPr lvl="0" indent="0" marL="0">
              <a:buNone/>
            </a:pPr>
          </a:p>
          <a:p>
            <a:pPr lvl="0" indent="0" marL="0">
              <a:buNone/>
            </a:pPr>
            <a:r>
              <a:rPr/>
              <a:t>Process success is not a signed-off workflow. It is the future-state workflow being executed correctly by actual clinical staff, in real conditions, with workarounds addressed, improvement measured, and no quiet regression.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Hold onto this phrase: transition period.</a:t>
            </a:r>
          </a:p>
          <a:p>
            <a:pPr lvl="0" indent="0" marL="0">
              <a:buNone/>
            </a:pPr>
          </a:p>
          <a:p>
            <a:pPr lvl="0" indent="0" marL="0">
              <a:buNone/>
            </a:pPr>
            <a:r>
              <a:rPr/>
              <a:t>This is the interval where old and new processes run at the same time.</a:t>
            </a:r>
          </a:p>
          <a:p>
            <a:pPr lvl="0" indent="0" marL="0">
              <a:buNone/>
            </a:pPr>
          </a:p>
          <a:p>
            <a:pPr lvl="0" indent="0" marL="0">
              <a:buNone/>
            </a:pPr>
            <a:r>
              <a:rPr/>
              <a:t>Some records are in the new system. Some are on paper. Some staff follow the new process. Some follow the old one. No one has a complete picture of any given patient.</a:t>
            </a:r>
          </a:p>
          <a:p>
            <a:pPr lvl="0" indent="0" marL="0">
              <a:buNone/>
            </a:pPr>
          </a:p>
          <a:p>
            <a:pPr lvl="0" indent="0" marL="0">
              <a:buNone/>
            </a:pPr>
            <a:r>
              <a:rPr/>
              <a:t>This is where information gets lost, handoffs fail, and errors occur. Not because the system crashed, but because two versions of reality are running at once.</a:t>
            </a:r>
          </a:p>
          <a:p>
            <a:pPr lvl="0" indent="0" marL="0">
              <a:buNone/>
            </a:pPr>
          </a:p>
          <a:p>
            <a:pPr lvl="0" indent="0" marL="0">
              <a:buNone/>
            </a:pPr>
            <a:r>
              <a:rPr/>
              <a:t>Within about thirty days, if both processes are still running side by side, staff stop treating the situation as temporary. It becomes normal.</a:t>
            </a:r>
          </a:p>
          <a:p>
            <a:pPr lvl="0" indent="0" marL="0">
              <a:buNone/>
            </a:pPr>
          </a:p>
          <a:p>
            <a:pPr lvl="0" indent="0" marL="0">
              <a:buNone/>
            </a:pPr>
            <a:r>
              <a:rPr/>
              <a:t>A controlled step backward is recoverable. A normalized transition period is not. It is a failed implementation dressed as a work in progress.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seven process failure areas. The pattern is simple: the process can look clean in governance and still fail on the floor.</a:t>
            </a:r>
          </a:p>
          <a:p>
            <a:pPr lvl="0" indent="0" marL="0">
              <a:buNone/>
            </a:pPr>
          </a:p>
          <a:p>
            <a:pPr lvl="0" indent="0" marL="0">
              <a:buNone/>
            </a:pPr>
            <a:r>
              <a:rPr/>
              <a:t>First: getting the current picture wrong. The new process is designed against the official story, not the real work.</a:t>
            </a:r>
          </a:p>
          <a:p>
            <a:pPr lvl="0" indent="0" marL="0">
              <a:buNone/>
            </a:pPr>
          </a:p>
          <a:p>
            <a:pPr lvl="0" indent="0" marL="0">
              <a:buNone/>
            </a:pPr>
            <a:r>
              <a:rPr/>
              <a:t>Second: designing a process that cannot survive reality. It works in planning and fails under short staffing, high demand, or system slowdown.</a:t>
            </a:r>
          </a:p>
          <a:p>
            <a:pPr lvl="0" indent="0" marL="0">
              <a:buNone/>
            </a:pPr>
          </a:p>
          <a:p>
            <a:pPr lvl="0" indent="0" marL="0">
              <a:buNone/>
            </a:pPr>
            <a:r>
              <a:rPr/>
              <a:t>Third: the transition period becomes permanent. This is the organizing risk of the Process Layer.</a:t>
            </a:r>
          </a:p>
          <a:p>
            <a:pPr lvl="0" indent="0" marL="0">
              <a:buNone/>
            </a:pPr>
          </a:p>
          <a:p>
            <a:pPr lvl="0" indent="0" marL="0">
              <a:buNone/>
            </a:pPr>
            <a:r>
              <a:rPr/>
              <a:t>Fourth: missing unofficial workarounds. These are not just inefficiencies. Often, they are compensating mechanisms for gaps in the formal process.</a:t>
            </a:r>
          </a:p>
          <a:p>
            <a:pPr lvl="0" indent="0" marL="0">
              <a:buNone/>
            </a:pPr>
          </a:p>
          <a:p>
            <a:pPr lvl="0" indent="0" marL="0">
              <a:buNone/>
            </a:pPr>
            <a:r>
              <a:rPr/>
              <a:t>Fifth: the process works for champions, but not for everyone. Aggregate compliance hides the weak unit, the night shift, or the reluctant department.</a:t>
            </a:r>
          </a:p>
          <a:p>
            <a:pPr lvl="0" indent="0" marL="0">
              <a:buNone/>
            </a:pPr>
          </a:p>
          <a:p>
            <a:pPr lvl="0" indent="0" marL="0">
              <a:buNone/>
            </a:pPr>
            <a:r>
              <a:rPr/>
              <a:t>Sixth: the process works but produces no improvement. Compliance is achieved, but outcomes stay flat.</a:t>
            </a:r>
          </a:p>
          <a:p>
            <a:pPr lvl="0" indent="0" marL="0">
              <a:buNone/>
            </a:pPr>
          </a:p>
          <a:p>
            <a:pPr lvl="0" indent="0" marL="0">
              <a:buNone/>
            </a:pPr>
            <a:r>
              <a:rPr/>
              <a:t>Seventh: sliding back to the old way of working. The future state erodes after the project team leaves.</a:t>
            </a:r>
          </a:p>
          <a:p>
            <a:pPr lvl="0" indent="0" marL="0">
              <a:buNone/>
            </a:pPr>
          </a:p>
          <a:p>
            <a:pPr lvl="0" indent="0" marL="0">
              <a:buNone/>
            </a:pPr>
            <a:r>
              <a:rPr/>
              <a:t>Five of these seven can fail silently. Floor reality has to be checked directly. The spreadsheet will not tell the whole truth.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Process problems spread quickly.</a:t>
            </a:r>
          </a:p>
          <a:p>
            <a:pPr lvl="0" indent="0" marL="0">
              <a:buNone/>
            </a:pPr>
          </a:p>
          <a:p>
            <a:pPr lvl="0" indent="0" marL="0">
              <a:buNone/>
            </a:pPr>
            <a:r>
              <a:rPr/>
              <a:t>If the current state picture is wrong, the system gets configured against a false foundation. At deployment, the mismatch looks like a technology problem. It began as a process failure.</a:t>
            </a:r>
          </a:p>
          <a:p>
            <a:pPr lvl="0" indent="0" marL="0">
              <a:buNone/>
            </a:pPr>
          </a:p>
          <a:p>
            <a:pPr lvl="0" indent="0" marL="0">
              <a:buNone/>
            </a:pPr>
            <a:r>
              <a:rPr/>
              <a:t>If the transition period normalizes, data splits between old and new ways of working. The system may be technically operational, but clinically untrustworthy.</a:t>
            </a:r>
          </a:p>
          <a:p>
            <a:pPr lvl="0" indent="0" marL="0">
              <a:buNone/>
            </a:pPr>
          </a:p>
          <a:p>
            <a:pPr lvl="0" indent="0" marL="0">
              <a:buNone/>
            </a:pPr>
            <a:r>
              <a:rPr/>
              <a:t>If the process regresses, the people who championed it lose credibility. Their advocacy weakens. The People Layer begins to erode.</a:t>
            </a:r>
          </a:p>
          <a:p>
            <a:pPr lvl="0" indent="0" marL="0">
              <a:buNone/>
            </a:pPr>
          </a:p>
          <a:p>
            <a:pPr lvl="0" indent="0" marL="0">
              <a:buNone/>
            </a:pPr>
            <a:r>
              <a:rPr/>
              <a:t>This is why governance matters. Getting the current picture right requires front-line access. Designing a survivable workflow requires clinical authority. Closing the transition requires operational authority.</a:t>
            </a:r>
          </a:p>
          <a:p>
            <a:pPr lvl="0" indent="0" marL="0">
              <a:buNone/>
            </a:pPr>
          </a:p>
          <a:p>
            <a:pPr lvl="0" indent="0" marL="0">
              <a:buNone/>
            </a:pPr>
            <a:r>
              <a:rPr/>
              <a:t>If governance cannot activate the right authority at the right moment, the failure control map is not a management tool. It is paperwork.</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Technology and process can look stable on a dashboard. People cannot.</a:t>
            </a:r>
          </a:p>
          <a:p>
            <a:pPr lvl="0" indent="0" marL="0">
              <a:buNone/>
            </a:pPr>
          </a:p>
          <a:p>
            <a:pPr lvl="0" indent="0" marL="0">
              <a:buNone/>
            </a:pPr>
            <a:r>
              <a:rPr/>
              <a:t>In the People Layer, engineered success means stakeholder movement is tracked and managed. It is not left to communication plans and hope.</a:t>
            </a:r>
          </a:p>
          <a:p>
            <a:pPr lvl="0" indent="0" marL="0">
              <a:buNone/>
            </a:pPr>
          </a:p>
          <a:p>
            <a:pPr lvl="0" indent="0" marL="0">
              <a:buNone/>
            </a:pPr>
            <a:r>
              <a:rPr/>
              <a:t>The People Layer manages where each person stands in relation to the change, and whether they are moving in the direction the project needs.</a:t>
            </a:r>
          </a:p>
          <a:p>
            <a:pPr lvl="0" indent="0" marL="0">
              <a:buNone/>
            </a:pPr>
          </a:p>
          <a:p>
            <a:pPr lvl="0" indent="0" marL="0">
              <a:buNone/>
            </a:pPr>
            <a:r>
              <a:rPr/>
              <a:t>Technology failure is visible. A system goes down. Someone notices.</a:t>
            </a:r>
          </a:p>
          <a:p>
            <a:pPr lvl="0" indent="0" marL="0">
              <a:buNone/>
            </a:pPr>
          </a:p>
          <a:p>
            <a:pPr lvl="0" indent="0" marL="0">
              <a:buNone/>
            </a:pPr>
            <a:r>
              <a:rPr/>
              <a:t>Process failure is observable. A handoff is missed. Documentation is split. Evidence appears.</a:t>
            </a:r>
          </a:p>
          <a:p>
            <a:pPr lvl="0" indent="0" marL="0">
              <a:buNone/>
            </a:pPr>
          </a:p>
          <a:p>
            <a:pPr lvl="0" indent="0" marL="0">
              <a:buNone/>
            </a:pPr>
            <a:r>
              <a:rPr/>
              <a:t>People failure is neither. A stakeholder drifts from support to disengagement. A champion burns out. A senior leader approves in governance and slow-rolls in operations.</a:t>
            </a:r>
          </a:p>
          <a:p>
            <a:pPr lvl="0" indent="0" marL="0">
              <a:buNone/>
            </a:pPr>
          </a:p>
          <a:p>
            <a:pPr lvl="0" indent="0" marL="0">
              <a:buNone/>
            </a:pPr>
            <a:r>
              <a:rPr/>
              <a:t>By formal measures, that leader may still look supportive. Operationally, they are an obstacle.</a:t>
            </a:r>
          </a:p>
          <a:p>
            <a:pPr lvl="0" indent="0" marL="0">
              <a:buNone/>
            </a:pPr>
          </a:p>
          <a:p>
            <a:pPr lvl="0" indent="0" marL="0">
              <a:buNone/>
            </a:pPr>
            <a:r>
              <a:rPr/>
              <a:t>And unlike the other layers, People has no finish line. Behavior does not resolve on a project timeline.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most Health IT implementations, the largest group is neither actively resisting nor actively supporting.</a:t>
            </a:r>
          </a:p>
          <a:p>
            <a:pPr lvl="0" indent="0" marL="0">
              <a:buNone/>
            </a:pPr>
          </a:p>
          <a:p>
            <a:pPr lvl="0" indent="0" marL="0">
              <a:buNone/>
            </a:pPr>
            <a:r>
              <a:rPr/>
              <a:t>They are watching.</a:t>
            </a:r>
          </a:p>
          <a:p>
            <a:pPr lvl="0" indent="0" marL="0">
              <a:buNone/>
            </a:pPr>
          </a:p>
          <a:p>
            <a:pPr lvl="0" indent="0" marL="0">
              <a:buNone/>
            </a:pPr>
            <a:r>
              <a:rPr/>
              <a:t>They watch project momentum. They watch the behavior of people they respect. They watch whether leadership is serious after the first pressure point.</a:t>
            </a:r>
          </a:p>
          <a:p>
            <a:pPr lvl="0" indent="0" marL="0">
              <a:buNone/>
            </a:pPr>
          </a:p>
          <a:p>
            <a:pPr lvl="0" indent="0" marL="0">
              <a:buNone/>
            </a:pPr>
            <a:r>
              <a:rPr/>
              <a:t>Moving even part of this neutral zone toward passive support matters more than converting one active resistor.</a:t>
            </a:r>
          </a:p>
          <a:p>
            <a:pPr lvl="0" indent="0" marL="0">
              <a:buNone/>
            </a:pPr>
          </a:p>
          <a:p>
            <a:pPr lvl="0" indent="0" marL="0">
              <a:buNone/>
            </a:pPr>
            <a:r>
              <a:rPr/>
              <a:t>What moves them is usually not another email, another training module, or another executive message.</a:t>
            </a:r>
          </a:p>
          <a:p>
            <a:pPr lvl="0" indent="0" marL="0">
              <a:buNone/>
            </a:pPr>
          </a:p>
          <a:p>
            <a:pPr lvl="0" indent="0" marL="0">
              <a:buNone/>
            </a:pPr>
            <a:r>
              <a:rPr/>
              <a:t>They are asking a social question: who has already decided, and do I trust that person’s judgment?</a:t>
            </a:r>
          </a:p>
          <a:p>
            <a:pPr lvl="0" indent="0" marL="0">
              <a:buNone/>
            </a:pPr>
          </a:p>
          <a:p>
            <a:pPr lvl="0" indent="0" marL="0">
              <a:buNone/>
            </a:pPr>
            <a:r>
              <a:rPr/>
              <a:t>That is why champion placement matters more than champion headcount. Ten enthusiastic advocates in informatics do not cover a gap in clinical operations.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failure is the quietest failure domain. There are seven common areas.</a:t>
            </a:r>
          </a:p>
          <a:p>
            <a:pPr lvl="0" indent="0" marL="0">
              <a:buNone/>
            </a:pPr>
          </a:p>
          <a:p>
            <a:pPr lvl="0" indent="0" marL="0">
              <a:buNone/>
            </a:pPr>
            <a:r>
              <a:rPr/>
              <a:t>First: stakeholder mapping failure. The project does not know who matters, where they stand, or what authority they hold.</a:t>
            </a:r>
          </a:p>
          <a:p>
            <a:pPr lvl="0" indent="0" marL="0">
              <a:buNone/>
            </a:pPr>
          </a:p>
          <a:p>
            <a:pPr lvl="0" indent="0" marL="0">
              <a:buNone/>
            </a:pPr>
            <a:r>
              <a:rPr/>
              <a:t>Second: critical node exposure. A person who controls decisions, resources, information, or informal influence sits in resistance.</a:t>
            </a:r>
          </a:p>
          <a:p>
            <a:pPr lvl="0" indent="0" marL="0">
              <a:buNone/>
            </a:pPr>
          </a:p>
          <a:p>
            <a:pPr lvl="0" indent="0" marL="0">
              <a:buNone/>
            </a:pPr>
            <a:r>
              <a:rPr/>
              <a:t>Third: the authority-behavior gap. Someone holds formal accountability but does not exercise it. This is worse than having no owner, because it creates the appearance of control.</a:t>
            </a:r>
          </a:p>
          <a:p>
            <a:pPr lvl="0" indent="0" marL="0">
              <a:buNone/>
            </a:pPr>
          </a:p>
          <a:p>
            <a:pPr lvl="0" indent="0" marL="0">
              <a:buNone/>
            </a:pPr>
            <a:r>
              <a:rPr/>
              <a:t>Fourth: champion deficit. The advocate network does not cover the terrain it needs to cover.</a:t>
            </a:r>
          </a:p>
          <a:p>
            <a:pPr lvl="0" indent="0" marL="0">
              <a:buNone/>
            </a:pPr>
          </a:p>
          <a:p>
            <a:pPr lvl="0" indent="0" marL="0">
              <a:buNone/>
            </a:pPr>
            <a:r>
              <a:rPr/>
              <a:t>Fifth: neutral zone inertia. The undecided population is not moving, even after communication and training.</a:t>
            </a:r>
          </a:p>
          <a:p>
            <a:pPr lvl="0" indent="0" marL="0">
              <a:buNone/>
            </a:pPr>
          </a:p>
          <a:p>
            <a:pPr lvl="0" indent="0" marL="0">
              <a:buNone/>
            </a:pPr>
            <a:r>
              <a:rPr/>
              <a:t>Sixth: resistance mismanagement. Legitimate concern is treated as political opposition, or political opposition is treated as a training problem.</a:t>
            </a:r>
          </a:p>
          <a:p>
            <a:pPr lvl="0" indent="0" marL="0">
              <a:buNone/>
            </a:pPr>
          </a:p>
          <a:p>
            <a:pPr lvl="0" indent="0" marL="0">
              <a:buNone/>
            </a:pPr>
            <a:r>
              <a:rPr/>
              <a:t>Seventh: tracking decay and regression. The stakeholder map was accurate at the start, then the landscape changed and no one updated it.</a:t>
            </a:r>
          </a:p>
          <a:p>
            <a:pPr lvl="0" indent="0" marL="0">
              <a:buNone/>
            </a:pPr>
          </a:p>
          <a:p>
            <a:pPr lvl="0" indent="0" marL="0">
              <a:buNone/>
            </a:pPr>
            <a:r>
              <a:rPr/>
              <a:t>Five of these seven can fail silently. There is no dashboard for disengagement.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is not just the third layer. It is the substrate the other two layers depend on.</a:t>
            </a:r>
          </a:p>
          <a:p>
            <a:pPr lvl="0" indent="0" marL="0">
              <a:buNone/>
            </a:pPr>
          </a:p>
          <a:p>
            <a:pPr lvl="0" indent="0" marL="0">
              <a:buNone/>
            </a:pPr>
            <a:r>
              <a:rPr/>
              <a:t>When the authority-behavior gap is present, process decisions go unmade, inconsistency goes unchallenged, and regression goes unaddressed.</a:t>
            </a:r>
          </a:p>
          <a:p>
            <a:pPr lvl="0" indent="0" marL="0">
              <a:buNone/>
            </a:pPr>
          </a:p>
          <a:p>
            <a:pPr lvl="0" indent="0" marL="0">
              <a:buNone/>
            </a:pPr>
            <a:r>
              <a:rPr/>
              <a:t>When the neutral zone does not move, adoption fails even if the system is technically sound and training was completed.</a:t>
            </a:r>
          </a:p>
          <a:p>
            <a:pPr lvl="0" indent="0" marL="0">
              <a:buNone/>
            </a:pPr>
          </a:p>
          <a:p>
            <a:pPr lvl="0" indent="0" marL="0">
              <a:buNone/>
            </a:pPr>
            <a:r>
              <a:rPr/>
              <a:t>When champions burn out, both process compliance and system adoption lose their sustaining mechanism at the same time.</a:t>
            </a:r>
          </a:p>
          <a:p>
            <a:pPr lvl="0" indent="0" marL="0">
              <a:buNone/>
            </a:pPr>
          </a:p>
          <a:p>
            <a:pPr lvl="0" indent="0" marL="0">
              <a:buNone/>
            </a:pPr>
            <a:r>
              <a:rPr/>
              <a:t>A technically sound system deployed into passive resistance will fail.</a:t>
            </a:r>
          </a:p>
          <a:p>
            <a:pPr lvl="0" indent="0" marL="0">
              <a:buNone/>
            </a:pPr>
          </a:p>
          <a:p>
            <a:pPr lvl="0" indent="0" marL="0">
              <a:buNone/>
            </a:pPr>
            <a:r>
              <a:rPr/>
              <a:t>A well-designed process owned by nominal champions will regress.</a:t>
            </a:r>
          </a:p>
          <a:p>
            <a:pPr lvl="0" indent="0" marL="0">
              <a:buNone/>
            </a:pPr>
          </a:p>
          <a:p>
            <a:pPr lvl="0" indent="0" marL="0">
              <a:buNone/>
            </a:pPr>
            <a:r>
              <a:rPr/>
              <a:t>People failure is usually the last to be noticed and the most expensive to recover.</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put the pieces together.</a:t>
            </a:r>
          </a:p>
          <a:p>
            <a:pPr lvl="0" indent="0" marL="0">
              <a:buNone/>
            </a:pPr>
          </a:p>
          <a:p>
            <a:pPr lvl="0" indent="0" marL="0">
              <a:buNone/>
            </a:pPr>
            <a:r>
              <a:rPr/>
              <a:t>The first chain is The Silent Parallel State.</a:t>
            </a:r>
          </a:p>
          <a:p>
            <a:pPr lvl="0" indent="0" marL="0">
              <a:buNone/>
            </a:pPr>
          </a:p>
          <a:p>
            <a:pPr lvl="0" indent="0" marL="0">
              <a:buNone/>
            </a:pPr>
            <a:r>
              <a:rPr/>
              <a:t>The current state was never honestly mapped. The future process cannot hold. Staff route around the system. The transition never closes. Data splits. Reports become unreliable. Resistance hardens because staff now have evidence that the system cannot be trusted.</a:t>
            </a:r>
          </a:p>
          <a:p>
            <a:pPr lvl="0" indent="0" marL="0">
              <a:buNone/>
            </a:pPr>
          </a:p>
          <a:p>
            <a:pPr lvl="0" indent="0" marL="0">
              <a:buNone/>
            </a:pPr>
            <a:r>
              <a:rPr/>
              <a:t>The second chain is The Post-Launch Collapse.</a:t>
            </a:r>
          </a:p>
          <a:p>
            <a:pPr lvl="0" indent="0" marL="0">
              <a:buNone/>
            </a:pPr>
          </a:p>
          <a:p>
            <a:pPr lvl="0" indent="0" marL="0">
              <a:buNone/>
            </a:pPr>
            <a:r>
              <a:rPr/>
              <a:t>Support withdraws after go-live. The system deteriorates gradually. Champions lose credibility and disengage. The process erodes. No one is tracking it, because the monitoring cadence ended when the project team left.</a:t>
            </a:r>
          </a:p>
          <a:p>
            <a:pPr lvl="0" indent="0" marL="0">
              <a:buNone/>
            </a:pPr>
          </a:p>
          <a:p>
            <a:pPr lvl="0" indent="0" marL="0">
              <a:buNone/>
            </a:pPr>
            <a:r>
              <a:rPr/>
              <a:t>The third chain is The Authority Vacuum.</a:t>
            </a:r>
          </a:p>
          <a:p>
            <a:pPr lvl="0" indent="0" marL="0">
              <a:buNone/>
            </a:pPr>
          </a:p>
          <a:p>
            <a:pPr lvl="0" indent="0" marL="0">
              <a:buNone/>
            </a:pPr>
            <a:r>
              <a:rPr/>
              <a:t>A senior leader holds formal accountability but does not exercise it. Process ownership becomes nominal. The system runs, but the improvement never materializes. Critical decisions are made by default. The system becomes less fit for purpose over time.</a:t>
            </a:r>
          </a:p>
          <a:p>
            <a:pPr lvl="0" indent="0" marL="0">
              <a:buNone/>
            </a:pPr>
          </a:p>
          <a:p>
            <a:pPr lvl="0" indent="0" marL="0">
              <a:buNone/>
            </a:pPr>
            <a:r>
              <a:rPr/>
              <a:t>Each chain has an entry point. Intervening there is far cheaper than managing the chain after it has already run.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framework does not change across the project lifecycle. The risk focus changes.</a:t>
            </a:r>
          </a:p>
          <a:p>
            <a:pPr lvl="0" indent="0" marL="0">
              <a:buNone/>
            </a:pPr>
          </a:p>
          <a:p>
            <a:pPr lvl="0" indent="0" marL="0">
              <a:buNone/>
            </a:pPr>
            <a:r>
              <a:rPr/>
              <a:t>In Initiation and Discovery, the risk is building on a false foundation. This is where real workflows, stakeholder positions, infrastructure, data quality, and success criteria are established.</a:t>
            </a:r>
          </a:p>
          <a:p>
            <a:pPr lvl="0" indent="0" marL="0">
              <a:buNone/>
            </a:pPr>
          </a:p>
          <a:p>
            <a:pPr lvl="0" indent="0" marL="0">
              <a:buNone/>
            </a:pPr>
            <a:r>
              <a:rPr/>
              <a:t>In Design and Configuration, the risk is embedding failure into the design. Many process decisions are made inside system configuration before anyone names them as process decisions.</a:t>
            </a:r>
          </a:p>
          <a:p>
            <a:pPr lvl="0" indent="0" marL="0">
              <a:buNone/>
            </a:pPr>
          </a:p>
          <a:p>
            <a:pPr lvl="0" indent="0" marL="0">
              <a:buNone/>
            </a:pPr>
            <a:r>
              <a:rPr/>
              <a:t>In Testing and Piloting, the risk is a clean test environment that does not predict real deployment. This is the last safe point to refine response protocols.</a:t>
            </a:r>
          </a:p>
          <a:p>
            <a:pPr lvl="0" indent="0" marL="0">
              <a:buNone/>
            </a:pPr>
          </a:p>
          <a:p>
            <a:pPr lvl="0" indent="0" marL="0">
              <a:buNone/>
            </a:pPr>
            <a:r>
              <a:rPr/>
              <a:t>In Go-Live and Transition, the risk is treating go-live as the finish line. The priority is closing the transition period quickly, with floor support, leadership presence, unit-level monitoring, and a thirty-day escalation trigger.</a:t>
            </a:r>
          </a:p>
          <a:p>
            <a:pPr lvl="0" indent="0" marL="0">
              <a:buNone/>
            </a:pPr>
          </a:p>
          <a:p>
            <a:pPr lvl="0" indent="0" marL="0">
              <a:buNone/>
            </a:pPr>
            <a:r>
              <a:rPr/>
              <a:t>In Post-Live Sustainment, the risk is failure after the project team leaves. Ownership transfer, twelve-month compliance monitoring, and scheduled stakeholder reassessments are not optional.</a:t>
            </a:r>
          </a:p>
          <a:p>
            <a:pPr lvl="0" indent="0" marL="0">
              <a:buNone/>
            </a:pPr>
          </a:p>
          <a:p>
            <a:pPr lvl="0" indent="0" marL="0">
              <a:buNone/>
            </a:pPr>
            <a:r>
              <a:rPr/>
              <a:t>Across all phases, the outputs must become live instruments: success criteria, assumption trackers, risk registers, detection cadences, prevention tasks, and response protocols.</a:t>
            </a:r>
          </a:p>
          <a:p>
            <a:pPr lvl="0" indent="0" marL="0">
              <a:buNone/>
            </a:pPr>
          </a:p>
          <a:p>
            <a:pPr lvl="0" indent="0" marL="0">
              <a:buNone/>
            </a:pPr>
            <a:r>
              <a:rPr/>
              <a:t>If those outputs stay in a slide deck, the framework has not been implemented.</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began with the Core Statement. It is worth hearing again.</a:t>
            </a:r>
          </a:p>
          <a:p>
            <a:pPr lvl="0" indent="0" marL="0">
              <a:buNone/>
            </a:pPr>
          </a:p>
          <a:p>
            <a:pPr lvl="0" indent="0" marL="0">
              <a:buNone/>
            </a:pPr>
            <a:r>
              <a:rPr/>
              <a:t>“Change management is the disciplined management of failure across People, Process, and Technology — concurrent with project execution — to protect the integrity of the transition from the current to the future state.”</a:t>
            </a:r>
          </a:p>
          <a:p>
            <a:pPr lvl="0" indent="0" marL="0">
              <a:buNone/>
            </a:pPr>
          </a:p>
          <a:p>
            <a:pPr lvl="0" indent="0" marL="0">
              <a:buNone/>
            </a:pPr>
            <a:r>
              <a:rPr/>
              <a:t>The first time, that sentence was a premise. Now it is a summary.</a:t>
            </a:r>
          </a:p>
          <a:p>
            <a:pPr lvl="0" indent="0" marL="0">
              <a:buNone/>
            </a:pPr>
          </a:p>
          <a:p>
            <a:pPr lvl="0" indent="0" marL="0">
              <a:buNone/>
            </a:pPr>
            <a:r>
              <a:rPr/>
              <a:t>This framework does not promise a successful implementation. It gives you the structure to make failure visible early enough to act.</a:t>
            </a:r>
          </a:p>
          <a:p>
            <a:pPr lvl="0" indent="0" marL="0">
              <a:buNone/>
            </a:pPr>
          </a:p>
          <a:p>
            <a:pPr lvl="0" indent="0" marL="0">
              <a:buNone/>
            </a:pPr>
            <a:r>
              <a:rPr/>
              <a:t>Before the silent parallel state becomes normal.</a:t>
            </a:r>
          </a:p>
          <a:p>
            <a:pPr lvl="0" indent="0" marL="0">
              <a:buNone/>
            </a:pPr>
          </a:p>
          <a:p>
            <a:pPr lvl="0" indent="0" marL="0">
              <a:buNone/>
            </a:pPr>
            <a:r>
              <a:rPr/>
              <a:t>Before the post-launch collapse begins.</a:t>
            </a:r>
          </a:p>
          <a:p>
            <a:pPr lvl="0" indent="0" marL="0">
              <a:buNone/>
            </a:pPr>
          </a:p>
          <a:p>
            <a:pPr lvl="0" indent="0" marL="0">
              <a:buNone/>
            </a:pPr>
            <a:r>
              <a:rPr/>
              <a:t>Before the authority vacuum swallows the improvement the project was meant to deliver.</a:t>
            </a:r>
          </a:p>
          <a:p>
            <a:pPr lvl="0" indent="0" marL="0">
              <a:buNone/>
            </a:pPr>
          </a:p>
          <a:p>
            <a:pPr lvl="0" indent="0" marL="0">
              <a:buNone/>
            </a:pPr>
            <a:r>
              <a:rPr/>
              <a:t>Failure is the default. Success is engineered. The discipline is how you protect the patient, the clinician, and the transition between them.</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Why Health IT Projects Fail — And What To Do About It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The Failure-Aware Change Management Framework</a:t>
            </a:r>
            <a:br/>
            <a:br/>
            <a:r>
              <a:rPr/>
              <a:t>Mike Muin</a:t>
            </a:r>
          </a:p>
        </p:txBody>
      </p:sp>
      <p:sp>
        <p:nvSpPr>
          <p:cNvPr id="4" name="Date Placeholder 3"/>
          <p:cNvSpPr>
            <a:spLocks noGrp="1"/>
          </p:cNvSpPr>
          <p:nvPr>
            <p:ph idx="10" sz="half" type="dt"/>
          </p:nvPr>
        </p:nvSpPr>
        <p:spPr/>
        <p:txBody>
          <a:bodyPr/>
          <a:lstStyle/>
          <a:p>
            <a:pPr lvl="0" indent="0" marL="0">
              <a:buNone/>
            </a:pPr>
            <a:r>
              <a:rPr/>
              <a:t>2026-04-13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Why Health IT Projects Fail — And What To Do About 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Subtitle:</a:t>
            </a:r>
            <a:r>
              <a:rPr/>
              <a:t> The Failure-Aware Change Management Framework</a:t>
            </a:r>
          </a:p>
          <a:p>
            <a:pPr lvl="0" indent="0" marL="0">
              <a:buNone/>
            </a:pPr>
            <a:r>
              <a:rPr b="1"/>
              <a:t>Notes:</a:t>
            </a:r>
            <a:r>
              <a:rPr/>
              <a:t> Field-tested, not theoretical. Establish that immediately.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Pattern That Keeps Repeating</a:t>
            </a:r>
          </a:p>
        </p:txBody>
      </p:sp>
      <p:sp>
        <p:nvSpPr>
          <p:cNvPr id="3" name="Content Placeholder 2"/>
          <p:cNvSpPr>
            <a:spLocks noGrp="1"/>
          </p:cNvSpPr>
          <p:nvPr>
            <p:ph idx="1"/>
          </p:nvPr>
        </p:nvSpPr>
        <p:spPr/>
        <p:txBody>
          <a:bodyPr/>
          <a:lstStyle/>
          <a:p>
            <a:pPr lvl="0" indent="0" marL="0">
              <a:buNone/>
            </a:pPr>
            <a:r>
              <a:rPr b="1"/>
              <a:t>Content:</a:t>
            </a:r>
            <a:r>
              <a:rPr/>
              <a:t> Three statements — each a real project post-mortem:</a:t>
            </a:r>
          </a:p>
          <a:p>
            <a:pPr lvl="0"/>
            <a:r>
              <a:rPr/>
              <a:t>“The system went live on time — but staff never really adopted it.”</a:t>
            </a:r>
          </a:p>
          <a:p>
            <a:pPr lvl="0"/>
            <a:r>
              <a:rPr/>
              <a:t>“The process looked right on paper — but that’s not how anyone actually worked.”</a:t>
            </a:r>
          </a:p>
          <a:p>
            <a:pPr lvl="0"/>
            <a:r>
              <a:rPr/>
              <a:t>“Leadership was supportive — until they weren’t.”</a:t>
            </a:r>
          </a:p>
          <a:p>
            <a:pPr lvl="0" indent="0" marL="0">
              <a:buNone/>
            </a:pPr>
            <a:r>
              <a:rPr b="1"/>
              <a:t>Subtext:</a:t>
            </a:r>
            <a:r>
              <a:rPr/>
              <a:t> These are not isolated failures. They are the same failure, wearing different clothes.</a:t>
            </a:r>
          </a:p>
          <a:p>
            <a:pPr lvl="0" indent="0" marL="0">
              <a:buNone/>
            </a:pPr>
            <a:r>
              <a:rPr b="1"/>
              <a:t>Notes:</a:t>
            </a:r>
            <a:r>
              <a:rPr/>
              <a:t> Open with recognition. Every person in the room has lived one of these. Don’t rush this slide — let it land before moving 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This Framework Starts From the Opposite Assumption</a:t>
            </a:r>
          </a:p>
        </p:txBody>
      </p:sp>
      <p:sp>
        <p:nvSpPr>
          <p:cNvPr id="3" name="Content Placeholder 2"/>
          <p:cNvSpPr>
            <a:spLocks noGrp="1"/>
          </p:cNvSpPr>
          <p:nvPr>
            <p:ph idx="1"/>
          </p:nvPr>
        </p:nvSpPr>
        <p:spPr/>
        <p:txBody>
          <a:bodyPr/>
          <a:lstStyle/>
          <a:p>
            <a:pPr lvl="0" indent="0" marL="0">
              <a:buNone/>
            </a:pPr>
            <a:r>
              <a:rPr b="1"/>
              <a:t>Content:</a:t>
            </a:r>
            <a:r>
              <a:rPr/>
              <a:t> Two-column contrast:</a:t>
            </a:r>
          </a:p>
          <a:p>
            <a:pPr lvl="0"/>
            <a:r>
              <a:rPr b="1"/>
              <a:t>Traditional frameworks:</a:t>
            </a:r>
            <a:r>
              <a:rPr/>
              <a:t> Adoption is achievable. Resistance is the exception to be managed.</a:t>
            </a:r>
          </a:p>
          <a:p>
            <a:pPr lvl="0"/>
            <a:r>
              <a:rPr b="1"/>
              <a:t>This framework:</a:t>
            </a:r>
            <a:r>
              <a:rPr/>
              <a:t> Failure is the default. Success is engineered.</a:t>
            </a:r>
          </a:p>
          <a:p>
            <a:pPr lvl="0" indent="0" marL="0">
              <a:buNone/>
            </a:pPr>
            <a:r>
              <a:rPr b="1"/>
              <a:t>Subtext:</a:t>
            </a:r>
            <a:r>
              <a:rPr/>
              <a:t> That is not pessimism. It is the discipline that traditional optimism consistently fails to supply.</a:t>
            </a:r>
          </a:p>
          <a:p>
            <a:pPr lvl="0" indent="0" marL="0">
              <a:buNone/>
            </a:pPr>
            <a:r>
              <a:rPr b="1"/>
              <a:t>Notes:</a:t>
            </a:r>
            <a:r>
              <a:rPr/>
              <a:t> ← This is the reframe that earns the room’s attention. Don’t soften it. The provocation is the point.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 of 20 Ways This Can Fail Generate No Alert</a:t>
            </a:r>
          </a:p>
        </p:txBody>
      </p:sp>
      <p:sp>
        <p:nvSpPr>
          <p:cNvPr id="3" name="Content Placeholder 2"/>
          <p:cNvSpPr>
            <a:spLocks noGrp="1"/>
          </p:cNvSpPr>
          <p:nvPr>
            <p:ph idx="1"/>
          </p:nvPr>
        </p:nvSpPr>
        <p:spPr/>
        <p:txBody>
          <a:bodyPr/>
          <a:lstStyle/>
          <a:p>
            <a:pPr lvl="0" indent="0" marL="0">
              <a:buNone/>
            </a:pPr>
            <a:r>
              <a:rPr b="1"/>
              <a:t>Content:</a:t>
            </a:r>
          </a:p>
          <a:p>
            <a:pPr lvl="0"/>
            <a:r>
              <a:rPr/>
              <a:t>In most project environments, failure is visible: a missed deadline shows on the plan, a budget overrun shows in the report, a system outage fires an alert.</a:t>
            </a:r>
          </a:p>
          <a:p>
            <a:pPr lvl="0"/>
            <a:r>
              <a:rPr/>
              <a:t>In Health IT change management, the most consequential failures do not announce themselves. They accumulate — in the gap between what the stakeholder map says and what is actually happening, in the parallel process no one is tracking, in the data flowing incorrectly between systems that appear to be working.</a:t>
            </a:r>
          </a:p>
          <a:p>
            <a:pPr lvl="0"/>
            <a:r>
              <a:rPr/>
              <a:t>Detection cannot be passive. It must be actively designed — with instruments, cadences, and named owners whose specific job is to look for things that are not announcing themselves.</a:t>
            </a:r>
          </a:p>
          <a:p>
            <a:pPr lvl="0" indent="0" marL="0">
              <a:buNone/>
            </a:pPr>
            <a:r>
              <a:rPr b="1"/>
              <a:t>Subtext:</a:t>
            </a:r>
            <a:r>
              <a:rPr/>
              <a:t> The question most commonly skipped in project planning: </a:t>
            </a:r>
            <a:r>
              <a:rPr i="1"/>
              <a:t>“How will we know if something is going wrong before it becomes a crisis?”</a:t>
            </a:r>
            <a:r>
              <a:rPr/>
              <a:t> It is skipped because it is uncomfortable — it requires looking for evidence that the project is not working, at the moment when organizational pressure demands you demonstrate that it is.</a:t>
            </a:r>
          </a:p>
          <a:p>
            <a:pPr lvl="0" indent="0" marL="0">
              <a:buNone/>
            </a:pPr>
            <a:r>
              <a:rPr b="1"/>
              <a:t>Notes:</a:t>
            </a:r>
            <a:r>
              <a:rPr/>
              <a:t> ← </a:t>
            </a:r>
            <a:r>
              <a:rPr b="1"/>
              <a:t>NEW SLIDE.</a:t>
            </a:r>
            <a:r>
              <a:rPr/>
              <a:t> This is the most important conceptual addition to the outline. The 14-of-20 number is the single most arresting fact in the framework. Give it a slide of its own before introducing anything else.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Statement. Governing Principles. Three Layers.</a:t>
            </a:r>
          </a:p>
        </p:txBody>
      </p:sp>
      <p:sp>
        <p:nvSpPr>
          <p:cNvPr id="3" name="Content Placeholder 2"/>
          <p:cNvSpPr>
            <a:spLocks noGrp="1"/>
          </p:cNvSpPr>
          <p:nvPr>
            <p:ph idx="1"/>
          </p:nvPr>
        </p:nvSpPr>
        <p:spPr/>
        <p:txBody>
          <a:bodyPr/>
          <a:lstStyle/>
          <a:p>
            <a:pPr lvl="0" indent="0" marL="0">
              <a:buNone/>
            </a:pPr>
            <a:r>
              <a:rPr b="1"/>
              <a:t>Content:</a:t>
            </a:r>
            <a:r>
              <a:rPr/>
              <a:t> Three elements:</a:t>
            </a:r>
          </a:p>
          <a:p>
            <a:pPr lvl="0" indent="0" marL="0">
              <a:buNone/>
            </a:pPr>
            <a:r>
              <a:rPr b="1"/>
              <a:t>The Core Statement:</a:t>
            </a:r>
          </a:p>
          <a:p>
            <a:pPr lvl="0" indent="0" marL="1270000">
              <a:buNone/>
            </a:pPr>
            <a:r>
              <a:rPr sz="2000" i="1"/>
              <a:t>“Change management is the disciplined management of failure across People, Process, and Technology — concurrent with project execution — to protect the integrity of the transition from the current to the future state.”</a:t>
            </a:r>
          </a:p>
          <a:p>
            <a:pPr lvl="0" indent="0" marL="0">
              <a:buNone/>
            </a:pPr>
            <a:r>
              <a:rPr b="1"/>
              <a:t>The five Governing Principles:</a:t>
            </a:r>
          </a:p>
          <a:p>
            <a:pPr lvl="0"/>
            <a:r>
              <a:rPr b="1"/>
              <a:t>Start on day one, not day done</a:t>
            </a:r>
            <a:r>
              <a:rPr/>
              <a:t> — change management runs from the first planning meeting, not after delivery</a:t>
            </a:r>
          </a:p>
          <a:p>
            <a:pPr lvl="0"/>
            <a:r>
              <a:rPr b="1"/>
              <a:t>Engineer for failure, not optimism</a:t>
            </a:r>
            <a:r>
              <a:rPr/>
              <a:t> — failure is the default; success is engineered through detection, ownership, prevention, and response</a:t>
            </a:r>
          </a:p>
          <a:p>
            <a:pPr lvl="0"/>
            <a:r>
              <a:rPr b="1"/>
              <a:t>What you can’t see will hurt you most</a:t>
            </a:r>
            <a:r>
              <a:rPr/>
              <a:t> — silent failure requires active detection, not passive reporting</a:t>
            </a:r>
          </a:p>
          <a:p>
            <a:pPr lvl="0"/>
            <a:r>
              <a:rPr b="1"/>
              <a:t>If everyone owns it, no one owns it</a:t>
            </a:r>
            <a:r>
              <a:rPr/>
              <a:t> — unified accountability for the transition must be deliberately assigned</a:t>
            </a:r>
          </a:p>
          <a:p>
            <a:pPr lvl="0"/>
            <a:r>
              <a:rPr b="1"/>
              <a:t>Not all failure costs the same</a:t>
            </a:r>
            <a:r>
              <a:rPr/>
              <a:t> — response must be calibrated to consequence, especially when patient safety or clinician trust is exposed</a:t>
            </a:r>
          </a:p>
          <a:p>
            <a:pPr lvl="0" indent="0" marL="0">
              <a:buNone/>
            </a:pPr>
            <a:r>
              <a:rPr b="1"/>
              <a:t>The three layers:</a:t>
            </a:r>
          </a:p>
          <a:p>
            <a:pPr lvl="0"/>
            <a:r>
              <a:rPr b="1"/>
              <a:t>People</a:t>
            </a:r>
            <a:r>
              <a:rPr/>
              <a:t> — the Behavior System</a:t>
            </a:r>
          </a:p>
          <a:p>
            <a:pPr lvl="0"/>
            <a:r>
              <a:rPr b="1"/>
              <a:t>Process</a:t>
            </a:r>
            <a:r>
              <a:rPr/>
              <a:t> — the Execution System</a:t>
            </a:r>
          </a:p>
          <a:p>
            <a:pPr lvl="0"/>
            <a:r>
              <a:rPr b="1"/>
              <a:t>Technology</a:t>
            </a:r>
            <a:r>
              <a:rPr/>
              <a:t> — the Enablement System</a:t>
            </a:r>
          </a:p>
          <a:p>
            <a:pPr lvl="0" indent="0" marL="0">
              <a:buNone/>
            </a:pPr>
            <a:r>
              <a:rPr b="1"/>
              <a:t>Subtext:</a:t>
            </a:r>
            <a:r>
              <a:rPr/>
              <a:t> The Core Statement defines the work. The Governing Principles keep the framework from becoming a checklist with better branding. The layers are not silos; they are three surfaces of the same transition.</a:t>
            </a:r>
          </a:p>
          <a:p>
            <a:pPr lvl="0" indent="0" marL="0">
              <a:buNone/>
            </a:pPr>
            <a:r>
              <a:rPr b="1"/>
              <a:t>Notes:</a:t>
            </a:r>
            <a:r>
              <a:rPr/>
              <a:t> This is the compressed orientation slide. Keep the principle explanations tight. The Core Statement appears here for the first time and will reappear at the close.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Identify. Question. Implement.</a:t>
            </a:r>
          </a:p>
        </p:txBody>
      </p:sp>
      <p:sp>
        <p:nvSpPr>
          <p:cNvPr id="3" name="Content Placeholder 2"/>
          <p:cNvSpPr>
            <a:spLocks noGrp="1"/>
          </p:cNvSpPr>
          <p:nvPr>
            <p:ph idx="1"/>
          </p:nvPr>
        </p:nvSpPr>
        <p:spPr/>
        <p:txBody>
          <a:bodyPr/>
          <a:lstStyle/>
          <a:p>
            <a:pPr lvl="0" indent="0" marL="0">
              <a:buNone/>
            </a:pPr>
            <a:r>
              <a:rPr b="1"/>
              <a:t>Content:</a:t>
            </a:r>
          </a:p>
          <a:p>
            <a:pPr lvl="0"/>
            <a:r>
              <a:rPr b="1"/>
              <a:t>Identify</a:t>
            </a:r>
            <a:r>
              <a:rPr/>
              <a:t> — take inventory of what belongs to each layer: who is involved, what workflows are changing, which systems are being deployed</a:t>
            </a:r>
          </a:p>
          <a:p>
            <a:pPr lvl="0"/>
            <a:r>
              <a:rPr b="1"/>
              <a:t>Question</a:t>
            </a:r>
            <a:r>
              <a:rPr/>
              <a:t> — run six structured questions against each item identified</a:t>
            </a:r>
          </a:p>
          <a:p>
            <a:pPr lvl="0"/>
            <a:r>
              <a:rPr b="1"/>
              <a:t>Implement</a:t>
            </a:r>
            <a:r>
              <a:rPr/>
              <a:t> — embed the answers into the live project as a running discipline, not a planning document</a:t>
            </a:r>
          </a:p>
          <a:p>
            <a:pPr lvl="0" indent="0" marL="0">
              <a:buNone/>
            </a:pPr>
            <a:r>
              <a:rPr b="1"/>
              <a:t>Subtext:</a:t>
            </a:r>
            <a:r>
              <a:rPr/>
              <a:t> This is not a one-time exercise. It runs from the first planning meeting through go-live and beyond.</a:t>
            </a:r>
          </a:p>
          <a:p>
            <a:pPr lvl="0" indent="0" marL="0">
              <a:buNone/>
            </a:pPr>
            <a:r>
              <a:rPr b="1"/>
              <a:t>Notes:</a:t>
            </a:r>
            <a:r>
              <a:rPr/>
              <a:t> The loop framing is intentional — it signals continuous iteration, not a completion event.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Same Six Questions. Applied to Everything.</a:t>
            </a:r>
          </a:p>
        </p:txBody>
      </p:sp>
      <p:sp>
        <p:nvSpPr>
          <p:cNvPr id="3" name="Content Placeholder 2"/>
          <p:cNvSpPr>
            <a:spLocks noGrp="1"/>
          </p:cNvSpPr>
          <p:nvPr>
            <p:ph idx="1"/>
          </p:nvPr>
        </p:nvSpPr>
        <p:spPr/>
        <p:txBody>
          <a:bodyPr/>
          <a:lstStyle/>
          <a:p>
            <a:pPr lvl="0" indent="0" marL="0">
              <a:buNone/>
            </a:pPr>
            <a:r>
              <a:rPr b="1"/>
              <a:t>Content:</a:t>
            </a:r>
            <a:r>
              <a:rPr/>
              <a:t> Two columns of three:</a:t>
            </a:r>
          </a:p>
          <a:p>
            <a:pPr lvl="0"/>
            <a:r>
              <a:rPr/>
              <a:t>What does success look like?</a:t>
            </a:r>
          </a:p>
          <a:p>
            <a:pPr lvl="0"/>
            <a:r>
              <a:rPr/>
              <a:t>What are we taking for granted?</a:t>
            </a:r>
          </a:p>
          <a:p>
            <a:pPr lvl="0"/>
            <a:r>
              <a:rPr/>
              <a:t>Where could we fail?</a:t>
            </a:r>
          </a:p>
          <a:p>
            <a:pPr lvl="0"/>
            <a:r>
              <a:rPr b="1"/>
              <a:t>How will we know if something is going wrong?</a:t>
            </a:r>
            <a:r>
              <a:rPr/>
              <a:t> ← most commonly skipped</a:t>
            </a:r>
          </a:p>
          <a:p>
            <a:pPr lvl="0"/>
            <a:r>
              <a:rPr/>
              <a:t>What do we do now to reduce the chance of failure?</a:t>
            </a:r>
          </a:p>
          <a:p>
            <a:pPr lvl="0"/>
            <a:r>
              <a:rPr/>
              <a:t>If something fails, what do we do?</a:t>
            </a:r>
          </a:p>
          <a:p>
            <a:pPr lvl="0" indent="0" marL="0">
              <a:buNone/>
            </a:pPr>
            <a:r>
              <a:rPr b="1"/>
              <a:t>Subtext:</a:t>
            </a:r>
            <a:r>
              <a:rPr/>
              <a:t> Question 4 is the one that requires active design — a cadence, a method, and a named owner. Without it, detection is an intention, not a discipline.</a:t>
            </a:r>
          </a:p>
          <a:p>
            <a:pPr lvl="0" indent="0" marL="0">
              <a:buNone/>
            </a:pPr>
            <a:r>
              <a:rPr b="1"/>
              <a:t>Notes:</a:t>
            </a:r>
            <a:r>
              <a:rPr/>
              <a:t> Call out Question 4 explicitly and connect it back to Slide 4. The silent failure problem is why that question exists.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Types of Ownership. Both Are Required.</a:t>
            </a:r>
          </a:p>
        </p:txBody>
      </p:sp>
      <p:sp>
        <p:nvSpPr>
          <p:cNvPr id="3" name="Content Placeholder 2"/>
          <p:cNvSpPr>
            <a:spLocks noGrp="1"/>
          </p:cNvSpPr>
          <p:nvPr>
            <p:ph idx="1"/>
          </p:nvPr>
        </p:nvSpPr>
        <p:spPr/>
        <p:txBody>
          <a:bodyPr/>
          <a:lstStyle/>
          <a:p>
            <a:pPr lvl="0" indent="0" marL="0">
              <a:buNone/>
            </a:pPr>
            <a:r>
              <a:rPr b="1"/>
              <a:t>Content:</a:t>
            </a:r>
            <a:r>
              <a:rPr/>
              <a:t> Two-column contrast:</a:t>
            </a:r>
          </a:p>
          <a:p>
            <a:pPr lvl="0"/>
            <a:r>
              <a:rPr b="1"/>
              <a:t>Methodology ownership — Change Manager</a:t>
            </a:r>
            <a:r>
              <a:rPr/>
              <a:t> Designs and maintains the approach. Runs the diagnostic instruments. Manages the detection cadence. Identifies problems and escalates them. </a:t>
            </a:r>
            <a:r>
              <a:rPr i="1"/>
              <a:t>Cannot close problems that require organizational authority.</a:t>
            </a:r>
          </a:p>
          <a:p>
            <a:pPr lvl="0"/>
            <a:r>
              <a:rPr b="1"/>
              <a:t>Authority ownership — Project Sponsor / Executive Leadership</a:t>
            </a:r>
            <a:r>
              <a:rPr/>
              <a:t> Has the power to act on what the methodology surfaces: close a transition period, challenge a vendor, mandate a practice standard, remove a nominal owner who is not performing. </a:t>
            </a:r>
            <a:r>
              <a:rPr i="1"/>
              <a:t>Does not manage the methodology — creates the conditions under which it can work.</a:t>
            </a:r>
          </a:p>
          <a:p>
            <a:pPr lvl="0" indent="0" marL="0">
              <a:buNone/>
            </a:pPr>
            <a:r>
              <a:rPr b="1"/>
              <a:t>Subtext:</a:t>
            </a:r>
            <a:r>
              <a:rPr/>
              <a:t> When one operates without the other, the framework has structural gaps that no amount of tactical skill can close. A Change Manager without executive backing cannot close a permanent transition period. A Project Sponsor without a functioning methodology has no reliable signal that these problems exist.</a:t>
            </a:r>
          </a:p>
          <a:p>
            <a:pPr lvl="0" indent="0" marL="0">
              <a:buNone/>
            </a:pPr>
            <a:r>
              <a:rPr b="1"/>
              <a:t>Notes:</a:t>
            </a:r>
            <a:r>
              <a:rPr/>
              <a:t> ← </a:t>
            </a:r>
            <a:r>
              <a:rPr b="1"/>
              <a:t>NEW SLIDE.</a:t>
            </a:r>
            <a:r>
              <a:rPr/>
              <a:t> This replaces the generic “turning answers into action” slide from v1. The methodology/authority distinction is one of the framework’s sharpest structural insights and it was entirely absent from the previous outline.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Project Ends. The Framework Doesn’t.</a:t>
            </a:r>
          </a:p>
        </p:txBody>
      </p:sp>
      <p:sp>
        <p:nvSpPr>
          <p:cNvPr id="3" name="Content Placeholder 2"/>
          <p:cNvSpPr>
            <a:spLocks noGrp="1"/>
          </p:cNvSpPr>
          <p:nvPr>
            <p:ph idx="1"/>
          </p:nvPr>
        </p:nvSpPr>
        <p:spPr/>
        <p:txBody>
          <a:bodyPr/>
          <a:lstStyle/>
          <a:p>
            <a:pPr lvl="0" indent="0" marL="0">
              <a:buNone/>
            </a:pPr>
            <a:r>
              <a:rPr b="1"/>
              <a:t>Content:</a:t>
            </a:r>
            <a:r>
              <a:rPr/>
              <a:t> Two-column contrast:</a:t>
            </a:r>
          </a:p>
          <a:p>
            <a:pPr lvl="0"/>
            <a:r>
              <a:rPr b="1"/>
              <a:t>What ends at go-live:</a:t>
            </a:r>
            <a:r>
              <a:rPr/>
              <a:t> the project structure, the implementation team, the launch milestones</a:t>
            </a:r>
          </a:p>
          <a:p>
            <a:pPr lvl="0"/>
            <a:r>
              <a:rPr b="1"/>
              <a:t>What must continue:</a:t>
            </a:r>
            <a:r>
              <a:rPr/>
              <a:t> detection cadence, assumption tracking, stakeholder monitoring, process compliance checks, system health reviews — for a minimum of 12 months</a:t>
            </a:r>
          </a:p>
          <a:p>
            <a:pPr lvl="0" indent="0" marL="0">
              <a:buNone/>
            </a:pPr>
            <a:r>
              <a:rPr b="1"/>
              <a:t>Subtext:</a:t>
            </a:r>
            <a:r>
              <a:rPr/>
              <a:t> The framework ends when accountability has been formally transferred to operations — documented, deliberate, and complete. Until that transfer is confirmed, the project is not done. It is in an unmanaged transition.</a:t>
            </a:r>
          </a:p>
          <a:p>
            <a:pPr lvl="0" indent="0" marL="0">
              <a:buNone/>
            </a:pPr>
            <a:r>
              <a:rPr b="1"/>
              <a:t>Notes:</a:t>
            </a:r>
            <a:r>
              <a:rPr/>
              <a:t> Plant this early. It will be reinforced in each layer section and echoed directly in Synthesis.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Technology — The Enablement System</a:t>
            </a:r>
          </a:p>
        </p:txBody>
      </p:sp>
      <p:sp>
        <p:nvSpPr>
          <p:cNvPr id="3" name="Content Placeholder 2"/>
          <p:cNvSpPr>
            <a:spLocks noGrp="1"/>
          </p:cNvSpPr>
          <p:nvPr>
            <p:ph idx="1"/>
          </p:nvPr>
        </p:nvSpPr>
        <p:spPr/>
        <p:txBody>
          <a:bodyPr/>
          <a:lstStyle/>
          <a:p>
            <a:pPr lvl="0" indent="0" marL="0">
              <a:buNone/>
            </a:pPr>
            <a:r>
              <a:rPr b="1"/>
              <a:t>Content:</a:t>
            </a:r>
          </a:p>
          <a:p>
            <a:pPr lvl="0"/>
            <a:r>
              <a:rPr b="1"/>
              <a:t>What it is:</a:t>
            </a:r>
            <a:r>
              <a:rPr/>
              <a:t> the most visible layer — the system with a name, a vendor, a launch date, and a price tag</a:t>
            </a:r>
          </a:p>
          <a:p>
            <a:pPr lvl="0"/>
            <a:r>
              <a:rPr b="1"/>
              <a:t>The visibility trap:</a:t>
            </a:r>
            <a:r>
              <a:rPr/>
              <a:t> the fact that you can point to the system does not mean the system is working</a:t>
            </a:r>
          </a:p>
          <a:p>
            <a:pPr lvl="0"/>
            <a:r>
              <a:rPr b="1"/>
              <a:t>The real success test:</a:t>
            </a:r>
            <a:r>
              <a:rPr/>
              <a:t> the right system, reliably accessible, easy enough to use that people choose to use it, measurably improving the work it was meant to support — and that remains true long after launch</a:t>
            </a:r>
          </a:p>
          <a:p>
            <a:pPr lvl="0" indent="0" marL="0">
              <a:buNone/>
            </a:pPr>
            <a:r>
              <a:rPr b="1"/>
              <a:t>Notes:</a:t>
            </a:r>
            <a:r>
              <a:rPr/>
              <a:t> The “you can point to it” framing cuts through the common assumption that a running system is a successful one.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Organisations Declare Victory at Precisely the Wrong Moment</a:t>
            </a:r>
          </a:p>
        </p:txBody>
      </p:sp>
      <p:sp>
        <p:nvSpPr>
          <p:cNvPr id="3" name="Content Placeholder 2"/>
          <p:cNvSpPr>
            <a:spLocks noGrp="1"/>
          </p:cNvSpPr>
          <p:nvPr>
            <p:ph idx="1"/>
          </p:nvPr>
        </p:nvSpPr>
        <p:spPr/>
        <p:txBody>
          <a:bodyPr/>
          <a:lstStyle/>
          <a:p>
            <a:pPr lvl="0" indent="0" marL="0">
              <a:buNone/>
            </a:pPr>
            <a:r>
              <a:rPr b="1"/>
              <a:t>Content:</a:t>
            </a:r>
            <a:r>
              <a:rPr/>
              <a:t> Timeline visual:</a:t>
            </a:r>
          </a:p>
          <a:p>
            <a:pPr lvl="0"/>
            <a:r>
              <a:rPr b="1"/>
              <a:t>Launch</a:t>
            </a:r>
            <a:r>
              <a:rPr/>
              <a:t> → support withdrawn → small problems accumulate → workarounds normalize → quiet deterioration → </a:t>
            </a:r>
            <a:r>
              <a:rPr b="1"/>
              <a:t>visible failure</a:t>
            </a:r>
            <a:r>
              <a:rPr/>
              <a:t> (months later)</a:t>
            </a:r>
          </a:p>
          <a:p>
            <a:pPr lvl="0" indent="0" marL="0">
              <a:buNone/>
            </a:pPr>
            <a:r>
              <a:rPr b="1"/>
              <a:t>Subtext:</a:t>
            </a:r>
            <a:r>
              <a:rPr/>
              <a:t> Adoption is the real measure — not whether the system </a:t>
            </a:r>
            <a:r>
              <a:rPr i="1"/>
              <a:t>can</a:t>
            </a:r>
            <a:r>
              <a:rPr/>
              <a:t> be used, but whether it </a:t>
            </a:r>
            <a:r>
              <a:rPr i="1"/>
              <a:t>is</a:t>
            </a:r>
            <a:r>
              <a:rPr/>
              <a:t> being used as intended, consistently, across all staff and all conditions. A system that staff work around has failed, regardless of how well it was built.</a:t>
            </a:r>
          </a:p>
          <a:p>
            <a:pPr lvl="0" indent="0" marL="0">
              <a:buNone/>
            </a:pPr>
            <a:r>
              <a:rPr b="1"/>
              <a:t>Notes:</a:t>
            </a:r>
            <a:r>
              <a:rPr/>
              <a:t> This is the most important single point in the Technology section for a non-technical audience. The timeline visual makes the failure mechanism concrete.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Technology Actually Fails</a:t>
            </a:r>
          </a:p>
        </p:txBody>
      </p:sp>
      <p:sp>
        <p:nvSpPr>
          <p:cNvPr id="3" name="Content Placeholder 2"/>
          <p:cNvSpPr>
            <a:spLocks noGrp="1"/>
          </p:cNvSpPr>
          <p:nvPr>
            <p:ph idx="1"/>
          </p:nvPr>
        </p:nvSpPr>
        <p:spPr/>
        <p:txBody>
          <a:bodyPr/>
          <a:lstStyle/>
          <a:p>
            <a:pPr lvl="0" indent="0" marL="0">
              <a:buNone/>
            </a:pPr>
            <a:r>
              <a:rPr b="1"/>
              <a:t>Content:</a:t>
            </a:r>
            <a:r>
              <a:rPr/>
              <a:t> Table — one row per failure area, ⚠ marked:</a:t>
            </a:r>
          </a:p>
          <a:p>
            <a:pPr lvl="0"/>
            <a:r>
              <a:rPr b="1"/>
              <a:t>T1</a:t>
            </a:r>
            <a:r>
              <a:rPr/>
              <a:t> · Wrong system selected ⚠</a:t>
            </a:r>
          </a:p>
          <a:p>
            <a:pPr lvl="0"/>
            <a:r>
              <a:rPr b="1"/>
              <a:t>T2</a:t>
            </a:r>
            <a:r>
              <a:rPr/>
              <a:t> · Access and infrastructure failures</a:t>
            </a:r>
          </a:p>
          <a:p>
            <a:pPr lvl="0"/>
            <a:r>
              <a:rPr b="1"/>
              <a:t>T3</a:t>
            </a:r>
            <a:r>
              <a:rPr/>
              <a:t> · Data accuracy and system connections ⚠ ← highest patient safety risk</a:t>
            </a:r>
          </a:p>
          <a:p>
            <a:pPr lvl="0"/>
            <a:r>
              <a:rPr b="1"/>
              <a:t>T4</a:t>
            </a:r>
            <a:r>
              <a:rPr/>
              <a:t> · Staff not using the system ⚠</a:t>
            </a:r>
          </a:p>
          <a:p>
            <a:pPr lvl="0"/>
            <a:r>
              <a:rPr b="1"/>
              <a:t>T5</a:t>
            </a:r>
            <a:r>
              <a:rPr/>
              <a:t> · System does not improve the work ⚠</a:t>
            </a:r>
          </a:p>
          <a:p>
            <a:pPr lvl="0"/>
            <a:r>
              <a:rPr b="1"/>
              <a:t>T6</a:t>
            </a:r>
            <a:r>
              <a:rPr/>
              <a:t> · Decline after launch</a:t>
            </a:r>
          </a:p>
          <a:p>
            <a:pPr lvl="0" indent="0" marL="0">
              <a:buNone/>
            </a:pPr>
            <a:r>
              <a:rPr b="1"/>
              <a:t>Subtext:</a:t>
            </a:r>
            <a:r>
              <a:rPr/>
              <a:t> 4 of 6 can fail without any obvious warning sign. T3 — data accuracy — is the most dangerous: errors here can affect patient safety, are often invisible until someone acts on wrong information, and are frequently misdiagnosed as user error.</a:t>
            </a:r>
          </a:p>
          <a:p>
            <a:pPr lvl="0" indent="0" marL="0">
              <a:buNone/>
            </a:pPr>
            <a:r>
              <a:rPr b="1"/>
              <a:t>Notes:</a:t>
            </a:r>
            <a:r>
              <a:rPr/>
              <a:t> Call out T3 explicitly. It’s the one failure area in the Technology Layer that connects directly to patient harm — and it’s also one of the most silent.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Technology Problems Don’t Stay in Technology</a:t>
            </a:r>
          </a:p>
        </p:txBody>
      </p:sp>
      <p:sp>
        <p:nvSpPr>
          <p:cNvPr id="3" name="Content Placeholder 2"/>
          <p:cNvSpPr>
            <a:spLocks noGrp="1"/>
          </p:cNvSpPr>
          <p:nvPr>
            <p:ph idx="1"/>
          </p:nvPr>
        </p:nvSpPr>
        <p:spPr/>
        <p:txBody>
          <a:bodyPr/>
          <a:lstStyle/>
          <a:p>
            <a:pPr lvl="0" indent="0" marL="0">
              <a:buNone/>
            </a:pPr>
            <a:r>
              <a:rPr b="1"/>
              <a:t>Content:</a:t>
            </a:r>
            <a:r>
              <a:rPr/>
              <a:t> Three cascades, each two lines:</a:t>
            </a:r>
          </a:p>
          <a:p>
            <a:pPr lvl="0"/>
            <a:r>
              <a:rPr/>
              <a:t>Data accuracy failure → staff develop informal workarounds → process becomes inconsistent across the organisation</a:t>
            </a:r>
          </a:p>
          <a:p>
            <a:pPr lvl="0"/>
            <a:r>
              <a:rPr/>
              <a:t>Staff not using the system → work splits between system and paper → no one has a complete picture of any patient</a:t>
            </a:r>
          </a:p>
          <a:p>
            <a:pPr lvl="0"/>
            <a:r>
              <a:rPr/>
              <a:t>Wrong system selected without staff input → trust is damaged early → people who might have been supportive become resistant</a:t>
            </a:r>
          </a:p>
          <a:p>
            <a:pPr lvl="0" indent="0" marL="0">
              <a:buNone/>
            </a:pPr>
            <a:r>
              <a:rPr b="1"/>
              <a:t>Subtext:</a:t>
            </a:r>
            <a:r>
              <a:rPr/>
              <a:t> Some of the most significant risks in the Technology Layer are not technical in origin — they come from the People and Process layers. Treating them purely as technical problems produces technical solutions that miss the actual cause.</a:t>
            </a:r>
          </a:p>
          <a:p>
            <a:pPr lvl="0" indent="0" marL="0">
              <a:buNone/>
            </a:pPr>
            <a:r>
              <a:rPr b="1"/>
              <a:t>Notes:</a:t>
            </a:r>
            <a:r>
              <a:rPr/>
              <a:t> Bridge into the Process section.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Process — The Execution System</a:t>
            </a:r>
          </a:p>
        </p:txBody>
      </p:sp>
      <p:sp>
        <p:nvSpPr>
          <p:cNvPr id="3" name="Content Placeholder 2"/>
          <p:cNvSpPr>
            <a:spLocks noGrp="1"/>
          </p:cNvSpPr>
          <p:nvPr>
            <p:ph idx="1"/>
          </p:nvPr>
        </p:nvSpPr>
        <p:spPr/>
        <p:txBody>
          <a:bodyPr/>
          <a:lstStyle/>
          <a:p>
            <a:pPr lvl="0" indent="0" marL="0">
              <a:buNone/>
            </a:pPr>
            <a:r>
              <a:rPr b="1"/>
              <a:t>Content:</a:t>
            </a:r>
          </a:p>
          <a:p>
            <a:pPr lvl="0"/>
            <a:r>
              <a:rPr b="1"/>
              <a:t>What it is:</a:t>
            </a:r>
            <a:r>
              <a:rPr/>
              <a:t> the transition from how things are done today to how they need to be done tomorrow</a:t>
            </a:r>
          </a:p>
          <a:p>
            <a:pPr lvl="0"/>
            <a:r>
              <a:rPr b="1"/>
              <a:t>The hidden complexity:</a:t>
            </a:r>
            <a:r>
              <a:rPr/>
              <a:t> every clinical environment runs on two versions of every process simultaneously — the official one (what the policy says, what the flowchart shows) and the real one (what staff actually do under time pressure, with limited resources)</a:t>
            </a:r>
          </a:p>
          <a:p>
            <a:pPr lvl="0"/>
            <a:r>
              <a:rPr b="1"/>
              <a:t>What success actually requires:</a:t>
            </a:r>
            <a:r>
              <a:rPr/>
              <a:t> the new workflow executing correctly, by all staff — not just champions — in real conditions, without regression</a:t>
            </a:r>
          </a:p>
          <a:p>
            <a:pPr lvl="0" indent="0" marL="0">
              <a:buNone/>
            </a:pPr>
            <a:r>
              <a:rPr b="1"/>
              <a:t>Notes:</a:t>
            </a:r>
            <a:r>
              <a:rPr/>
              <a:t> The “two versions” framing is the most useful thing to land here. It explains why conference room planning exercises so consistently miss the point.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Most Dangerous Operational State in Any Implementation</a:t>
            </a:r>
          </a:p>
        </p:txBody>
      </p:sp>
      <p:sp>
        <p:nvSpPr>
          <p:cNvPr id="3" name="Content Placeholder 2"/>
          <p:cNvSpPr>
            <a:spLocks noGrp="1"/>
          </p:cNvSpPr>
          <p:nvPr>
            <p:ph idx="1"/>
          </p:nvPr>
        </p:nvSpPr>
        <p:spPr/>
        <p:txBody>
          <a:bodyPr/>
          <a:lstStyle/>
          <a:p>
            <a:pPr lvl="0" indent="0" marL="0">
              <a:buNone/>
            </a:pPr>
            <a:r>
              <a:rPr b="1"/>
              <a:t>Content:</a:t>
            </a:r>
          </a:p>
          <a:p>
            <a:pPr lvl="0"/>
            <a:r>
              <a:rPr b="1"/>
              <a:t>What it is:</a:t>
            </a:r>
            <a:r>
              <a:rPr/>
              <a:t> the interval when old and new processes run simultaneously — some records in the system, some on paper, no one with a complete picture of any given patient</a:t>
            </a:r>
          </a:p>
          <a:p>
            <a:pPr lvl="0"/>
            <a:r>
              <a:rPr b="1"/>
              <a:t>Why it is dangerous:</a:t>
            </a:r>
            <a:r>
              <a:rPr/>
              <a:t> mistakes happen, information gets lost, care coordination breaks down — not because of technical failure, but because two versions of reality are running at once</a:t>
            </a:r>
          </a:p>
          <a:p>
            <a:pPr lvl="0"/>
            <a:r>
              <a:rPr b="1"/>
              <a:t>The 30-day rule:</a:t>
            </a:r>
            <a:r>
              <a:rPr/>
              <a:t> within approximately 30 days of launch, if both processes are still running, staff stop perceiving the situation as temporary. It becomes the new normal.</a:t>
            </a:r>
          </a:p>
          <a:p>
            <a:pPr lvl="0"/>
            <a:r>
              <a:rPr b="1"/>
              <a:t>The critical distinction:</a:t>
            </a:r>
            <a:r>
              <a:rPr/>
              <a:t> a controlled step backward is recoverable. A normalised transition period is not — it is a failed implementation wearing the clothes of a work in progress.</a:t>
            </a:r>
          </a:p>
          <a:p>
            <a:pPr lvl="0" indent="0" marL="0">
              <a:buNone/>
            </a:pPr>
            <a:r>
              <a:rPr b="1"/>
              <a:t>Notes:</a:t>
            </a:r>
            <a:r>
              <a:rPr/>
              <a:t> ← The 30-day window is specific, surprising, and actionable. This is the most important concept in the entire Process section. Spend time here.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Process Actually Fails</a:t>
            </a:r>
          </a:p>
        </p:txBody>
      </p:sp>
      <p:sp>
        <p:nvSpPr>
          <p:cNvPr id="3" name="Content Placeholder 2"/>
          <p:cNvSpPr>
            <a:spLocks noGrp="1"/>
          </p:cNvSpPr>
          <p:nvPr>
            <p:ph idx="1"/>
          </p:nvPr>
        </p:nvSpPr>
        <p:spPr/>
        <p:txBody>
          <a:bodyPr/>
          <a:lstStyle/>
          <a:p>
            <a:pPr lvl="0" indent="0" marL="0">
              <a:buNone/>
            </a:pPr>
            <a:r>
              <a:rPr b="1"/>
              <a:t>Content:</a:t>
            </a:r>
            <a:r>
              <a:rPr/>
              <a:t> Table — one row per failure area, ⚠ marked:</a:t>
            </a:r>
          </a:p>
          <a:p>
            <a:pPr lvl="0"/>
            <a:r>
              <a:rPr b="1"/>
              <a:t>P1</a:t>
            </a:r>
            <a:r>
              <a:rPr/>
              <a:t> · Getting the current picture wrong ⚠</a:t>
            </a:r>
          </a:p>
          <a:p>
            <a:pPr lvl="0"/>
            <a:r>
              <a:rPr b="1"/>
              <a:t>P2</a:t>
            </a:r>
            <a:r>
              <a:rPr/>
              <a:t> · Designing a process that cannot survive reality</a:t>
            </a:r>
          </a:p>
          <a:p>
            <a:pPr lvl="0"/>
            <a:r>
              <a:rPr b="1"/>
              <a:t>P3</a:t>
            </a:r>
            <a:r>
              <a:rPr/>
              <a:t> · Transition period becoming permanent ⚠ ← the organising risk</a:t>
            </a:r>
          </a:p>
          <a:p>
            <a:pPr lvl="0"/>
            <a:r>
              <a:rPr b="1"/>
              <a:t>P4</a:t>
            </a:r>
            <a:r>
              <a:rPr/>
              <a:t> · Missing the unofficial workarounds ⚠</a:t>
            </a:r>
          </a:p>
          <a:p>
            <a:pPr lvl="0"/>
            <a:r>
              <a:rPr b="1"/>
              <a:t>P5</a:t>
            </a:r>
            <a:r>
              <a:rPr/>
              <a:t> · Process working for champions, not for everyone ⚠</a:t>
            </a:r>
          </a:p>
          <a:p>
            <a:pPr lvl="0"/>
            <a:r>
              <a:rPr b="1"/>
              <a:t>P6</a:t>
            </a:r>
            <a:r>
              <a:rPr/>
              <a:t> · Process works but produces no improvement ⚠</a:t>
            </a:r>
          </a:p>
          <a:p>
            <a:pPr lvl="0"/>
            <a:r>
              <a:rPr b="1"/>
              <a:t>P7</a:t>
            </a:r>
            <a:r>
              <a:rPr/>
              <a:t> · Sliding back to the old way of working</a:t>
            </a:r>
          </a:p>
          <a:p>
            <a:pPr lvl="0" indent="0" marL="0">
              <a:buNone/>
            </a:pPr>
            <a:r>
              <a:rPr b="1"/>
              <a:t>Subtext:</a:t>
            </a:r>
            <a:r>
              <a:rPr/>
              <a:t> 5 of 7 can fail without any obvious warning sign. P4 — missing unofficial workarounds — is the most reliably missed item in any planning exercise. Informal workarounds are not inefficiencies. They are compensating mechanisms for genuine gaps in the formal process. Removing them without replacement does not improve care — it exposes the gap they were covering.</a:t>
            </a:r>
          </a:p>
          <a:p>
            <a:pPr lvl="0" indent="0" marL="0">
              <a:buNone/>
            </a:pPr>
            <a:r>
              <a:rPr b="1"/>
              <a:t>Notes:</a:t>
            </a:r>
            <a:r>
              <a:rPr/>
              <a:t> The P4 note is new and important. It reframes workarounds for an audience that typically wants to eliminate them.</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Process Problems Don’t Stay in Process</a:t>
            </a:r>
          </a:p>
        </p:txBody>
      </p:sp>
      <p:sp>
        <p:nvSpPr>
          <p:cNvPr id="3" name="Content Placeholder 2"/>
          <p:cNvSpPr>
            <a:spLocks noGrp="1"/>
          </p:cNvSpPr>
          <p:nvPr>
            <p:ph idx="1"/>
          </p:nvPr>
        </p:nvSpPr>
        <p:spPr/>
        <p:txBody>
          <a:bodyPr/>
          <a:lstStyle/>
          <a:p>
            <a:pPr lvl="0" indent="0" marL="0">
              <a:buNone/>
            </a:pPr>
            <a:r>
              <a:rPr b="1"/>
              <a:t>Content:</a:t>
            </a:r>
            <a:r>
              <a:rPr/>
              <a:t> Three cascades:</a:t>
            </a:r>
          </a:p>
          <a:p>
            <a:pPr lvl="0"/>
            <a:r>
              <a:rPr/>
              <a:t>Inaccurate current picture → system configured against a false foundation → technology misfit surfaces at deployment as a “technology problem”</a:t>
            </a:r>
          </a:p>
          <a:p>
            <a:pPr lvl="0"/>
            <a:r>
              <a:rPr/>
              <a:t>Transition period normalises → data splits between old process and new system → system is technically operational but clinically untrustworthy</a:t>
            </a:r>
          </a:p>
          <a:p>
            <a:pPr lvl="0"/>
            <a:r>
              <a:rPr/>
              <a:t>Process regression visible → champions who carried the change lose credibility with peers → people layer begins to erode</a:t>
            </a:r>
          </a:p>
          <a:p>
            <a:pPr lvl="0" indent="0" marL="0">
              <a:buNone/>
            </a:pPr>
            <a:r>
              <a:rPr b="1"/>
              <a:t>Subtext:</a:t>
            </a:r>
            <a:r>
              <a:rPr/>
              <a:t> Different problems need different decision-makers. Surfacing the real current state requires front-line access. Closing the transition requires operational authority. Sustaining the process after launch requires the management structure to own it. A governance structure that cannot activate the right authority at the right moment turns the failure control map into a planning document — not a management tool.</a:t>
            </a:r>
          </a:p>
          <a:p>
            <a:pPr lvl="0" indent="0" marL="0">
              <a:buNone/>
            </a:pPr>
            <a:r>
              <a:rPr b="1"/>
              <a:t>Notes:</a:t>
            </a:r>
            <a:r>
              <a:rPr/>
              <a:t> Bridge into the People section. The final subtext line earns its place — it’s a precise and uncomfortable observation.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People — The Behavior System</a:t>
            </a:r>
          </a:p>
        </p:txBody>
      </p:sp>
      <p:sp>
        <p:nvSpPr>
          <p:cNvPr id="3" name="Content Placeholder 2"/>
          <p:cNvSpPr>
            <a:spLocks noGrp="1"/>
          </p:cNvSpPr>
          <p:nvPr>
            <p:ph idx="1"/>
          </p:nvPr>
        </p:nvSpPr>
        <p:spPr/>
        <p:txBody>
          <a:bodyPr/>
          <a:lstStyle/>
          <a:p>
            <a:pPr lvl="0" indent="0" marL="0">
              <a:buNone/>
            </a:pPr>
            <a:r>
              <a:rPr b="1"/>
              <a:t>Content:</a:t>
            </a:r>
          </a:p>
          <a:p>
            <a:pPr lvl="0"/>
            <a:r>
              <a:rPr b="1"/>
              <a:t>What it is:</a:t>
            </a:r>
            <a:r>
              <a:rPr/>
              <a:t> where every person touched by the project stands in relation to the change — and whether they move in the direction the project needs</a:t>
            </a:r>
          </a:p>
          <a:p>
            <a:pPr lvl="0"/>
            <a:r>
              <a:rPr b="1"/>
              <a:t>What makes it different from the other two layers:</a:t>
            </a:r>
          </a:p>
          <a:p>
            <a:pPr lvl="1"/>
            <a:r>
              <a:rPr/>
              <a:t>Technology failure is visible. A system goes down — someone notices, an alert fires.</a:t>
            </a:r>
          </a:p>
          <a:p>
            <a:pPr lvl="1"/>
            <a:r>
              <a:rPr/>
              <a:t>Process failure is observable. A workflow is not being followed — documentation gaps appear.</a:t>
            </a:r>
          </a:p>
          <a:p>
            <a:pPr lvl="1"/>
            <a:r>
              <a:rPr/>
              <a:t>People failure is neither. It accumulates in silence.</a:t>
            </a:r>
          </a:p>
          <a:p>
            <a:pPr lvl="0"/>
            <a:r>
              <a:rPr b="1"/>
              <a:t>The longest tail:</a:t>
            </a:r>
            <a:r>
              <a:rPr/>
              <a:t> Technology has a go-live date. Process has a future state target. People has neither.</a:t>
            </a:r>
          </a:p>
          <a:p>
            <a:pPr lvl="0" indent="0" marL="0">
              <a:buNone/>
            </a:pPr>
            <a:r>
              <a:rPr b="1"/>
              <a:t>Notes:</a:t>
            </a:r>
            <a:r>
              <a:rPr/>
              <a:t> The three-way contrast is the most important framing in this section. Let it land before moving 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Largest Addressable Population Is Waiting</a:t>
            </a:r>
          </a:p>
        </p:txBody>
      </p:sp>
      <p:sp>
        <p:nvSpPr>
          <p:cNvPr id="3" name="Content Placeholder 2"/>
          <p:cNvSpPr>
            <a:spLocks noGrp="1"/>
          </p:cNvSpPr>
          <p:nvPr>
            <p:ph idx="1"/>
          </p:nvPr>
        </p:nvSpPr>
        <p:spPr/>
        <p:txBody>
          <a:bodyPr/>
          <a:lstStyle/>
          <a:p>
            <a:pPr lvl="0" indent="0" marL="0">
              <a:buNone/>
            </a:pPr>
            <a:r>
              <a:rPr b="1"/>
              <a:t>Content:</a:t>
            </a:r>
          </a:p>
          <a:p>
            <a:pPr lvl="0"/>
            <a:r>
              <a:rPr/>
              <a:t>In nearly every Health IT implementation, the largest single population is neither actively resisting nor actively supporting — they are watching: the project’s momentum, the behavior of people they respect, and the organizational signals around them.</a:t>
            </a:r>
          </a:p>
          <a:p>
            <a:pPr lvl="0"/>
            <a:r>
              <a:rPr/>
              <a:t>What moves them: not communication plans, not training programs, not executive mandates — but peer influence from someone they trust who has already decided.</a:t>
            </a:r>
          </a:p>
          <a:p>
            <a:pPr lvl="0"/>
            <a:r>
              <a:rPr/>
              <a:t>The implication: champion </a:t>
            </a:r>
            <a:r>
              <a:rPr i="1"/>
              <a:t>placement</a:t>
            </a:r>
            <a:r>
              <a:rPr/>
              <a:t> matters more than champion </a:t>
            </a:r>
            <a:r>
              <a:rPr i="1"/>
              <a:t>headcount</a:t>
            </a:r>
            <a:r>
              <a:rPr/>
              <a:t>. Having ten enthusiastic advocates in informatics does not cover the gap in clinical operations.</a:t>
            </a:r>
          </a:p>
          <a:p>
            <a:pPr lvl="0" indent="0" marL="0">
              <a:buNone/>
            </a:pPr>
            <a:r>
              <a:rPr b="1"/>
              <a:t>Subtext:</a:t>
            </a:r>
            <a:r>
              <a:rPr/>
              <a:t> Moving even a portion of the neutral zone toward passive support has more impact on project momentum than converting a single active resistor. This is the highest-leverage activity in the entire People Layer.</a:t>
            </a:r>
          </a:p>
          <a:p>
            <a:pPr lvl="0" indent="0" marL="0">
              <a:buNone/>
            </a:pPr>
            <a:r>
              <a:rPr b="1"/>
              <a:t>Notes:</a:t>
            </a:r>
            <a:r>
              <a:rPr/>
              <a:t> This reframe — placement over headcount — is the most actionable insight in the People section for a leader who owns a champion network.</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People Actually Fails</a:t>
            </a:r>
          </a:p>
        </p:txBody>
      </p:sp>
      <p:sp>
        <p:nvSpPr>
          <p:cNvPr id="3" name="Content Placeholder 2"/>
          <p:cNvSpPr>
            <a:spLocks noGrp="1"/>
          </p:cNvSpPr>
          <p:nvPr>
            <p:ph idx="1"/>
          </p:nvPr>
        </p:nvSpPr>
        <p:spPr/>
        <p:txBody>
          <a:bodyPr/>
          <a:lstStyle/>
          <a:p>
            <a:pPr lvl="0" indent="0" marL="0">
              <a:buNone/>
            </a:pPr>
            <a:r>
              <a:rPr b="1"/>
              <a:t>Content:</a:t>
            </a:r>
            <a:r>
              <a:rPr/>
              <a:t> Table — one row per failure area, ⚠ marked:</a:t>
            </a:r>
          </a:p>
          <a:p>
            <a:pPr lvl="0"/>
            <a:r>
              <a:rPr b="1"/>
              <a:t>Pe1</a:t>
            </a:r>
            <a:r>
              <a:rPr/>
              <a:t> · Stakeholder mapping failure ⚠</a:t>
            </a:r>
          </a:p>
          <a:p>
            <a:pPr lvl="0"/>
            <a:r>
              <a:rPr b="1"/>
              <a:t>Pe2</a:t>
            </a:r>
            <a:r>
              <a:rPr/>
              <a:t> · Critical node exposure ⚠</a:t>
            </a:r>
          </a:p>
          <a:p>
            <a:pPr lvl="0"/>
            <a:r>
              <a:rPr b="1"/>
              <a:t>Pe3</a:t>
            </a:r>
            <a:r>
              <a:rPr/>
              <a:t> · Authority-behavior gap ⚠ ← more dangerous than no owner at all</a:t>
            </a:r>
          </a:p>
          <a:p>
            <a:pPr lvl="0"/>
            <a:r>
              <a:rPr b="1"/>
              <a:t>Pe4</a:t>
            </a:r>
            <a:r>
              <a:rPr/>
              <a:t> · Champion deficit ⚠</a:t>
            </a:r>
          </a:p>
          <a:p>
            <a:pPr lvl="0"/>
            <a:r>
              <a:rPr b="1"/>
              <a:t>Pe5</a:t>
            </a:r>
            <a:r>
              <a:rPr/>
              <a:t> · Neutral zone inertia</a:t>
            </a:r>
          </a:p>
          <a:p>
            <a:pPr lvl="0"/>
            <a:r>
              <a:rPr b="1"/>
              <a:t>Pe6</a:t>
            </a:r>
            <a:r>
              <a:rPr/>
              <a:t> · Resistance mismanagement</a:t>
            </a:r>
          </a:p>
          <a:p>
            <a:pPr lvl="0"/>
            <a:r>
              <a:rPr b="1"/>
              <a:t>Pe7</a:t>
            </a:r>
            <a:r>
              <a:rPr/>
              <a:t> · Tracking decay and regression ⚠</a:t>
            </a:r>
          </a:p>
          <a:p>
            <a:pPr lvl="0" indent="0" marL="0">
              <a:buNone/>
            </a:pPr>
            <a:r>
              <a:rPr b="1"/>
              <a:t>Subtext:</a:t>
            </a:r>
            <a:r>
              <a:rPr/>
              <a:t> 5 of 7 can fail without any obvious warning sign — the highest silent failure concentration across all three layers. Pe3 — the authority-behavior gap — deserves special attention: a stakeholder who holds a title and does not exercise it is </a:t>
            </a:r>
            <a:r>
              <a:rPr i="1"/>
              <a:t>more dangerous</a:t>
            </a:r>
            <a:r>
              <a:rPr/>
              <a:t> than no owner at all, because it creates the appearance of accountability without the substance.</a:t>
            </a:r>
          </a:p>
          <a:p>
            <a:pPr lvl="0" indent="0" marL="0">
              <a:buNone/>
            </a:pPr>
            <a:r>
              <a:rPr b="1"/>
              <a:t>Notes:</a:t>
            </a:r>
            <a:r>
              <a:rPr/>
              <a:t> The Pe3 callout is new and important. It’s counterintuitive and will register with anyone who has managed governance structures.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People Is Not the Third Equal. It Is the Substrate.</a:t>
            </a:r>
          </a:p>
        </p:txBody>
      </p:sp>
      <p:sp>
        <p:nvSpPr>
          <p:cNvPr id="3" name="Content Placeholder 2"/>
          <p:cNvSpPr>
            <a:spLocks noGrp="1"/>
          </p:cNvSpPr>
          <p:nvPr>
            <p:ph idx="1"/>
          </p:nvPr>
        </p:nvSpPr>
        <p:spPr/>
        <p:txBody>
          <a:bodyPr/>
          <a:lstStyle/>
          <a:p>
            <a:pPr lvl="0" indent="0" marL="0">
              <a:buNone/>
            </a:pPr>
            <a:r>
              <a:rPr b="1"/>
              <a:t>Content:</a:t>
            </a:r>
            <a:r>
              <a:rPr/>
              <a:t> Three cascades:</a:t>
            </a:r>
          </a:p>
          <a:p>
            <a:pPr lvl="0"/>
            <a:r>
              <a:rPr/>
              <a:t>Authority-behavior gap → process decisions go unmade, execution inconsistency goes unchallenged, regression goes unaddressed — every process domain requiring authority to act is exposed</a:t>
            </a:r>
          </a:p>
          <a:p>
            <a:pPr lvl="0"/>
            <a:r>
              <a:rPr/>
              <a:t>Neutral zone not moving → technically sound system, properly trained staff → adoption fails because the behavioral conditions for adoption were never created</a:t>
            </a:r>
          </a:p>
          <a:p>
            <a:pPr lvl="0"/>
            <a:r>
              <a:rPr/>
              <a:t>Champion burnout → peer reinforcement disappears → both process compliance and system adoption deteriorate simultaneously, without any obvious triggering event</a:t>
            </a:r>
          </a:p>
          <a:p>
            <a:pPr lvl="0" indent="0" marL="0">
              <a:buNone/>
            </a:pPr>
            <a:r>
              <a:rPr b="1"/>
              <a:t>Subtext:</a:t>
            </a:r>
            <a:r>
              <a:rPr/>
              <a:t> A technically sound system deployed into a field of passive resistance will fail. A well-designed process owned by nominal champions will regress. People is the condition that makes the other two layers possible — and its failure is the last to be noticed and the most expensive to recover.</a:t>
            </a:r>
          </a:p>
          <a:p>
            <a:pPr lvl="0" indent="0" marL="0">
              <a:buNone/>
            </a:pPr>
            <a:r>
              <a:rPr b="1"/>
              <a:t>Notes:</a:t>
            </a:r>
            <a:r>
              <a:rPr/>
              <a:t> This is the closing argument of the three-layer sequence. The final sentence is worth reading aloud.</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Failure Actually Moves Across the Framework</a:t>
            </a:r>
          </a:p>
        </p:txBody>
      </p:sp>
      <p:sp>
        <p:nvSpPr>
          <p:cNvPr id="3" name="Content Placeholder 2"/>
          <p:cNvSpPr>
            <a:spLocks noGrp="1"/>
          </p:cNvSpPr>
          <p:nvPr>
            <p:ph idx="1"/>
          </p:nvPr>
        </p:nvSpPr>
        <p:spPr/>
        <p:txBody>
          <a:bodyPr/>
          <a:lstStyle/>
          <a:p>
            <a:pPr lvl="0" indent="0" marL="0">
              <a:buNone/>
            </a:pPr>
            <a:r>
              <a:rPr b="1"/>
              <a:t>Content:</a:t>
            </a:r>
            <a:r>
              <a:rPr/>
              <a:t> Three named chains — each a compact narrative:</a:t>
            </a:r>
          </a:p>
          <a:p>
            <a:pPr lvl="0" indent="0" marL="0">
              <a:buNone/>
            </a:pPr>
            <a:r>
              <a:rPr b="1"/>
              <a:t>Chain 1 — The Silent Parallel State</a:t>
            </a:r>
            <a:r>
              <a:rPr/>
              <a:t> P1 → P2 → T4 → P3 → T3 → Pe6 </a:t>
            </a:r>
            <a:r>
              <a:rPr i="1"/>
              <a:t>The current state was never honestly mapped. The future state process cannot hold. Staff route around the system. The transition never closes. Data splits. Reports become unreliable. Visible failure legitimises the resistance that was there from the start.</a:t>
            </a:r>
          </a:p>
          <a:p>
            <a:pPr lvl="0" indent="0" marL="0">
              <a:buNone/>
            </a:pPr>
            <a:r>
              <a:rPr b="1"/>
              <a:t>Chain 2 — The Post-Launch Collapse</a:t>
            </a:r>
            <a:r>
              <a:rPr/>
              <a:t> T6 → Pe4 → P7 → Pe7 </a:t>
            </a:r>
            <a:r>
              <a:rPr i="1"/>
              <a:t>Support withdraws after go-live. The system deteriorates. Champions disengage. The process erodes. No one is tracking any of it — the monitoring cadence was wound down when the project team left.</a:t>
            </a:r>
          </a:p>
          <a:p>
            <a:pPr lvl="0" indent="0" marL="0">
              <a:buNone/>
            </a:pPr>
            <a:r>
              <a:rPr b="1"/>
              <a:t>Chain 3 — The Authority Vacuum</a:t>
            </a:r>
            <a:r>
              <a:rPr/>
              <a:t> Pe3 → P6 → Pe2 → T1 (compounded) </a:t>
            </a:r>
            <a:r>
              <a:rPr i="1"/>
              <a:t>A senior leader holds formal accountability but does not exercise it. The system runs; the improvements do not materialise. Critical decisions are made by default. The system becomes progressively less fit for purpose.</a:t>
            </a:r>
          </a:p>
          <a:p>
            <a:pPr lvl="0" indent="0" marL="0">
              <a:buNone/>
            </a:pPr>
            <a:r>
              <a:rPr b="1"/>
              <a:t>Notes:</a:t>
            </a:r>
            <a:r>
              <a:rPr/>
              <a:t> ← </a:t>
            </a:r>
            <a:r>
              <a:rPr b="1"/>
              <a:t>NEW SLIDE.</a:t>
            </a:r>
            <a:r>
              <a:rPr/>
              <a:t> These three chains are the most story-shaped, memorable content in the entire framework and they were entirely absent from v1. A conference audience will remember a named failure chain long after they have forgotten a table of failure domains.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Framework Across the Project</a:t>
            </a:r>
          </a:p>
        </p:txBody>
      </p:sp>
      <p:sp>
        <p:nvSpPr>
          <p:cNvPr id="3" name="Content Placeholder 2"/>
          <p:cNvSpPr>
            <a:spLocks noGrp="1"/>
          </p:cNvSpPr>
          <p:nvPr>
            <p:ph idx="1"/>
          </p:nvPr>
        </p:nvSpPr>
        <p:spPr/>
        <p:txBody>
          <a:bodyPr/>
          <a:lstStyle/>
          <a:p>
            <a:pPr lvl="0" indent="0" marL="0">
              <a:buNone/>
            </a:pPr>
            <a:r>
              <a:rPr b="1"/>
              <a:t>Content:</a:t>
            </a:r>
            <a:r>
              <a:rPr/>
              <a:t> Five-phase timeline, each with its primary risk:</a:t>
            </a:r>
          </a:p>
          <a:p>
            <a:pPr lvl="0"/>
            <a:r>
              <a:rPr b="1"/>
              <a:t>Phase 1 — Initiation &amp; Discovery</a:t>
            </a:r>
            <a:r>
              <a:rPr/>
              <a:t> → Primary risk: building on a false foundation</a:t>
            </a:r>
          </a:p>
          <a:p>
            <a:pPr lvl="0"/>
            <a:r>
              <a:rPr b="1"/>
              <a:t>Phase 2 — Design &amp; Configuration</a:t>
            </a:r>
            <a:r>
              <a:rPr/>
              <a:t> → Primary risk: embedding failure into the design</a:t>
            </a:r>
          </a:p>
          <a:p>
            <a:pPr lvl="0"/>
            <a:r>
              <a:rPr b="1"/>
              <a:t>Phase 3 — Testing &amp; Piloting</a:t>
            </a:r>
            <a:r>
              <a:rPr/>
              <a:t> → Primary risk: a clean test environment that does not predict real deployment</a:t>
            </a:r>
          </a:p>
          <a:p>
            <a:pPr lvl="0"/>
            <a:r>
              <a:rPr b="1"/>
              <a:t>Phase 4 — Go-Live &amp; Transition</a:t>
            </a:r>
            <a:r>
              <a:rPr/>
              <a:t> → Primary risk: treating go-live as the finish line</a:t>
            </a:r>
          </a:p>
          <a:p>
            <a:pPr lvl="0"/>
            <a:r>
              <a:rPr b="1"/>
              <a:t>Phase 5 — Post-Live Sustainment</a:t>
            </a:r>
            <a:r>
              <a:rPr/>
              <a:t> → Primary risk: failure that accumulates after the project team leaves</a:t>
            </a:r>
          </a:p>
          <a:p>
            <a:pPr lvl="0" indent="0" marL="0">
              <a:buNone/>
            </a:pPr>
            <a:r>
              <a:rPr b="1"/>
              <a:t>Subtext:</a:t>
            </a:r>
            <a:r>
              <a:rPr/>
              <a:t> The framework’s emphasis shifts across phases — not because different things matter at different times, but because the nature of the risk changes. The instruments most relevant to managing it change with it.</a:t>
            </a:r>
          </a:p>
          <a:p>
            <a:pPr lvl="0" indent="0" marL="0">
              <a:buNone/>
            </a:pPr>
            <a:r>
              <a:rPr b="1"/>
              <a:t>Notes:</a:t>
            </a:r>
            <a:r>
              <a:rPr/>
              <a:t> ← </a:t>
            </a:r>
            <a:r>
              <a:rPr b="1"/>
              <a:t>NEW SLIDE.</a:t>
            </a:r>
            <a:r>
              <a:rPr/>
              <a:t> This replaces the previous “Transfer Test” slide, which was too narrow to close a Synthesis section. The lifecycle view gives the audience a practical map for </a:t>
            </a:r>
            <a:r>
              <a:rPr i="1"/>
              <a:t>when</a:t>
            </a:r>
            <a:r>
              <a:rPr/>
              <a:t> to apply what they have just learned — which is the question a conference audience is most likely to leave asking.</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Failure Is the Default. Success Is Engineered.</a:t>
            </a:r>
          </a:p>
        </p:txBody>
      </p:sp>
      <p:sp>
        <p:nvSpPr>
          <p:cNvPr id="3" name="Content Placeholder 2"/>
          <p:cNvSpPr>
            <a:spLocks noGrp="1"/>
          </p:cNvSpPr>
          <p:nvPr>
            <p:ph idx="1"/>
          </p:nvPr>
        </p:nvSpPr>
        <p:spPr/>
        <p:txBody>
          <a:bodyPr/>
          <a:lstStyle/>
          <a:p>
            <a:pPr lvl="0" indent="0" marL="1270000">
              <a:buNone/>
            </a:pPr>
            <a:r>
              <a:rPr sz="2000" i="1"/>
              <a:t>“Change management is the disciplined management of failure across People, Process, and Technology — concurrent with project execution — to protect the integrity of the transition from the current to the future state.”</a:t>
            </a:r>
          </a:p>
          <a:p>
            <a:pPr lvl="0" indent="0" marL="0">
              <a:buNone/>
            </a:pPr>
            <a:r>
              <a:rPr b="1"/>
              <a:t>Subtext:</a:t>
            </a:r>
            <a:r>
              <a:rPr/>
              <a:t> The framework does not promise a successful implementation. It gives you the structure to make failure visible early enough to do something about it.</a:t>
            </a:r>
          </a:p>
          <a:p>
            <a:pPr lvl="0" indent="0" marL="0">
              <a:buNone/>
            </a:pPr>
            <a:r>
              <a:rPr b="1"/>
              <a:t>Notes:</a:t>
            </a:r>
            <a:r>
              <a:rPr/>
              <a:t> Return to the Core Statement. Close on the premise, not on optimism. The repetition is intentional — the audience first encountered this sentence on Slide 5 without the context to fully understand it. They have that context now. Questions welcome.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Health IT Projects Fail — And What To Do About It</dc:title>
  <dc:creator>Mike Muin</dc:creator>
  <cp:keywords/>
  <dcterms:created xsi:type="dcterms:W3CDTF">2026-04-13T15:29:31Z</dcterms:created>
  <dcterms:modified xsi:type="dcterms:W3CDTF">2026-04-13T15:29:31Z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2026-04-13</vt:lpwstr>
  </property>
  <property fmtid="{D5CDD505-2E9C-101B-9397-08002B2CF9AE}" pid="3" name="subtitle">
    <vt:lpwstr>The Failure-Aware Change Management Framework</vt:lpwstr>
  </property>
</Properties>
</file>